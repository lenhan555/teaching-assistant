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CDB8F">
                  <a:alpha val="55000"/>
                </a:srgbClr>
              </a:gs>
              <a:gs pos="45000">
                <a:srgbClr val="1A6B3A"/>
              </a:gs>
              <a:gs pos="100000">
                <a:srgbClr val="1A6B3A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43000" y="-3238500"/>
            <a:ext cx="9906000" cy="6477000"/>
          </a:xfrm>
          <a:prstGeom prst="ellipse">
            <a:avLst/>
          </a:prstGeom>
          <a:gradFill>
            <a:gsLst>
              <a:gs pos="0">
                <a:srgbClr val="5CDB8F">
                  <a:alpha val="17500"/>
                </a:srgbClr>
              </a:gs>
              <a:gs pos="100000">
                <a:srgbClr val="5CDB8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6B3A">
              <a:alpha val="18000"/>
            </a:srgbClr>
          </a:soli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10715625" y="590550"/>
            <a:ext cx="1095375" cy="1076325"/>
            <a:chOff x="10715625" y="590550"/>
            <a:chExt cx="1095375" cy="1076325"/>
          </a:xfrm>
          <a:effectLst>
            <a:glow rad="57150">
              <a:srgbClr val="000000">
                <a:alpha val="30000"/>
              </a:srgbClr>
            </a:glow>
          </a:effectLst>
        </p:grpSpPr>
        <p:sp>
          <p:nvSpPr>
            <p:cNvPr id="5" name="Polygon 5"/>
            <p:cNvSpPr/>
            <p:nvPr/>
          </p:nvSpPr>
          <p:spPr>
            <a:xfrm>
              <a:off x="10715625" y="590550"/>
              <a:ext cx="1095375" cy="1076325"/>
            </a:xfrm>
            <a:custGeom>
              <a:avLst/>
              <a:gdLst/>
              <a:ahLst/>
              <a:cxnLst/>
              <a:rect l="l" t="t" r="r" b="b"/>
              <a:pathLst>
                <a:path w="1095375" h="1076325">
                  <a:moveTo>
                    <a:pt x="523875" y="0"/>
                  </a:moveTo>
                  <a:lnTo>
                    <a:pt x="1095375" y="457200"/>
                  </a:lnTo>
                  <a:lnTo>
                    <a:pt x="904875" y="1076325"/>
                  </a:lnTo>
                  <a:lnTo>
                    <a:pt x="190500" y="1076325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2EAA5E">
                <a:alpha val="35000"/>
              </a:srgbClr>
            </a:solidFill>
            <a:ln>
              <a:noFill/>
            </a:ln>
          </p:spPr>
        </p:sp>
        <p:sp>
          <p:nvSpPr>
            <p:cNvPr id="6" name="Polygon 6"/>
            <p:cNvSpPr/>
            <p:nvPr/>
          </p:nvSpPr>
          <p:spPr>
            <a:xfrm>
              <a:off x="11239500" y="59055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457200"/>
                  </a:lnTo>
                  <a:lnTo>
                    <a:pt x="304800" y="266700"/>
                  </a:lnTo>
                  <a:close/>
                </a:path>
              </a:pathLst>
            </a:custGeom>
            <a:solidFill>
              <a:srgbClr val="5CDB8F">
                <a:alpha val="50000"/>
              </a:srgbClr>
            </a:solidFill>
            <a:ln>
              <a:noFill/>
            </a:ln>
          </p:spPr>
        </p:sp>
        <p:sp>
          <p:nvSpPr>
            <p:cNvPr id="7" name="Polygon 7"/>
            <p:cNvSpPr/>
            <p:nvPr/>
          </p:nvSpPr>
          <p:spPr>
            <a:xfrm>
              <a:off x="10906125" y="590550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457200"/>
                  </a:lnTo>
                  <a:lnTo>
                    <a:pt x="190500" y="266700"/>
                  </a:lnTo>
                  <a:close/>
                </a:path>
              </a:pathLst>
            </a:custGeom>
            <a:solidFill>
              <a:srgbClr val="5CDB8F">
                <a:alpha val="30000"/>
              </a:srgbClr>
            </a:solidFill>
            <a:ln>
              <a:noFill/>
            </a:ln>
          </p:spPr>
        </p:sp>
        <p:sp>
          <p:nvSpPr>
            <p:cNvPr id="8" name="Polygon 8"/>
            <p:cNvSpPr/>
            <p:nvPr/>
          </p:nvSpPr>
          <p:spPr>
            <a:xfrm>
              <a:off x="11096625" y="590550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447675" y="266700"/>
                  </a:moveTo>
                  <a:lnTo>
                    <a:pt x="0" y="266700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FFFFFF">
                <a:alpha val="18000"/>
              </a:srgbClr>
            </a:solidFill>
            <a:ln>
              <a:noFill/>
            </a:ln>
          </p:spPr>
        </p:sp>
        <p:sp>
          <p:nvSpPr>
            <p:cNvPr id="9" name="Polygon 9"/>
            <p:cNvSpPr/>
            <p:nvPr/>
          </p:nvSpPr>
          <p:spPr>
            <a:xfrm>
              <a:off x="11544300" y="857250"/>
              <a:ext cx="266700" cy="809625"/>
            </a:xfrm>
            <a:custGeom>
              <a:avLst/>
              <a:gdLst/>
              <a:ahLst/>
              <a:cxnLst/>
              <a:rect l="l" t="t" r="r" b="b"/>
              <a:pathLst>
                <a:path w="266700" h="809625">
                  <a:moveTo>
                    <a:pt x="266700" y="190500"/>
                  </a:moveTo>
                  <a:lnTo>
                    <a:pt x="76200" y="8096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AA5E">
                <a:alpha val="40000"/>
              </a:srgbClr>
            </a:solidFill>
            <a:ln>
              <a:noFill/>
            </a:ln>
          </p:spPr>
        </p:sp>
        <p:sp>
          <p:nvSpPr>
            <p:cNvPr id="10" name="Polygon 10"/>
            <p:cNvSpPr/>
            <p:nvPr/>
          </p:nvSpPr>
          <p:spPr>
            <a:xfrm>
              <a:off x="10715625" y="857250"/>
              <a:ext cx="381000" cy="809625"/>
            </a:xfrm>
            <a:custGeom>
              <a:avLst/>
              <a:gdLst/>
              <a:ahLst/>
              <a:cxnLst/>
              <a:rect l="l" t="t" r="r" b="b"/>
              <a:pathLst>
                <a:path w="381000" h="809625">
                  <a:moveTo>
                    <a:pt x="190500" y="190500"/>
                  </a:moveTo>
                  <a:lnTo>
                    <a:pt x="0" y="809625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1A6B3A">
                <a:alpha val="60000"/>
              </a:srgbClr>
            </a:solidFill>
            <a:ln>
              <a:noFill/>
            </a:ln>
          </p:spPr>
        </p:sp>
        <p:sp>
          <p:nvSpPr>
            <p:cNvPr id="11" name="Polygon 11"/>
            <p:cNvSpPr/>
            <p:nvPr/>
          </p:nvSpPr>
          <p:spPr>
            <a:xfrm>
              <a:off x="10906125" y="857250"/>
              <a:ext cx="714375" cy="809625"/>
            </a:xfrm>
            <a:custGeom>
              <a:avLst/>
              <a:gdLst/>
              <a:ahLst/>
              <a:cxnLst/>
              <a:rect l="l" t="t" r="r" b="b"/>
              <a:pathLst>
                <a:path w="714375" h="809625">
                  <a:moveTo>
                    <a:pt x="638175" y="0"/>
                  </a:moveTo>
                  <a:lnTo>
                    <a:pt x="190500" y="0"/>
                  </a:lnTo>
                  <a:lnTo>
                    <a:pt x="0" y="809625"/>
                  </a:lnTo>
                  <a:lnTo>
                    <a:pt x="714375" y="809625"/>
                  </a:lnTo>
                  <a:close/>
                </a:path>
              </a:pathLst>
            </a:custGeom>
            <a:solidFill>
              <a:srgbClr val="2EAA5E">
                <a:alpha val="22000"/>
              </a:srgbClr>
            </a:solidFill>
            <a:ln>
              <a:noFill/>
            </a:ln>
          </p:spPr>
        </p:sp>
        <p:sp>
          <p:nvSpPr>
            <p:cNvPr id="12" name="Polygon 12"/>
            <p:cNvSpPr/>
            <p:nvPr/>
          </p:nvSpPr>
          <p:spPr>
            <a:xfrm>
              <a:off x="11239500" y="666750"/>
              <a:ext cx="238125" cy="209550"/>
            </a:xfrm>
            <a:custGeom>
              <a:avLst/>
              <a:gdLst/>
              <a:ahLst/>
              <a:cxnLst/>
              <a:rect l="l" t="t" r="r" b="b"/>
              <a:pathLst>
                <a:path w="238125" h="209550">
                  <a:moveTo>
                    <a:pt x="0" y="0"/>
                  </a:moveTo>
                  <a:lnTo>
                    <a:pt x="238125" y="20955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FFFFF">
                <a:alpha val="35000"/>
              </a:srgbClr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1630025" y="552450"/>
            <a:ext cx="419100" cy="419100"/>
            <a:chOff x="11630025" y="552450"/>
            <a:chExt cx="419100" cy="419100"/>
          </a:xfrm>
          <a:effectLst>
            <a:glow rad="57150">
              <a:srgbClr val="000000">
                <a:alpha val="30000"/>
              </a:srgbClr>
            </a:glow>
          </a:effectLst>
        </p:grpSpPr>
        <p:sp>
          <p:nvSpPr>
            <p:cNvPr id="14" name="Polygon 14"/>
            <p:cNvSpPr/>
            <p:nvPr/>
          </p:nvSpPr>
          <p:spPr>
            <a:xfrm>
              <a:off x="11630025" y="55245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0025" y="0"/>
                  </a:moveTo>
                  <a:lnTo>
                    <a:pt x="419100" y="190500"/>
                  </a:lnTo>
                  <a:lnTo>
                    <a:pt x="352425" y="419100"/>
                  </a:lnTo>
                  <a:lnTo>
                    <a:pt x="66675" y="4191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5CDB8F">
                <a:alpha val="30000"/>
              </a:srgbClr>
            </a:solidFill>
            <a:ln>
              <a:noFill/>
            </a:ln>
          </p:spPr>
        </p:sp>
        <p:sp>
          <p:nvSpPr>
            <p:cNvPr id="15" name="Polygon 15"/>
            <p:cNvSpPr/>
            <p:nvPr/>
          </p:nvSpPr>
          <p:spPr>
            <a:xfrm>
              <a:off x="11830050" y="552450"/>
              <a:ext cx="219075" cy="190500"/>
            </a:xfrm>
            <a:custGeom>
              <a:avLst/>
              <a:gdLst/>
              <a:ahLst/>
              <a:cxnLst/>
              <a:rect l="l" t="t" r="r" b="b"/>
              <a:pathLst>
                <a:path w="219075" h="190500">
                  <a:moveTo>
                    <a:pt x="0" y="0"/>
                  </a:moveTo>
                  <a:lnTo>
                    <a:pt x="219075" y="190500"/>
                  </a:lnTo>
                  <a:lnTo>
                    <a:pt x="114300" y="114300"/>
                  </a:lnTo>
                  <a:close/>
                </a:path>
              </a:pathLst>
            </a:custGeom>
            <a:solidFill>
              <a:srgbClr val="5CDB8F">
                <a:alpha val="55000"/>
              </a:srgbClr>
            </a:solidFill>
            <a:ln>
              <a:noFill/>
            </a:ln>
          </p:spPr>
        </p:sp>
        <p:sp>
          <p:nvSpPr>
            <p:cNvPr id="16" name="Polygon 16"/>
            <p:cNvSpPr/>
            <p:nvPr/>
          </p:nvSpPr>
          <p:spPr>
            <a:xfrm>
              <a:off x="11630025" y="552450"/>
              <a:ext cx="200025" cy="190500"/>
            </a:xfrm>
            <a:custGeom>
              <a:avLst/>
              <a:gdLst/>
              <a:ahLst/>
              <a:cxnLst/>
              <a:rect l="l" t="t" r="r" b="b"/>
              <a:pathLst>
                <a:path w="200025" h="190500">
                  <a:moveTo>
                    <a:pt x="200025" y="0"/>
                  </a:moveTo>
                  <a:lnTo>
                    <a:pt x="0" y="190500"/>
                  </a:lnTo>
                  <a:lnTo>
                    <a:pt x="104775" y="11430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495300" y="5524500"/>
            <a:ext cx="914400" cy="933450"/>
            <a:chOff x="495300" y="5524500"/>
            <a:chExt cx="914400" cy="933450"/>
          </a:xfrm>
          <a:effectLst>
            <a:glow rad="57150">
              <a:srgbClr val="000000">
                <a:alpha val="30000"/>
              </a:srgbClr>
            </a:glow>
          </a:effectLst>
        </p:grpSpPr>
        <p:sp>
          <p:nvSpPr>
            <p:cNvPr id="18" name="Polygon 18"/>
            <p:cNvSpPr/>
            <p:nvPr/>
          </p:nvSpPr>
          <p:spPr>
            <a:xfrm>
              <a:off x="495300" y="5524500"/>
              <a:ext cx="914400" cy="933450"/>
            </a:xfrm>
            <a:custGeom>
              <a:avLst/>
              <a:gdLst/>
              <a:ahLst/>
              <a:cxnLst/>
              <a:rect l="l" t="t" r="r" b="b"/>
              <a:pathLst>
                <a:path w="914400" h="933450">
                  <a:moveTo>
                    <a:pt x="266700" y="0"/>
                  </a:moveTo>
                  <a:lnTo>
                    <a:pt x="914400" y="304800"/>
                  </a:lnTo>
                  <a:lnTo>
                    <a:pt x="819150" y="933450"/>
                  </a:lnTo>
                  <a:lnTo>
                    <a:pt x="95250" y="93345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2EAA5E">
                <a:alpha val="30000"/>
              </a:srgbClr>
            </a:solidFill>
            <a:ln>
              <a:noFill/>
            </a:ln>
          </p:spPr>
        </p:sp>
        <p:sp>
          <p:nvSpPr>
            <p:cNvPr id="19" name="Polygon 19"/>
            <p:cNvSpPr/>
            <p:nvPr/>
          </p:nvSpPr>
          <p:spPr>
            <a:xfrm>
              <a:off x="762000" y="5524500"/>
              <a:ext cx="647700" cy="304800"/>
            </a:xfrm>
            <a:custGeom>
              <a:avLst/>
              <a:gdLst/>
              <a:ahLst/>
              <a:cxnLst/>
              <a:rect l="l" t="t" r="r" b="b"/>
              <a:pathLst>
                <a:path w="647700" h="304800">
                  <a:moveTo>
                    <a:pt x="0" y="0"/>
                  </a:moveTo>
                  <a:lnTo>
                    <a:pt x="647700" y="304800"/>
                  </a:lnTo>
                  <a:lnTo>
                    <a:pt x="438150" y="152400"/>
                  </a:lnTo>
                  <a:close/>
                </a:path>
              </a:pathLst>
            </a:custGeom>
            <a:solidFill>
              <a:srgbClr val="5CDB8F">
                <a:alpha val="45000"/>
              </a:srgbClr>
            </a:solidFill>
            <a:ln>
              <a:noFill/>
            </a:ln>
          </p:spPr>
        </p:sp>
        <p:sp>
          <p:nvSpPr>
            <p:cNvPr id="20" name="Polygon 20"/>
            <p:cNvSpPr/>
            <p:nvPr/>
          </p:nvSpPr>
          <p:spPr>
            <a:xfrm>
              <a:off x="495300" y="552450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266700" y="0"/>
                  </a:moveTo>
                  <a:lnTo>
                    <a:pt x="0" y="304800"/>
                  </a:lnTo>
                  <a:lnTo>
                    <a:pt x="190500" y="152400"/>
                  </a:lnTo>
                  <a:close/>
                </a:path>
              </a:pathLst>
            </a:custGeom>
            <a:solidFill>
              <a:srgbClr val="5CDB8F">
                <a:alpha val="28000"/>
              </a:srgbClr>
            </a:solidFill>
            <a:ln>
              <a:noFill/>
            </a:ln>
          </p:spPr>
        </p:sp>
        <p:sp>
          <p:nvSpPr>
            <p:cNvPr id="21" name="Polygon 21"/>
            <p:cNvSpPr/>
            <p:nvPr/>
          </p:nvSpPr>
          <p:spPr>
            <a:xfrm>
              <a:off x="685800" y="5524500"/>
              <a:ext cx="514350" cy="152400"/>
            </a:xfrm>
            <a:custGeom>
              <a:avLst/>
              <a:gdLst/>
              <a:ahLst/>
              <a:cxnLst/>
              <a:rect l="l" t="t" r="r" b="b"/>
              <a:pathLst>
                <a:path w="514350" h="152400">
                  <a:moveTo>
                    <a:pt x="514350" y="152400"/>
                  </a:moveTo>
                  <a:lnTo>
                    <a:pt x="0" y="1524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22" name="Polygon 22"/>
            <p:cNvSpPr/>
            <p:nvPr/>
          </p:nvSpPr>
          <p:spPr>
            <a:xfrm>
              <a:off x="1200150" y="5676900"/>
              <a:ext cx="209550" cy="781050"/>
            </a:xfrm>
            <a:custGeom>
              <a:avLst/>
              <a:gdLst/>
              <a:ahLst/>
              <a:cxnLst/>
              <a:rect l="l" t="t" r="r" b="b"/>
              <a:pathLst>
                <a:path w="209550" h="781050">
                  <a:moveTo>
                    <a:pt x="209550" y="152400"/>
                  </a:moveTo>
                  <a:lnTo>
                    <a:pt x="114300" y="781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AA5E">
                <a:alpha val="38000"/>
              </a:srgbClr>
            </a:solidFill>
            <a:ln>
              <a:noFill/>
            </a:ln>
          </p:spPr>
        </p:sp>
        <p:sp>
          <p:nvSpPr>
            <p:cNvPr id="23" name="Polygon 23"/>
            <p:cNvSpPr/>
            <p:nvPr/>
          </p:nvSpPr>
          <p:spPr>
            <a:xfrm>
              <a:off x="495300" y="5676900"/>
              <a:ext cx="190500" cy="781050"/>
            </a:xfrm>
            <a:custGeom>
              <a:avLst/>
              <a:gdLst/>
              <a:ahLst/>
              <a:cxnLst/>
              <a:rect l="l" t="t" r="r" b="b"/>
              <a:pathLst>
                <a:path w="190500" h="781050">
                  <a:moveTo>
                    <a:pt x="0" y="152400"/>
                  </a:moveTo>
                  <a:lnTo>
                    <a:pt x="95250" y="78105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1A6B3A">
                <a:alpha val="55000"/>
              </a:srgbClr>
            </a:solidFill>
            <a:ln>
              <a:noFill/>
            </a:ln>
          </p:spPr>
        </p:sp>
        <p:sp>
          <p:nvSpPr>
            <p:cNvPr id="24" name="Polygon 24"/>
            <p:cNvSpPr/>
            <p:nvPr/>
          </p:nvSpPr>
          <p:spPr>
            <a:xfrm>
              <a:off x="590550" y="5676900"/>
              <a:ext cx="723900" cy="781050"/>
            </a:xfrm>
            <a:custGeom>
              <a:avLst/>
              <a:gdLst/>
              <a:ahLst/>
              <a:cxnLst/>
              <a:rect l="l" t="t" r="r" b="b"/>
              <a:pathLst>
                <a:path w="723900" h="781050">
                  <a:moveTo>
                    <a:pt x="609600" y="0"/>
                  </a:moveTo>
                  <a:lnTo>
                    <a:pt x="95250" y="0"/>
                  </a:lnTo>
                  <a:lnTo>
                    <a:pt x="0" y="781050"/>
                  </a:lnTo>
                  <a:lnTo>
                    <a:pt x="723900" y="781050"/>
                  </a:lnTo>
                  <a:close/>
                </a:path>
              </a:pathLst>
            </a:custGeom>
            <a:solidFill>
              <a:srgbClr val="2EAA5E">
                <a:alpha val="20000"/>
              </a:srgbClr>
            </a:solidFill>
            <a:ln>
              <a:noFill/>
            </a:ln>
          </p:spPr>
        </p:sp>
        <p:sp>
          <p:nvSpPr>
            <p:cNvPr id="25" name="Polygon 25"/>
            <p:cNvSpPr/>
            <p:nvPr/>
          </p:nvSpPr>
          <p:spPr>
            <a:xfrm>
              <a:off x="762000" y="5600700"/>
              <a:ext cx="228600" cy="95250"/>
            </a:xfrm>
            <a:custGeom>
              <a:avLst/>
              <a:gdLst/>
              <a:ahLst/>
              <a:cxnLst/>
              <a:rect l="l" t="t" r="r" b="b"/>
              <a:pathLst>
                <a:path w="228600" h="95250">
                  <a:moveTo>
                    <a:pt x="0" y="0"/>
                  </a:moveTo>
                  <a:lnTo>
                    <a:pt x="228600" y="952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1238250" y="6096000"/>
            <a:ext cx="361950" cy="342900"/>
            <a:chOff x="1238250" y="6096000"/>
            <a:chExt cx="361950" cy="342900"/>
          </a:xfrm>
          <a:effectLst>
            <a:glow rad="57150">
              <a:srgbClr val="000000">
                <a:alpha val="30000"/>
              </a:srgbClr>
            </a:glow>
          </a:effectLst>
        </p:grpSpPr>
        <p:sp>
          <p:nvSpPr>
            <p:cNvPr id="27" name="Polygon 27"/>
            <p:cNvSpPr/>
            <p:nvPr/>
          </p:nvSpPr>
          <p:spPr>
            <a:xfrm>
              <a:off x="1238250" y="6096000"/>
              <a:ext cx="361950" cy="342900"/>
            </a:xfrm>
            <a:custGeom>
              <a:avLst/>
              <a:gdLst/>
              <a:ahLst/>
              <a:cxnLst/>
              <a:rect l="l" t="t" r="r" b="b"/>
              <a:pathLst>
                <a:path w="361950" h="342900">
                  <a:moveTo>
                    <a:pt x="171450" y="0"/>
                  </a:moveTo>
                  <a:lnTo>
                    <a:pt x="361950" y="152400"/>
                  </a:lnTo>
                  <a:lnTo>
                    <a:pt x="304800" y="342900"/>
                  </a:lnTo>
                  <a:lnTo>
                    <a:pt x="57150" y="3429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5CDB8F">
                <a:alpha val="28000"/>
              </a:srgbClr>
            </a:solidFill>
            <a:ln>
              <a:noFill/>
            </a:ln>
          </p:spPr>
        </p:sp>
        <p:sp>
          <p:nvSpPr>
            <p:cNvPr id="28" name="Polygon 28"/>
            <p:cNvSpPr/>
            <p:nvPr/>
          </p:nvSpPr>
          <p:spPr>
            <a:xfrm>
              <a:off x="1409700" y="6096000"/>
              <a:ext cx="190500" cy="152400"/>
            </a:xfrm>
            <a:custGeom>
              <a:avLst/>
              <a:gdLst/>
              <a:ahLst/>
              <a:cxnLst/>
              <a:rect l="l" t="t" r="r" b="b"/>
              <a:pathLst>
                <a:path w="190500" h="152400">
                  <a:moveTo>
                    <a:pt x="0" y="0"/>
                  </a:moveTo>
                  <a:lnTo>
                    <a:pt x="190500" y="152400"/>
                  </a:lnTo>
                  <a:lnTo>
                    <a:pt x="95250" y="76200"/>
                  </a:lnTo>
                  <a:close/>
                </a:path>
              </a:pathLst>
            </a:custGeom>
            <a:solidFill>
              <a:srgbClr val="5CDB8F">
                <a:alpha val="50000"/>
              </a:srgbClr>
            </a:solidFill>
            <a:ln>
              <a:noFill/>
            </a:ln>
          </p:spPr>
        </p:sp>
        <p:sp>
          <p:nvSpPr>
            <p:cNvPr id="29" name="Polygon 29"/>
            <p:cNvSpPr/>
            <p:nvPr/>
          </p:nvSpPr>
          <p:spPr>
            <a:xfrm>
              <a:off x="1238250" y="6096000"/>
              <a:ext cx="171450" cy="152400"/>
            </a:xfrm>
            <a:custGeom>
              <a:avLst/>
              <a:gdLst/>
              <a:ahLst/>
              <a:cxnLst/>
              <a:rect l="l" t="t" r="r" b="b"/>
              <a:pathLst>
                <a:path w="171450" h="152400">
                  <a:moveTo>
                    <a:pt x="171450" y="0"/>
                  </a:moveTo>
                  <a:lnTo>
                    <a:pt x="0" y="152400"/>
                  </a:lnTo>
                  <a:lnTo>
                    <a:pt x="95250" y="76200"/>
                  </a:lnTo>
                  <a:close/>
                </a:path>
              </a:pathLst>
            </a:custGeom>
            <a:solidFill>
              <a:srgbClr val="FFFFFF">
                <a:alpha val="18000"/>
              </a:srgbClr>
            </a:solidFill>
            <a:ln>
              <a:noFill/>
            </a:ln>
          </p:spPr>
        </p:sp>
      </p:grpSp>
      <p:sp>
        <p:nvSpPr>
          <p:cNvPr id="31" name="Rectangle 31"/>
          <p:cNvSpPr/>
          <p:nvPr/>
        </p:nvSpPr>
        <p:spPr>
          <a:xfrm>
            <a:off x="571500" y="762000"/>
            <a:ext cx="4667250" cy="5334000"/>
          </a:xfrm>
          <a:prstGeom prst="roundRect">
            <a:avLst>
              <a:gd name="adj" fmla="val 4082"/>
            </a:avLst>
          </a:prstGeom>
          <a:solidFill>
            <a:srgbClr val="FFFFFF">
              <a:alpha val="20000"/>
            </a:srgbClr>
          </a:solidFill>
          <a:ln w="9525">
            <a:solidFill>
              <a:srgbClr val="FFFFFF">
                <a:alpha val="8000"/>
              </a:srgbClr>
            </a:solidFill>
          </a:ln>
          <a:effectLst>
            <a:outerShdw blurRad="342900" dist="76200" dir="5400000" algn="ctr" rotWithShape="0">
              <a:srgbClr val="1A1A2E">
                <a:alpha val="33750"/>
              </a:srgbClr>
            </a:outerShdw>
          </a:effectLst>
        </p:spPr>
      </p:sp>
      <p:sp>
        <p:nvSpPr>
          <p:cNvPr id="32" name="Rectangle 32"/>
          <p:cNvSpPr/>
          <p:nvPr/>
        </p:nvSpPr>
        <p:spPr>
          <a:xfrm>
            <a:off x="571500" y="762000"/>
            <a:ext cx="4667250" cy="5334000"/>
          </a:xfrm>
          <a:prstGeom prst="roundRect">
            <a:avLst>
              <a:gd name="adj" fmla="val 4082"/>
            </a:avLst>
          </a:prstGeom>
          <a:gradFill>
            <a:gsLst>
              <a:gs pos="0">
                <a:srgbClr val="5CDB8F">
                  <a:alpha val="108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1476375" y="1238250"/>
            <a:ext cx="2857500" cy="1524000"/>
          </a:xfrm>
          <a:prstGeom prst="roundRect">
            <a:avLst>
              <a:gd name="adj" fmla="val 8750"/>
            </a:avLst>
          </a:prstGeom>
          <a:solidFill>
            <a:srgbClr val="1A6B3A">
              <a:alpha val="55000"/>
            </a:srgbClr>
          </a:solidFill>
          <a:ln w="14288">
            <a:solidFill>
              <a:srgbClr val="5CDB8F">
                <a:alpha val="33000"/>
              </a:srgbClr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1762125" y="1571625"/>
            <a:ext cx="857250" cy="523875"/>
          </a:xfrm>
          <a:prstGeom prst="roundRect">
            <a:avLst>
              <a:gd name="adj" fmla="val 10909"/>
            </a:avLst>
          </a:prstGeom>
          <a:solidFill>
            <a:srgbClr val="2EAA5E">
              <a:alpha val="70000"/>
            </a:srgbClr>
          </a:solidFill>
          <a:ln>
            <a:noFill/>
          </a:ln>
        </p:spPr>
      </p:sp>
      <p:sp>
        <p:nvSpPr>
          <p:cNvPr id="35" name="Line 35"/>
          <p:cNvSpPr/>
          <p:nvPr/>
        </p:nvSpPr>
        <p:spPr>
          <a:xfrm>
            <a:off x="1762125" y="1762125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/>
          <a:ln w="11430">
            <a:solidFill>
              <a:srgbClr val="FFFFFF">
                <a:alpha val="60000"/>
              </a:srgbClr>
            </a:solidFill>
          </a:ln>
        </p:spPr>
      </p:sp>
      <p:sp>
        <p:nvSpPr>
          <p:cNvPr id="36" name="Line 36"/>
          <p:cNvSpPr/>
          <p:nvPr/>
        </p:nvSpPr>
        <p:spPr>
          <a:xfrm>
            <a:off x="1762125" y="1905000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/>
          <a:ln w="11430">
            <a:solidFill>
              <a:srgbClr val="FFFFFF">
                <a:alpha val="60000"/>
              </a:srgbClr>
            </a:solidFill>
          </a:ln>
        </p:spPr>
      </p:sp>
      <p:sp>
        <p:nvSpPr>
          <p:cNvPr id="37" name="Line 37"/>
          <p:cNvSpPr/>
          <p:nvPr/>
        </p:nvSpPr>
        <p:spPr>
          <a:xfrm>
            <a:off x="1762125" y="2047875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/>
          <a:ln w="11430">
            <a:solidFill>
              <a:srgbClr val="FFFFFF">
                <a:alpha val="60000"/>
              </a:srgbClr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2714625" y="1571625"/>
            <a:ext cx="857250" cy="523875"/>
          </a:xfrm>
          <a:prstGeom prst="roundRect">
            <a:avLst>
              <a:gd name="adj" fmla="val 10909"/>
            </a:avLst>
          </a:prstGeom>
          <a:solidFill>
            <a:srgbClr val="2EAA5E">
              <a:alpha val="70000"/>
            </a:srgbClr>
          </a:solidFill>
          <a:ln>
            <a:noFill/>
          </a:ln>
        </p:spPr>
      </p:sp>
      <p:sp>
        <p:nvSpPr>
          <p:cNvPr id="39" name="Line 39"/>
          <p:cNvSpPr/>
          <p:nvPr/>
        </p:nvSpPr>
        <p:spPr>
          <a:xfrm>
            <a:off x="2714625" y="1762125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/>
          <a:ln w="11430">
            <a:solidFill>
              <a:srgbClr val="FFFFFF">
                <a:alpha val="60000"/>
              </a:srgbClr>
            </a:solidFill>
          </a:ln>
        </p:spPr>
      </p:sp>
      <p:sp>
        <p:nvSpPr>
          <p:cNvPr id="40" name="Line 40"/>
          <p:cNvSpPr/>
          <p:nvPr/>
        </p:nvSpPr>
        <p:spPr>
          <a:xfrm>
            <a:off x="2714625" y="1905000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/>
          <a:ln w="11430">
            <a:solidFill>
              <a:srgbClr val="FFFFFF">
                <a:alpha val="60000"/>
              </a:srgbClr>
            </a:solidFill>
          </a:ln>
        </p:spPr>
      </p:sp>
      <p:sp>
        <p:nvSpPr>
          <p:cNvPr id="41" name="Line 41"/>
          <p:cNvSpPr/>
          <p:nvPr/>
        </p:nvSpPr>
        <p:spPr>
          <a:xfrm>
            <a:off x="2714625" y="2047875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/>
          <a:ln w="11430">
            <a:solidFill>
              <a:srgbClr val="FFFFFF">
                <a:alpha val="60000"/>
              </a:srgbClr>
            </a:solidFill>
          </a:ln>
        </p:spPr>
      </p:sp>
      <p:sp>
        <p:nvSpPr>
          <p:cNvPr id="42" name="Ellipse 42"/>
          <p:cNvSpPr/>
          <p:nvPr/>
        </p:nvSpPr>
        <p:spPr>
          <a:xfrm>
            <a:off x="2371725" y="1752600"/>
            <a:ext cx="495300" cy="495300"/>
          </a:xfrm>
          <a:prstGeom prst="ellipse">
            <a:avLst/>
          </a:prstGeom>
          <a:solidFill>
            <a:srgbClr val="5CDB8F">
              <a:alpha val="28000"/>
            </a:srgbClr>
          </a:solidFill>
          <a:ln>
            <a:noFill/>
          </a:ln>
        </p:spPr>
      </p:sp>
      <p:sp>
        <p:nvSpPr>
          <p:cNvPr id="43" name="Ellipse 43"/>
          <p:cNvSpPr/>
          <p:nvPr/>
        </p:nvSpPr>
        <p:spPr>
          <a:xfrm>
            <a:off x="2562225" y="1752600"/>
            <a:ext cx="495300" cy="495300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2614525" y="2292191"/>
            <a:ext cx="58120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5CDB8F">
                    <a:alphaMod val="90000"/>
                  </a:srgbClr>
                </a:solidFill>
                <a:latin typeface="Poppins"/>
                <a:ea typeface="Microsoft YaHei"/>
                <a:cs typeface="Poppins"/>
              </a:rPr>
              <a:t>SQL JOINS</a:t>
            </a:r>
          </a:p>
        </p:txBody>
      </p:sp>
      <p:sp>
        <p:nvSpPr>
          <p:cNvPr id="45" name="Line 45"/>
          <p:cNvSpPr/>
          <p:nvPr/>
        </p:nvSpPr>
        <p:spPr>
          <a:xfrm>
            <a:off x="952500" y="3000375"/>
            <a:ext cx="3905250" cy="9525"/>
          </a:xfrm>
          <a:custGeom>
            <a:avLst/>
            <a:gdLst/>
            <a:ahLst/>
            <a:cxnLst/>
            <a:rect l="l" t="t" r="r" b="b"/>
            <a:pathLst>
              <a:path w="3905250" h="9525">
                <a:moveTo>
                  <a:pt x="0" y="0"/>
                </a:moveTo>
                <a:lnTo>
                  <a:pt x="3905250" y="0"/>
                </a:lnTo>
              </a:path>
            </a:pathLst>
          </a:custGeom>
          <a:noFill/>
          <a:ln w="9525">
            <a:solidFill>
              <a:srgbClr val="5CDB8F">
                <a:alpha val="40000"/>
              </a:srgbClr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1852160" y="3268028"/>
            <a:ext cx="21059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Mod val="92000"/>
                  </a:srgbClr>
                </a:solidFill>
                <a:latin typeface="Poppins"/>
                <a:ea typeface="Microsoft YaHei"/>
                <a:cs typeface="Poppins"/>
              </a:rPr>
              <a:t>Mastering Every JOIN Type for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240709" y="3487102"/>
            <a:ext cx="13288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Mod val="92000"/>
                  </a:srgbClr>
                </a:solidFill>
                <a:latin typeface="Poppins"/>
                <a:ea typeface="Microsoft YaHei"/>
                <a:cs typeface="Poppins"/>
              </a:rPr>
              <a:t>Real-World Queries</a:t>
            </a:r>
          </a:p>
        </p:txBody>
      </p:sp>
      <p:sp>
        <p:nvSpPr>
          <p:cNvPr id="48" name="Line 48"/>
          <p:cNvSpPr/>
          <p:nvPr/>
        </p:nvSpPr>
        <p:spPr>
          <a:xfrm>
            <a:off x="952500" y="3829050"/>
            <a:ext cx="3905250" cy="9525"/>
          </a:xfrm>
          <a:custGeom>
            <a:avLst/>
            <a:gdLst/>
            <a:ahLst/>
            <a:cxnLst/>
            <a:rect l="l" t="t" r="r" b="b"/>
            <a:pathLst>
              <a:path w="3905250" h="9525">
                <a:moveTo>
                  <a:pt x="0" y="0"/>
                </a:moveTo>
                <a:lnTo>
                  <a:pt x="3905250" y="0"/>
                </a:lnTo>
              </a:path>
            </a:pathLst>
          </a:custGeom>
          <a:noFill/>
          <a:ln w="9525">
            <a:solidFill>
              <a:srgbClr val="5CDB8F">
                <a:alpha val="30000"/>
              </a:srgbClr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1333500" y="3981450"/>
            <a:ext cx="1714500" cy="323850"/>
          </a:xfrm>
          <a:prstGeom prst="roundRect">
            <a:avLst>
              <a:gd name="adj" fmla="val 50000"/>
            </a:avLst>
          </a:prstGeom>
          <a:solidFill>
            <a:srgbClr val="2EAA5E">
              <a:alpha val="85000"/>
            </a:srgbClr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1557215" y="4095274"/>
            <a:ext cx="12670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Intermediate Level</a:t>
            </a:r>
          </a:p>
        </p:txBody>
      </p:sp>
      <p:sp>
        <p:nvSpPr>
          <p:cNvPr id="51" name="Rectangle 51"/>
          <p:cNvSpPr/>
          <p:nvPr/>
        </p:nvSpPr>
        <p:spPr>
          <a:xfrm>
            <a:off x="1028700" y="4495800"/>
            <a:ext cx="1066800" cy="266700"/>
          </a:xfrm>
          <a:prstGeom prst="roundRect">
            <a:avLst>
              <a:gd name="adj" fmla="val 28571"/>
            </a:avLst>
          </a:prstGeom>
          <a:solidFill>
            <a:srgbClr val="1A6B3A">
              <a:alpha val="70000"/>
            </a:srgbClr>
          </a:solidFill>
          <a:ln w="9525">
            <a:solidFill>
              <a:srgbClr val="5CDB8F">
                <a:alpha val="35000"/>
              </a:srgbClr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1218831" y="4587716"/>
            <a:ext cx="6865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6 JOIN types</a:t>
            </a:r>
          </a:p>
        </p:txBody>
      </p:sp>
      <p:sp>
        <p:nvSpPr>
          <p:cNvPr id="53" name="Rectangle 53"/>
          <p:cNvSpPr/>
          <p:nvPr/>
        </p:nvSpPr>
        <p:spPr>
          <a:xfrm>
            <a:off x="2209800" y="4495800"/>
            <a:ext cx="1409700" cy="266700"/>
          </a:xfrm>
          <a:prstGeom prst="roundRect">
            <a:avLst>
              <a:gd name="adj" fmla="val 28571"/>
            </a:avLst>
          </a:prstGeom>
          <a:solidFill>
            <a:srgbClr val="1A6B3A">
              <a:alpha val="70000"/>
            </a:srgbClr>
          </a:solidFill>
          <a:ln w="9525">
            <a:solidFill>
              <a:srgbClr val="5CDB8F">
                <a:alpha val="35000"/>
              </a:srgbClr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2406360" y="4587716"/>
            <a:ext cx="101657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Subquery rewrites</a:t>
            </a:r>
          </a:p>
        </p:txBody>
      </p:sp>
      <p:sp>
        <p:nvSpPr>
          <p:cNvPr id="55" name="Rectangle 55"/>
          <p:cNvSpPr/>
          <p:nvPr/>
        </p:nvSpPr>
        <p:spPr>
          <a:xfrm>
            <a:off x="1847850" y="4876800"/>
            <a:ext cx="1143000" cy="266700"/>
          </a:xfrm>
          <a:prstGeom prst="roundRect">
            <a:avLst>
              <a:gd name="adj" fmla="val 28571"/>
            </a:avLst>
          </a:prstGeom>
          <a:solidFill>
            <a:srgbClr val="1A6B3A">
              <a:alpha val="70000"/>
            </a:srgbClr>
          </a:solidFill>
          <a:ln w="9525">
            <a:solidFill>
              <a:srgbClr val="5CDB8F">
                <a:alpha val="35000"/>
              </a:srgbClr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2065080" y="4968716"/>
            <a:ext cx="70854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Performance</a:t>
            </a:r>
          </a:p>
        </p:txBody>
      </p:sp>
      <p:sp>
        <p:nvSpPr>
          <p:cNvPr id="57" name="Line 57"/>
          <p:cNvSpPr/>
          <p:nvPr/>
        </p:nvSpPr>
        <p:spPr>
          <a:xfrm>
            <a:off x="952500" y="5314950"/>
            <a:ext cx="3905250" cy="9525"/>
          </a:xfrm>
          <a:custGeom>
            <a:avLst/>
            <a:gdLst/>
            <a:ahLst/>
            <a:cxnLst/>
            <a:rect l="l" t="t" r="r" b="b"/>
            <a:pathLst>
              <a:path w="3905250" h="9525">
                <a:moveTo>
                  <a:pt x="0" y="0"/>
                </a:moveTo>
                <a:lnTo>
                  <a:pt x="3905250" y="0"/>
                </a:lnTo>
              </a:path>
            </a:pathLst>
          </a:custGeom>
          <a:noFill/>
          <a:ln w="9525">
            <a:solidFill>
              <a:srgbClr val="5CDB8F">
                <a:alpha val="30000"/>
              </a:srgbClr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1893522" y="5530691"/>
            <a:ext cx="202320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5000"/>
                  </a:srgbClr>
                </a:solidFill>
                <a:latin typeface="Poppins"/>
                <a:ea typeface="Microsoft YaHei"/>
                <a:cs typeface="Poppins"/>
              </a:rPr>
              <a:t>Training Course · SQL Mastery Series</a:t>
            </a:r>
          </a:p>
        </p:txBody>
      </p:sp>
      <p:sp>
        <p:nvSpPr>
          <p:cNvPr id="59" name="Line 59"/>
          <p:cNvSpPr/>
          <p:nvPr/>
        </p:nvSpPr>
        <p:spPr>
          <a:xfrm>
            <a:off x="5619750" y="1333500"/>
            <a:ext cx="9525" cy="4191000"/>
          </a:xfrm>
          <a:custGeom>
            <a:avLst/>
            <a:gdLst/>
            <a:ahLst/>
            <a:cxnLst/>
            <a:rect l="l" t="t" r="r" b="b"/>
            <a:pathLst>
              <a:path w="9525" h="4191000">
                <a:moveTo>
                  <a:pt x="0" y="0"/>
                </a:moveTo>
                <a:lnTo>
                  <a:pt x="0" y="4191000"/>
                </a:lnTo>
              </a:path>
            </a:pathLst>
          </a:custGeom>
          <a:noFill/>
          <a:ln w="14288">
            <a:solidFill>
              <a:srgbClr val="5CDB8F">
                <a:alpha val="18000"/>
              </a:srgbClr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4922716" y="2347912"/>
            <a:ext cx="2346567" cy="167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0" b="1" dirty="0">
                <a:solidFill>
                  <a:srgbClr val="FFFFFF">
                    <a:alphaMod val="97000"/>
                  </a:srgbClr>
                </a:solidFill>
                <a:latin typeface="Poppins"/>
                <a:ea typeface="Microsoft YaHei"/>
                <a:cs typeface="Poppins"/>
              </a:rPr>
              <a:t>SQL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547295" y="3490912"/>
            <a:ext cx="3097411" cy="167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Joins</a:t>
            </a:r>
          </a:p>
        </p:txBody>
      </p:sp>
      <p:sp>
        <p:nvSpPr>
          <p:cNvPr id="62" name="Rectangle 62"/>
          <p:cNvSpPr/>
          <p:nvPr/>
        </p:nvSpPr>
        <p:spPr>
          <a:xfrm>
            <a:off x="5810250" y="4533900"/>
            <a:ext cx="2476500" cy="47625"/>
          </a:xfrm>
          <a:prstGeom prst="roundRect">
            <a:avLst>
              <a:gd name="adj" fmla="val 50000"/>
            </a:avLst>
          </a:prstGeom>
          <a:solidFill>
            <a:srgbClr val="5CDB8F">
              <a:alpha val="45000"/>
            </a:srgbClr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6286500" y="4610100"/>
            <a:ext cx="1524000" cy="28575"/>
          </a:xfrm>
          <a:prstGeom prst="roundRect">
            <a:avLst>
              <a:gd name="adj" fmla="val 50000"/>
            </a:avLst>
          </a:prstGeom>
          <a:solidFill>
            <a:srgbClr val="5CDB8F">
              <a:alpha val="22000"/>
            </a:srgbClr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4456557" y="4918710"/>
            <a:ext cx="32788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>
                    <a:alphaMod val="65000"/>
                  </a:srgbClr>
                </a:solidFill>
                <a:latin typeface="Poppins"/>
                <a:ea typeface="Microsoft YaHei"/>
                <a:cs typeface="Poppins"/>
              </a:rPr>
              <a:t>INNER · LEFT · RIGHT · FULL · CROSS · SELF</a:t>
            </a:r>
          </a:p>
        </p:txBody>
      </p:sp>
      <p:sp>
        <p:nvSpPr>
          <p:cNvPr id="65" name="Ellipse 65"/>
          <p:cNvSpPr/>
          <p:nvPr/>
        </p:nvSpPr>
        <p:spPr>
          <a:xfrm>
            <a:off x="5114925" y="5286375"/>
            <a:ext cx="57150" cy="57150"/>
          </a:xfrm>
          <a:prstGeom prst="ellipse">
            <a:avLst/>
          </a:prstGeom>
          <a:solidFill>
            <a:srgbClr val="5CDB8F">
              <a:alpha val="40000"/>
            </a:srgbClr>
          </a:solidFill>
          <a:ln>
            <a:noFill/>
          </a:ln>
        </p:spPr>
      </p:sp>
      <p:sp>
        <p:nvSpPr>
          <p:cNvPr id="66" name="Ellipse 66"/>
          <p:cNvSpPr/>
          <p:nvPr/>
        </p:nvSpPr>
        <p:spPr>
          <a:xfrm>
            <a:off x="5257800" y="5286375"/>
            <a:ext cx="57150" cy="57150"/>
          </a:xfrm>
          <a:prstGeom prst="ellipse">
            <a:avLst/>
          </a:prstGeom>
          <a:solidFill>
            <a:srgbClr val="5CDB8F">
              <a:alpha val="50000"/>
            </a:srgbClr>
          </a:solidFill>
          <a:ln>
            <a:noFill/>
          </a:ln>
        </p:spPr>
      </p:sp>
      <p:sp>
        <p:nvSpPr>
          <p:cNvPr id="67" name="Ellipse 67"/>
          <p:cNvSpPr/>
          <p:nvPr/>
        </p:nvSpPr>
        <p:spPr>
          <a:xfrm>
            <a:off x="5400675" y="5286375"/>
            <a:ext cx="57150" cy="57150"/>
          </a:xfrm>
          <a:prstGeom prst="ellipse">
            <a:avLst/>
          </a:prstGeom>
          <a:solidFill>
            <a:srgbClr val="5CDB8F">
              <a:alpha val="65000"/>
            </a:srgbClr>
          </a:solidFill>
          <a:ln>
            <a:noFill/>
          </a:ln>
        </p:spPr>
      </p:sp>
      <p:sp>
        <p:nvSpPr>
          <p:cNvPr id="68" name="Ellipse 68"/>
          <p:cNvSpPr/>
          <p:nvPr/>
        </p:nvSpPr>
        <p:spPr>
          <a:xfrm>
            <a:off x="5543550" y="5286375"/>
            <a:ext cx="57150" cy="57150"/>
          </a:xfrm>
          <a:prstGeom prst="ellipse">
            <a:avLst/>
          </a:prstGeom>
          <a:solidFill>
            <a:srgbClr val="2EAA5E">
              <a:alpha val="80000"/>
            </a:srgbClr>
          </a:solidFill>
          <a:ln>
            <a:noFill/>
          </a:ln>
        </p:spPr>
      </p:sp>
      <p:sp>
        <p:nvSpPr>
          <p:cNvPr id="69" name="Ellipse 69"/>
          <p:cNvSpPr/>
          <p:nvPr/>
        </p:nvSpPr>
        <p:spPr>
          <a:xfrm>
            <a:off x="5686425" y="5286375"/>
            <a:ext cx="57150" cy="57150"/>
          </a:xfrm>
          <a:prstGeom prst="ellipse">
            <a:avLst/>
          </a:prstGeom>
          <a:solidFill>
            <a:srgbClr val="2EAA5E">
              <a:alpha val="65000"/>
            </a:srgbClr>
          </a:solidFill>
          <a:ln>
            <a:noFill/>
          </a:ln>
        </p:spPr>
      </p:sp>
      <p:sp>
        <p:nvSpPr>
          <p:cNvPr id="70" name="Ellipse 70"/>
          <p:cNvSpPr/>
          <p:nvPr/>
        </p:nvSpPr>
        <p:spPr>
          <a:xfrm>
            <a:off x="5829300" y="5286375"/>
            <a:ext cx="57150" cy="57150"/>
          </a:xfrm>
          <a:prstGeom prst="ellipse">
            <a:avLst/>
          </a:prstGeom>
          <a:solidFill>
            <a:srgbClr val="5CDB8F">
              <a:alpha val="50000"/>
            </a:srgbClr>
          </a:solidFill>
          <a:ln>
            <a:noFill/>
          </a:ln>
        </p:spPr>
      </p:sp>
      <p:sp>
        <p:nvSpPr>
          <p:cNvPr id="71" name="Ellipse 71"/>
          <p:cNvSpPr/>
          <p:nvPr/>
        </p:nvSpPr>
        <p:spPr>
          <a:xfrm>
            <a:off x="5972175" y="5286375"/>
            <a:ext cx="57150" cy="57150"/>
          </a:xfrm>
          <a:prstGeom prst="ellipse">
            <a:avLst/>
          </a:prstGeom>
          <a:solidFill>
            <a:srgbClr val="5CDB8F">
              <a:alpha val="40000"/>
            </a:srgbClr>
          </a:solidFill>
          <a:ln>
            <a:noFill/>
          </a:ln>
        </p:spPr>
      </p:sp>
      <p:sp>
        <p:nvSpPr>
          <p:cNvPr id="72" name="Rectangle 72"/>
          <p:cNvSpPr/>
          <p:nvPr/>
        </p:nvSpPr>
        <p:spPr>
          <a:xfrm>
            <a:off x="5857875" y="5476875"/>
            <a:ext cx="2381250" cy="647700"/>
          </a:xfrm>
          <a:prstGeom prst="roundRect">
            <a:avLst>
              <a:gd name="adj" fmla="val 14706"/>
            </a:avLst>
          </a:prstGeom>
          <a:solidFill>
            <a:srgbClr val="1A1A2E">
              <a:alpha val="45000"/>
            </a:srgbClr>
          </a:solidFill>
          <a:ln w="9525">
            <a:solidFill>
              <a:srgbClr val="2EAA5E">
                <a:alpha val="18000"/>
              </a:srgbClr>
            </a:solidFill>
          </a:ln>
        </p:spPr>
      </p:sp>
      <p:sp>
        <p:nvSpPr>
          <p:cNvPr id="73" name="TextBox 73"/>
          <p:cNvSpPr txBox="1"/>
          <p:nvPr/>
        </p:nvSpPr>
        <p:spPr>
          <a:xfrm>
            <a:off x="6037898" y="5606891"/>
            <a:ext cx="8735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DB8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SELECT a.*, b.*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037898" y="5759291"/>
            <a:ext cx="76904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65000"/>
                  </a:srgbClr>
                </a:solidFill>
                <a:latin typeface="Poppins"/>
                <a:ea typeface="Microsoft YaHei"/>
                <a:cs typeface="Poppins"/>
              </a:rPr>
              <a:t>FROM tableA a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6037898" y="5911691"/>
            <a:ext cx="14841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2EAA5E">
                    <a:alphaMod val="85000"/>
                  </a:srgbClr>
                </a:solidFill>
                <a:latin typeface="Poppins"/>
                <a:ea typeface="Microsoft YaHei"/>
                <a:cs typeface="Poppins"/>
              </a:rPr>
              <a:t>JOIN tableB b ON a.id = b.id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1529393" y="6578441"/>
            <a:ext cx="539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FFFFF">
                    <a:alphaMod val="55000"/>
                  </a:srgbClr>
                </a:solidFill>
                <a:latin typeface="Poppins"/>
                <a:ea typeface="Microsoft YaHei"/>
                <a:cs typeface="Poppi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CDB8F">
                  <a:alpha val="8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762000"/>
            <a:ext cx="47625" cy="1143000"/>
          </a:xfrm>
          <a:prstGeom prst="roundRect">
            <a:avLst>
              <a:gd name="adj" fmla="val 50000"/>
            </a:avLst>
          </a:prstGeom>
          <a:solidFill>
            <a:srgbClr val="2EAA5E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6760" y="1022985"/>
            <a:ext cx="142955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Session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760" y="1442085"/>
            <a:ext cx="131613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Agenda</a:t>
            </a:r>
          </a:p>
        </p:txBody>
      </p:sp>
      <p:sp>
        <p:nvSpPr>
          <p:cNvPr id="7" name="Line 7"/>
          <p:cNvSpPr/>
          <p:nvPr/>
        </p:nvSpPr>
        <p:spPr>
          <a:xfrm>
            <a:off x="781050" y="1905000"/>
            <a:ext cx="3886200" cy="9525"/>
          </a:xfrm>
          <a:custGeom>
            <a:avLst/>
            <a:gdLst/>
            <a:ahLst/>
            <a:cxnLst/>
            <a:rect l="l" t="t" r="r" b="b"/>
            <a:pathLst>
              <a:path w="3886200" h="9525">
                <a:moveTo>
                  <a:pt x="0" y="0"/>
                </a:moveTo>
                <a:lnTo>
                  <a:pt x="3886200" y="0"/>
                </a:lnTo>
              </a:path>
            </a:pathLst>
          </a:custGeom>
          <a:noFill/>
          <a:ln w="14288">
            <a:solidFill>
              <a:srgbClr val="2EAA5E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67715" y="2058352"/>
            <a:ext cx="27430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A focused SQL training session covering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7715" y="2248852"/>
            <a:ext cx="27360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joins, subqueries, performance tuning,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7715" y="2439352"/>
            <a:ext cx="23159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and hands-on practice exercises.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81050" y="2952750"/>
            <a:ext cx="3429000" cy="762000"/>
          </a:xfrm>
          <a:prstGeom prst="roundRect">
            <a:avLst>
              <a:gd name="adj" fmla="val 15000"/>
            </a:avLst>
          </a:prstGeom>
          <a:solidFill>
            <a:srgbClr val="1A6B3A">
              <a:alpha val="6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59168" y="3152299"/>
            <a:ext cx="6663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6B3A"/>
                </a:solidFill>
                <a:latin typeface="Poppins"/>
                <a:ea typeface="Microsoft YaHei"/>
                <a:cs typeface="Poppins"/>
              </a:rPr>
              <a:t>Duration: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9168" y="3342799"/>
            <a:ext cx="20725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~90 minutes | Intermediate Level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9168" y="3533299"/>
            <a:ext cx="23260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Prerequisites: Basic SELECT &amp; WHERE</a:t>
            </a:r>
          </a:p>
        </p:txBody>
      </p:sp>
      <p:sp>
        <p:nvSpPr>
          <p:cNvPr id="15" name="Line 15"/>
          <p:cNvSpPr/>
          <p:nvPr/>
        </p:nvSpPr>
        <p:spPr>
          <a:xfrm>
            <a:off x="5048250" y="762000"/>
            <a:ext cx="9525" cy="5334000"/>
          </a:xfrm>
          <a:custGeom>
            <a:avLst/>
            <a:gdLst/>
            <a:ahLst/>
            <a:cxnLst/>
            <a:rect l="l" t="t" r="r" b="b"/>
            <a:pathLst>
              <a:path w="9525" h="5334000">
                <a:moveTo>
                  <a:pt x="0" y="0"/>
                </a:moveTo>
                <a:lnTo>
                  <a:pt x="0" y="5334000"/>
                </a:lnTo>
              </a:path>
            </a:pathLst>
          </a:custGeom>
          <a:noFill/>
          <a:ln w="9525">
            <a:solidFill>
              <a:srgbClr val="2EAA5E">
                <a:alpha val="30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571500" y="20002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14288">
            <a:solidFill>
              <a:srgbClr val="2EAA5E"/>
            </a:solidFill>
          </a:ln>
        </p:spPr>
      </p:sp>
      <p:sp>
        <p:nvSpPr>
          <p:cNvPr id="17" name="Ellipse 17"/>
          <p:cNvSpPr/>
          <p:nvPr/>
        </p:nvSpPr>
        <p:spPr>
          <a:xfrm>
            <a:off x="5372100" y="2419350"/>
            <a:ext cx="495300" cy="4953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5505450" y="2552700"/>
            <a:ext cx="190500" cy="228600"/>
          </a:xfrm>
          <a:prstGeom prst="roundRect">
            <a:avLst>
              <a:gd name="adj" fmla="val 10000"/>
            </a:avLst>
          </a:prstGeom>
          <a:noFill/>
          <a:ln w="17145">
            <a:solidFill>
              <a:srgbClr val="FFFFFF"/>
            </a:solidFill>
          </a:ln>
        </p:spPr>
      </p:sp>
      <p:sp>
        <p:nvSpPr>
          <p:cNvPr id="19" name="Line 19"/>
          <p:cNvSpPr/>
          <p:nvPr/>
        </p:nvSpPr>
        <p:spPr>
          <a:xfrm>
            <a:off x="5543550" y="2619375"/>
            <a:ext cx="114300" cy="9525"/>
          </a:xfrm>
          <a:custGeom>
            <a:avLst/>
            <a:gdLst/>
            <a:ahLst/>
            <a:cxnLst/>
            <a:rect l="l" t="t" r="r" b="b"/>
            <a:pathLst>
              <a:path w="114300" h="952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14288">
            <a:solidFill>
              <a:srgbClr val="FFFFFF"/>
            </a:solidFill>
          </a:ln>
        </p:spPr>
      </p:sp>
      <p:sp>
        <p:nvSpPr>
          <p:cNvPr id="20" name="Line 20"/>
          <p:cNvSpPr/>
          <p:nvPr/>
        </p:nvSpPr>
        <p:spPr>
          <a:xfrm>
            <a:off x="5543550" y="2667000"/>
            <a:ext cx="114300" cy="9525"/>
          </a:xfrm>
          <a:custGeom>
            <a:avLst/>
            <a:gdLst/>
            <a:ahLst/>
            <a:cxnLst/>
            <a:rect l="l" t="t" r="r" b="b"/>
            <a:pathLst>
              <a:path w="114300" h="952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14288">
            <a:solidFill>
              <a:srgbClr val="FFFFFF"/>
            </a:solidFill>
          </a:ln>
        </p:spPr>
      </p:sp>
      <p:sp>
        <p:nvSpPr>
          <p:cNvPr id="21" name="Line 21"/>
          <p:cNvSpPr/>
          <p:nvPr/>
        </p:nvSpPr>
        <p:spPr>
          <a:xfrm>
            <a:off x="5543550" y="2714625"/>
            <a:ext cx="76200" cy="9525"/>
          </a:xfrm>
          <a:custGeom>
            <a:avLst/>
            <a:gdLst/>
            <a:ahLst/>
            <a:cxnLst/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14288">
            <a:solidFill>
              <a:srgbClr val="FFFFFF"/>
            </a:solidFill>
          </a:ln>
        </p:spPr>
      </p:sp>
      <p:sp>
        <p:nvSpPr>
          <p:cNvPr id="22" name="Line 22"/>
          <p:cNvSpPr/>
          <p:nvPr/>
        </p:nvSpPr>
        <p:spPr>
          <a:xfrm>
            <a:off x="5600700" y="2552700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11430">
            <a:solidFill>
              <a:srgbClr val="FFFFFF">
                <a:alpha val="60000"/>
              </a:srgbClr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965508" y="2472214"/>
            <a:ext cx="96070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JOIN Types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969318" y="2695099"/>
            <a:ext cx="28916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INNER, LEFT, RIGHT, FULL OUTER, CROSS, SELF</a:t>
            </a:r>
          </a:p>
        </p:txBody>
      </p:sp>
      <p:sp>
        <p:nvSpPr>
          <p:cNvPr id="25" name="Ellipse 25"/>
          <p:cNvSpPr/>
          <p:nvPr/>
        </p:nvSpPr>
        <p:spPr>
          <a:xfrm>
            <a:off x="5372100" y="3143250"/>
            <a:ext cx="495300" cy="4953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6" name="Freeform 26"/>
          <p:cNvSpPr/>
          <p:nvPr/>
        </p:nvSpPr>
        <p:spPr>
          <a:xfrm>
            <a:off x="5524500" y="3295650"/>
            <a:ext cx="190500" cy="76200"/>
          </a:xfrm>
          <a:custGeom>
            <a:avLst/>
            <a:gdLst/>
            <a:ahLst/>
            <a:cxnLst/>
            <a:rect l="l" t="t" r="r" b="b"/>
            <a:pathLst>
              <a:path w="190500" h="76200">
                <a:moveTo>
                  <a:pt x="0" y="38100"/>
                </a:moveTo>
                <a:lnTo>
                  <a:pt x="190500" y="38100"/>
                </a:lnTo>
                <a:moveTo>
                  <a:pt x="152400" y="0"/>
                </a:moveTo>
                <a:lnTo>
                  <a:pt x="190500" y="38100"/>
                </a:lnTo>
                <a:lnTo>
                  <a:pt x="152400" y="76200"/>
                </a:lnTo>
              </a:path>
            </a:pathLst>
          </a:custGeom>
          <a:noFill/>
          <a:ln w="17145" cap="rnd">
            <a:solidFill>
              <a:srgbClr val="FFFFFF"/>
            </a:solidFill>
            <a:round/>
          </a:ln>
        </p:spPr>
      </p:sp>
      <p:sp>
        <p:nvSpPr>
          <p:cNvPr id="27" name="Freeform 27"/>
          <p:cNvSpPr/>
          <p:nvPr/>
        </p:nvSpPr>
        <p:spPr>
          <a:xfrm>
            <a:off x="5524500" y="3409950"/>
            <a:ext cx="190500" cy="76200"/>
          </a:xfrm>
          <a:custGeom>
            <a:avLst/>
            <a:gdLst/>
            <a:ahLst/>
            <a:cxnLst/>
            <a:rect l="l" t="t" r="r" b="b"/>
            <a:pathLst>
              <a:path w="190500" h="76200">
                <a:moveTo>
                  <a:pt x="190500" y="38100"/>
                </a:moveTo>
                <a:lnTo>
                  <a:pt x="0" y="38100"/>
                </a:lnTo>
                <a:moveTo>
                  <a:pt x="38100" y="0"/>
                </a:moveTo>
                <a:lnTo>
                  <a:pt x="0" y="38100"/>
                </a:lnTo>
                <a:lnTo>
                  <a:pt x="38100" y="76200"/>
                </a:lnTo>
              </a:path>
            </a:pathLst>
          </a:custGeom>
          <a:noFill/>
          <a:ln w="17145" cap="rnd">
            <a:solidFill>
              <a:srgbClr val="FFFFFF"/>
            </a:solidFill>
            <a:round/>
          </a:ln>
        </p:spPr>
      </p:sp>
      <p:sp>
        <p:nvSpPr>
          <p:cNvPr id="28" name="TextBox 28"/>
          <p:cNvSpPr txBox="1"/>
          <p:nvPr/>
        </p:nvSpPr>
        <p:spPr>
          <a:xfrm>
            <a:off x="5965508" y="3196114"/>
            <a:ext cx="347786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Correlated Subqueries vs JOIN Rewrites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969318" y="3418999"/>
            <a:ext cx="34441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When to use each approach and readability trade-offs</a:t>
            </a:r>
          </a:p>
        </p:txBody>
      </p:sp>
      <p:sp>
        <p:nvSpPr>
          <p:cNvPr id="30" name="Ellipse 30"/>
          <p:cNvSpPr/>
          <p:nvPr/>
        </p:nvSpPr>
        <p:spPr>
          <a:xfrm>
            <a:off x="5372100" y="3867150"/>
            <a:ext cx="495300" cy="4953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31" name="Polygon 31"/>
          <p:cNvSpPr/>
          <p:nvPr/>
        </p:nvSpPr>
        <p:spPr>
          <a:xfrm>
            <a:off x="5572125" y="3924300"/>
            <a:ext cx="142875" cy="342900"/>
          </a:xfrm>
          <a:custGeom>
            <a:avLst/>
            <a:gdLst/>
            <a:ahLst/>
            <a:cxnLst/>
            <a:rect l="l" t="t" r="r" b="b"/>
            <a:pathLst>
              <a:path w="142875" h="342900">
                <a:moveTo>
                  <a:pt x="85725" y="0"/>
                </a:moveTo>
                <a:lnTo>
                  <a:pt x="0" y="171450"/>
                </a:lnTo>
                <a:lnTo>
                  <a:pt x="57150" y="171450"/>
                </a:lnTo>
                <a:lnTo>
                  <a:pt x="19050" y="342900"/>
                </a:lnTo>
                <a:lnTo>
                  <a:pt x="142875" y="152400"/>
                </a:lnTo>
                <a:lnTo>
                  <a:pt x="76200" y="152400"/>
                </a:lnTo>
                <a:close/>
              </a:path>
            </a:pathLst>
          </a:custGeom>
          <a:noFill/>
          <a:ln w="17145">
            <a:solidFill>
              <a:srgbClr val="FFFFFF"/>
            </a:solidFill>
            <a:round/>
          </a:ln>
        </p:spPr>
      </p:sp>
      <p:sp>
        <p:nvSpPr>
          <p:cNvPr id="32" name="TextBox 32"/>
          <p:cNvSpPr txBox="1"/>
          <p:nvPr/>
        </p:nvSpPr>
        <p:spPr>
          <a:xfrm>
            <a:off x="5965508" y="3920014"/>
            <a:ext cx="174619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Performance Tuning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969318" y="4142899"/>
            <a:ext cx="28136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Indexes, EXPLAIN plans &amp; sargable conditions</a:t>
            </a:r>
          </a:p>
        </p:txBody>
      </p:sp>
      <p:sp>
        <p:nvSpPr>
          <p:cNvPr id="34" name="Ellipse 34"/>
          <p:cNvSpPr/>
          <p:nvPr/>
        </p:nvSpPr>
        <p:spPr>
          <a:xfrm>
            <a:off x="5372100" y="4591050"/>
            <a:ext cx="495300" cy="4953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 rot="-1800000">
            <a:off x="5543550" y="4724400"/>
            <a:ext cx="76200" cy="171450"/>
          </a:xfrm>
          <a:prstGeom prst="roundRect">
            <a:avLst>
              <a:gd name="adj" fmla="val 25000"/>
            </a:avLst>
          </a:prstGeom>
          <a:noFill/>
          <a:ln w="16192">
            <a:solidFill>
              <a:srgbClr val="FFFFFF"/>
            </a:solidFill>
          </a:ln>
        </p:spPr>
      </p:sp>
      <p:sp>
        <p:nvSpPr>
          <p:cNvPr id="36" name="Line 36"/>
          <p:cNvSpPr/>
          <p:nvPr/>
        </p:nvSpPr>
        <p:spPr>
          <a:xfrm>
            <a:off x="5514975" y="48958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47625"/>
                </a:moveTo>
                <a:lnTo>
                  <a:pt x="47625" y="0"/>
                </a:lnTo>
              </a:path>
            </a:pathLst>
          </a:custGeom>
          <a:noFill/>
          <a:ln w="16192" cap="rnd">
            <a:solidFill>
              <a:srgbClr val="FFFFFF"/>
            </a:solidFill>
          </a:ln>
        </p:spPr>
      </p:sp>
      <p:sp>
        <p:nvSpPr>
          <p:cNvPr id="37" name="Ellipse 37"/>
          <p:cNvSpPr/>
          <p:nvPr/>
        </p:nvSpPr>
        <p:spPr>
          <a:xfrm>
            <a:off x="5686425" y="4724400"/>
            <a:ext cx="57150" cy="5715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</p:sp>
      <p:sp>
        <p:nvSpPr>
          <p:cNvPr id="38" name="Line 38"/>
          <p:cNvSpPr/>
          <p:nvPr/>
        </p:nvSpPr>
        <p:spPr>
          <a:xfrm>
            <a:off x="5553075" y="4743450"/>
            <a:ext cx="133350" cy="228600"/>
          </a:xfrm>
          <a:custGeom>
            <a:avLst/>
            <a:gdLst/>
            <a:ahLst/>
            <a:cxnLst/>
            <a:rect l="l" t="t" r="r" b="b"/>
            <a:pathLst>
              <a:path w="133350" h="228600">
                <a:moveTo>
                  <a:pt x="0" y="228600"/>
                </a:moveTo>
                <a:lnTo>
                  <a:pt x="133350" y="0"/>
                </a:lnTo>
              </a:path>
            </a:pathLst>
          </a:custGeom>
          <a:noFill/>
          <a:ln w="19050" cap="rnd">
            <a:solidFill>
              <a:srgbClr val="FFFFFF"/>
            </a:solidFill>
          </a:ln>
        </p:spPr>
      </p:sp>
      <p:sp>
        <p:nvSpPr>
          <p:cNvPr id="39" name="Line 39"/>
          <p:cNvSpPr/>
          <p:nvPr/>
        </p:nvSpPr>
        <p:spPr>
          <a:xfrm>
            <a:off x="5514975" y="4962525"/>
            <a:ext cx="66675" cy="9525"/>
          </a:xfrm>
          <a:custGeom>
            <a:avLst/>
            <a:gdLst/>
            <a:ahLst/>
            <a:cxnLst/>
            <a:rect l="l" t="t" r="r" b="b"/>
            <a:pathLst>
              <a:path w="66675" h="952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14288" cap="rnd">
            <a:solidFill>
              <a:srgbClr val="FFFFFF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5965508" y="4643914"/>
            <a:ext cx="152304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In-Class Practice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969318" y="4866799"/>
            <a:ext cx="269009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3 progressively harder real-world queries</a:t>
            </a:r>
          </a:p>
        </p:txBody>
      </p:sp>
      <p:sp>
        <p:nvSpPr>
          <p:cNvPr id="42" name="Ellipse 42"/>
          <p:cNvSpPr/>
          <p:nvPr/>
        </p:nvSpPr>
        <p:spPr>
          <a:xfrm>
            <a:off x="5372100" y="5314950"/>
            <a:ext cx="495300" cy="4953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43" name="Line 43"/>
          <p:cNvSpPr/>
          <p:nvPr/>
        </p:nvSpPr>
        <p:spPr>
          <a:xfrm>
            <a:off x="5543550" y="5429250"/>
            <a:ext cx="9525" cy="266700"/>
          </a:xfrm>
          <a:custGeom>
            <a:avLst/>
            <a:gdLst/>
            <a:ahLst/>
            <a:cxnLst/>
            <a:rect l="l" t="t" r="r" b="b"/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19050" cap="rnd">
            <a:solidFill>
              <a:srgbClr val="FFFFFF"/>
            </a:solidFill>
          </a:ln>
        </p:spPr>
      </p:sp>
      <p:sp>
        <p:nvSpPr>
          <p:cNvPr id="44" name="Polygon 44"/>
          <p:cNvSpPr/>
          <p:nvPr/>
        </p:nvSpPr>
        <p:spPr>
          <a:xfrm>
            <a:off x="5543550" y="5448300"/>
            <a:ext cx="171450" cy="114300"/>
          </a:xfrm>
          <a:custGeom>
            <a:avLst/>
            <a:gdLst/>
            <a:ahLst/>
            <a:cxnLst/>
            <a:rect l="l" t="t" r="r" b="b"/>
            <a:pathLst>
              <a:path w="171450" h="114300">
                <a:moveTo>
                  <a:pt x="0" y="0"/>
                </a:moveTo>
                <a:lnTo>
                  <a:pt x="17145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5965508" y="5367814"/>
            <a:ext cx="193364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Summary &amp; Next Steps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969318" y="5590699"/>
            <a:ext cx="31256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Key takeaways and recommended further reading</a:t>
            </a:r>
          </a:p>
        </p:txBody>
      </p:sp>
      <p:sp>
        <p:nvSpPr>
          <p:cNvPr id="47" name="Line 47"/>
          <p:cNvSpPr/>
          <p:nvPr/>
        </p:nvSpPr>
        <p:spPr>
          <a:xfrm>
            <a:off x="5334000" y="3000375"/>
            <a:ext cx="6286500" cy="9525"/>
          </a:xfrm>
          <a:custGeom>
            <a:avLst/>
            <a:gdLst/>
            <a:ahLst/>
            <a:cxnLst/>
            <a:rect l="l" t="t" r="r" b="b"/>
            <a:pathLst>
              <a:path w="6286500" h="9525">
                <a:moveTo>
                  <a:pt x="0" y="0"/>
                </a:moveTo>
                <a:lnTo>
                  <a:pt x="6286500" y="0"/>
                </a:lnTo>
              </a:path>
            </a:pathLst>
          </a:custGeom>
          <a:noFill/>
          <a:ln w="4762">
            <a:solidFill>
              <a:srgbClr val="2EAA5E">
                <a:alpha val="25000"/>
              </a:srgbClr>
            </a:solidFill>
          </a:ln>
        </p:spPr>
      </p:sp>
      <p:sp>
        <p:nvSpPr>
          <p:cNvPr id="48" name="Line 48"/>
          <p:cNvSpPr/>
          <p:nvPr/>
        </p:nvSpPr>
        <p:spPr>
          <a:xfrm>
            <a:off x="5334000" y="3724275"/>
            <a:ext cx="6286500" cy="9525"/>
          </a:xfrm>
          <a:custGeom>
            <a:avLst/>
            <a:gdLst/>
            <a:ahLst/>
            <a:cxnLst/>
            <a:rect l="l" t="t" r="r" b="b"/>
            <a:pathLst>
              <a:path w="6286500" h="9525">
                <a:moveTo>
                  <a:pt x="0" y="0"/>
                </a:moveTo>
                <a:lnTo>
                  <a:pt x="6286500" y="0"/>
                </a:lnTo>
              </a:path>
            </a:pathLst>
          </a:custGeom>
          <a:noFill/>
          <a:ln w="4762">
            <a:solidFill>
              <a:srgbClr val="2EAA5E">
                <a:alpha val="25000"/>
              </a:srgbClr>
            </a:solidFill>
          </a:ln>
        </p:spPr>
      </p:sp>
      <p:sp>
        <p:nvSpPr>
          <p:cNvPr id="49" name="Line 49"/>
          <p:cNvSpPr/>
          <p:nvPr/>
        </p:nvSpPr>
        <p:spPr>
          <a:xfrm>
            <a:off x="5334000" y="4448175"/>
            <a:ext cx="6286500" cy="9525"/>
          </a:xfrm>
          <a:custGeom>
            <a:avLst/>
            <a:gdLst/>
            <a:ahLst/>
            <a:cxnLst/>
            <a:rect l="l" t="t" r="r" b="b"/>
            <a:pathLst>
              <a:path w="6286500" h="9525">
                <a:moveTo>
                  <a:pt x="0" y="0"/>
                </a:moveTo>
                <a:lnTo>
                  <a:pt x="6286500" y="0"/>
                </a:lnTo>
              </a:path>
            </a:pathLst>
          </a:custGeom>
          <a:noFill/>
          <a:ln w="4762">
            <a:solidFill>
              <a:srgbClr val="2EAA5E">
                <a:alpha val="25000"/>
              </a:srgbClr>
            </a:solidFill>
          </a:ln>
        </p:spPr>
      </p:sp>
      <p:sp>
        <p:nvSpPr>
          <p:cNvPr id="50" name="Line 50"/>
          <p:cNvSpPr/>
          <p:nvPr/>
        </p:nvSpPr>
        <p:spPr>
          <a:xfrm>
            <a:off x="5334000" y="5172075"/>
            <a:ext cx="6286500" cy="9525"/>
          </a:xfrm>
          <a:custGeom>
            <a:avLst/>
            <a:gdLst/>
            <a:ahLst/>
            <a:cxnLst/>
            <a:rect l="l" t="t" r="r" b="b"/>
            <a:pathLst>
              <a:path w="6286500" h="9525">
                <a:moveTo>
                  <a:pt x="0" y="0"/>
                </a:moveTo>
                <a:lnTo>
                  <a:pt x="6286500" y="0"/>
                </a:lnTo>
              </a:path>
            </a:pathLst>
          </a:custGeom>
          <a:noFill/>
          <a:ln w="4762">
            <a:solidFill>
              <a:srgbClr val="2EAA5E">
                <a:alpha val="25000"/>
              </a:srgbClr>
            </a:solidFill>
          </a:ln>
        </p:spPr>
      </p:sp>
      <p:sp>
        <p:nvSpPr>
          <p:cNvPr id="51" name="Rectangle 51"/>
          <p:cNvSpPr/>
          <p:nvPr/>
        </p:nvSpPr>
        <p:spPr>
          <a:xfrm>
            <a:off x="571500" y="6381750"/>
            <a:ext cx="3810000" cy="28575"/>
          </a:xfrm>
          <a:prstGeom prst="roundRect">
            <a:avLst>
              <a:gd name="adj" fmla="val 50000"/>
            </a:avLst>
          </a:prstGeom>
          <a:solidFill>
            <a:srgbClr val="2EAA5E">
              <a:alpha val="40000"/>
            </a:srgbClr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11501890" y="657844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6B3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CDB8F">
                  <a:alpha val="35000"/>
                </a:srgbClr>
              </a:gs>
              <a:gs pos="100000">
                <a:srgbClr val="1A6B3A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3048000" y="-571500"/>
            <a:ext cx="6096000" cy="3429000"/>
          </a:xfrm>
          <a:prstGeom prst="ellipse">
            <a:avLst/>
          </a:prstGeom>
          <a:gradFill>
            <a:gsLst>
              <a:gs pos="0">
                <a:srgbClr val="5CDB8F">
                  <a:alpha val="20000"/>
                </a:srgbClr>
              </a:gs>
              <a:gs pos="100000">
                <a:srgbClr val="5CDB8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24661" y="1053465"/>
            <a:ext cx="4542677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Learning Objectives</a:t>
            </a:r>
          </a:p>
        </p:txBody>
      </p:sp>
      <p:sp>
        <p:nvSpPr>
          <p:cNvPr id="6" name="Line 6"/>
          <p:cNvSpPr/>
          <p:nvPr/>
        </p:nvSpPr>
        <p:spPr>
          <a:xfrm>
            <a:off x="3429000" y="16383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noFill/>
          <a:ln w="19050">
            <a:solidFill>
              <a:srgbClr val="2EAA5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4427756" y="1878806"/>
            <a:ext cx="33364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FFFF">
                    <a:alphaMod val="75000"/>
                  </a:srgbClr>
                </a:solidFill>
                <a:latin typeface="Poppins"/>
                <a:ea typeface="Microsoft YaHei"/>
                <a:cs typeface="Poppins"/>
              </a:rPr>
              <a:t>By the end of this session you will be able to:</a:t>
            </a:r>
          </a:p>
        </p:txBody>
      </p:sp>
      <p:sp>
        <p:nvSpPr>
          <p:cNvPr id="8" name="Ellipse 8"/>
          <p:cNvSpPr/>
          <p:nvPr/>
        </p:nvSpPr>
        <p:spPr>
          <a:xfrm>
            <a:off x="3276600" y="2514600"/>
            <a:ext cx="495300" cy="4953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455124" y="2692718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✓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27158" y="2586514"/>
            <a:ext cx="449544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>
                    <a:alphaMod val="90000"/>
                  </a:srgbClr>
                </a:solidFill>
                <a:latin typeface="Poppins"/>
                <a:ea typeface="Microsoft YaHei"/>
                <a:cs typeface="Poppins"/>
              </a:rPr>
              <a:t>Choose the right JOIN type for any query requirement</a:t>
            </a:r>
          </a:p>
        </p:txBody>
      </p:sp>
      <p:sp>
        <p:nvSpPr>
          <p:cNvPr id="11" name="Ellipse 11"/>
          <p:cNvSpPr/>
          <p:nvPr/>
        </p:nvSpPr>
        <p:spPr>
          <a:xfrm>
            <a:off x="3276600" y="3352800"/>
            <a:ext cx="495300" cy="4953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455124" y="3530918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27158" y="3424714"/>
            <a:ext cx="489499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>
                    <a:alphaMod val="90000"/>
                  </a:srgbClr>
                </a:solidFill>
                <a:latin typeface="Poppins"/>
                <a:ea typeface="Microsoft YaHei"/>
                <a:cs typeface="Poppins"/>
              </a:rPr>
              <a:t>Identify and fix the LEFT JOIN → INNER JOIN conversion trap</a:t>
            </a:r>
          </a:p>
        </p:txBody>
      </p:sp>
      <p:sp>
        <p:nvSpPr>
          <p:cNvPr id="14" name="Ellipse 14"/>
          <p:cNvSpPr/>
          <p:nvPr/>
        </p:nvSpPr>
        <p:spPr>
          <a:xfrm>
            <a:off x="3276600" y="4191000"/>
            <a:ext cx="495300" cy="4953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455124" y="4369118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✓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27158" y="4262914"/>
            <a:ext cx="433392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>
                    <a:alphaMod val="90000"/>
                  </a:srgbClr>
                </a:solidFill>
                <a:latin typeface="Poppins"/>
                <a:ea typeface="Microsoft YaHei"/>
                <a:cs typeface="Poppins"/>
              </a:rPr>
              <a:t>Rewrite correlated subqueries as performant JOINs</a:t>
            </a:r>
          </a:p>
        </p:txBody>
      </p:sp>
      <p:sp>
        <p:nvSpPr>
          <p:cNvPr id="17" name="Ellipse 17"/>
          <p:cNvSpPr/>
          <p:nvPr/>
        </p:nvSpPr>
        <p:spPr>
          <a:xfrm>
            <a:off x="3276600" y="5029200"/>
            <a:ext cx="495300" cy="4953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3455124" y="5207318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✓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927158" y="5101114"/>
            <a:ext cx="358582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>
                    <a:alphaMod val="90000"/>
                  </a:srgbClr>
                </a:solidFill>
                <a:latin typeface="Poppins"/>
                <a:ea typeface="Microsoft YaHei"/>
                <a:cs typeface="Poppins"/>
              </a:rPr>
              <a:t>Read an EXPLAIN plan to diagnose a slow join</a:t>
            </a:r>
          </a:p>
        </p:txBody>
      </p:sp>
      <p:sp>
        <p:nvSpPr>
          <p:cNvPr id="20" name="Line 20"/>
          <p:cNvSpPr/>
          <p:nvPr/>
        </p:nvSpPr>
        <p:spPr>
          <a:xfrm>
            <a:off x="3524250" y="3009900"/>
            <a:ext cx="9525" cy="342900"/>
          </a:xfrm>
          <a:custGeom>
            <a:avLst/>
            <a:gdLst/>
            <a:ahLst/>
            <a:cxnLst/>
            <a:rect l="l" t="t" r="r" b="b"/>
            <a:pathLst>
              <a:path w="952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/>
          <a:ln w="19050">
            <a:solidFill>
              <a:srgbClr val="2EAA5E">
                <a:alpha val="40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3524250" y="3848100"/>
            <a:ext cx="9525" cy="342900"/>
          </a:xfrm>
          <a:custGeom>
            <a:avLst/>
            <a:gdLst/>
            <a:ahLst/>
            <a:cxnLst/>
            <a:rect l="l" t="t" r="r" b="b"/>
            <a:pathLst>
              <a:path w="952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/>
          <a:ln w="19050">
            <a:solidFill>
              <a:srgbClr val="2EAA5E">
                <a:alpha val="40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3524250" y="4686300"/>
            <a:ext cx="9525" cy="342900"/>
          </a:xfrm>
          <a:custGeom>
            <a:avLst/>
            <a:gdLst/>
            <a:ahLst/>
            <a:cxnLst/>
            <a:rect l="l" t="t" r="r" b="b"/>
            <a:pathLst>
              <a:path w="952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/>
          <a:ln w="19050">
            <a:solidFill>
              <a:srgbClr val="2EAA5E">
                <a:alpha val="40000"/>
              </a:srgbClr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571500" y="6096000"/>
            <a:ext cx="11049000" cy="19050"/>
          </a:xfrm>
          <a:prstGeom prst="roundRect">
            <a:avLst>
              <a:gd name="adj" fmla="val 50000"/>
            </a:avLst>
          </a:prstGeom>
          <a:solidFill>
            <a:srgbClr val="2EAA5E">
              <a:alpha val="35000"/>
            </a:srgbClr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1501890" y="657844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FFFFF">
                    <a:alphaMod val="60000"/>
                  </a:srgbClr>
                </a:solidFill>
                <a:latin typeface="Poppins"/>
                <a:ea typeface="Microsoft YaHei"/>
                <a:cs typeface="Poppi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CDB8F">
                  <a:alpha val="7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37210" y="737235"/>
            <a:ext cx="90028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Core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37335" y="737235"/>
            <a:ext cx="108930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JOINs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162050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4288">
            <a:solidFill>
              <a:srgbClr val="2EAA5E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559118" y="1304449"/>
            <a:ext cx="39382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Master these two and you'll cover 90% of real-world queries.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1638300"/>
            <a:ext cx="400050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4288">
            <a:solidFill>
              <a:srgbClr val="5CDB8F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638300"/>
            <a:ext cx="4000500" cy="285750"/>
          </a:xfrm>
          <a:prstGeom prst="roundRect">
            <a:avLst>
              <a:gd name="adj" fmla="val 33333"/>
            </a:avLst>
          </a:prstGeom>
          <a:solidFill>
            <a:srgbClr val="5CDB8F">
              <a:alpha val="25000"/>
            </a:srgbClr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71500" y="1781175"/>
            <a:ext cx="4000500" cy="142875"/>
          </a:xfrm>
          <a:prstGeom prst="rect">
            <a:avLst/>
          </a:prstGeom>
          <a:solidFill>
            <a:srgbClr val="5CDB8F">
              <a:alpha val="25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51522" y="1739741"/>
            <a:ext cx="12396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A6B3A"/>
                </a:solidFill>
                <a:latin typeface="Poppins"/>
                <a:ea typeface="Microsoft YaHei"/>
                <a:cs typeface="Poppins"/>
              </a:rPr>
              <a:t>🔍 Quick Decision Guide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2475" y="1957388"/>
            <a:ext cx="196929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Need only rows where both sides match?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04875" y="2109788"/>
            <a:ext cx="8329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1A6B3A"/>
                </a:solidFill>
                <a:latin typeface="Poppins"/>
                <a:ea typeface="Microsoft YaHei"/>
                <a:cs typeface="Poppins"/>
              </a:rPr>
              <a:t>→ Use INNER JOIN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2475" y="2281238"/>
            <a:ext cx="22343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Need all rows from the left table regardless?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04875" y="2433638"/>
            <a:ext cx="80139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1A6B3A"/>
                </a:solidFill>
                <a:latin typeface="Poppins"/>
                <a:ea typeface="Microsoft YaHei"/>
                <a:cs typeface="Poppins"/>
              </a:rPr>
              <a:t>→ Use LEFT JOIN</a:t>
            </a:r>
          </a:p>
        </p:txBody>
      </p:sp>
      <p:sp>
        <p:nvSpPr>
          <p:cNvPr id="17" name="Ellipse 17"/>
          <p:cNvSpPr/>
          <p:nvPr/>
        </p:nvSpPr>
        <p:spPr>
          <a:xfrm>
            <a:off x="1000125" y="3000375"/>
            <a:ext cx="1047750" cy="1047750"/>
          </a:xfrm>
          <a:prstGeom prst="ellipse">
            <a:avLst/>
          </a:prstGeom>
          <a:solidFill>
            <a:srgbClr val="2EAA5E">
              <a:alpha val="18000"/>
            </a:srgbClr>
          </a:solidFill>
          <a:ln w="14288">
            <a:solidFill>
              <a:srgbClr val="2EAA5E">
                <a:alpha val="18000"/>
              </a:srgbClr>
            </a:solidFill>
          </a:ln>
        </p:spPr>
      </p:sp>
      <p:sp>
        <p:nvSpPr>
          <p:cNvPr id="18" name="Ellipse 18"/>
          <p:cNvSpPr/>
          <p:nvPr/>
        </p:nvSpPr>
        <p:spPr>
          <a:xfrm>
            <a:off x="1476375" y="3000375"/>
            <a:ext cx="1047750" cy="1047750"/>
          </a:xfrm>
          <a:prstGeom prst="ellipse">
            <a:avLst/>
          </a:prstGeom>
          <a:solidFill>
            <a:srgbClr val="2EAA5E">
              <a:alpha val="18000"/>
            </a:srgbClr>
          </a:solidFill>
          <a:ln w="14288">
            <a:solidFill>
              <a:srgbClr val="2EAA5E">
                <a:alpha val="18000"/>
              </a:srgbClr>
            </a:solidFill>
          </a:ln>
        </p:spPr>
      </p:sp>
      <p:sp>
        <p:nvSpPr>
          <p:cNvPr id="19" name="Ellipse 19"/>
          <p:cNvSpPr/>
          <p:nvPr/>
        </p:nvSpPr>
        <p:spPr>
          <a:xfrm>
            <a:off x="1552575" y="3162300"/>
            <a:ext cx="419100" cy="723900"/>
          </a:xfrm>
          <a:prstGeom prst="ellipse">
            <a:avLst/>
          </a:prstGeom>
          <a:solidFill>
            <a:srgbClr val="2EAA5E">
              <a:alpha val="45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086802" y="3499009"/>
            <a:ext cx="32903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b="1" dirty="0">
                <a:solidFill>
                  <a:srgbClr val="1A6B3A"/>
                </a:solidFill>
                <a:latin typeface="Poppins"/>
                <a:ea typeface="Microsoft YaHei"/>
                <a:cs typeface="Poppins"/>
              </a:rPr>
              <a:t>orders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86928" y="3499009"/>
            <a:ext cx="50388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b="1" dirty="0">
                <a:solidFill>
                  <a:srgbClr val="1A6B3A"/>
                </a:solidFill>
                <a:latin typeface="Poppins"/>
                <a:ea typeface="Microsoft YaHei"/>
                <a:cs typeface="Poppins"/>
              </a:rPr>
              <a:t>customers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30680" y="3497580"/>
            <a:ext cx="263071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match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2975" y="4157662"/>
            <a:ext cx="153649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INNER JOIN — intersection only</a:t>
            </a:r>
          </a:p>
        </p:txBody>
      </p:sp>
      <p:sp>
        <p:nvSpPr>
          <p:cNvPr id="24" name="Ellipse 24"/>
          <p:cNvSpPr/>
          <p:nvPr/>
        </p:nvSpPr>
        <p:spPr>
          <a:xfrm>
            <a:off x="1000125" y="4667250"/>
            <a:ext cx="1047750" cy="1047750"/>
          </a:xfrm>
          <a:prstGeom prst="ellipse">
            <a:avLst/>
          </a:prstGeom>
          <a:solidFill>
            <a:srgbClr val="2EAA5E">
              <a:alpha val="45000"/>
            </a:srgbClr>
          </a:solidFill>
          <a:ln w="14288">
            <a:solidFill>
              <a:srgbClr val="2EAA5E">
                <a:alpha val="45000"/>
              </a:srgbClr>
            </a:solidFill>
          </a:ln>
        </p:spPr>
      </p:sp>
      <p:sp>
        <p:nvSpPr>
          <p:cNvPr id="25" name="Ellipse 25"/>
          <p:cNvSpPr/>
          <p:nvPr/>
        </p:nvSpPr>
        <p:spPr>
          <a:xfrm>
            <a:off x="1476375" y="4667250"/>
            <a:ext cx="1047750" cy="1047750"/>
          </a:xfrm>
          <a:prstGeom prst="ellipse">
            <a:avLst/>
          </a:prstGeom>
          <a:solidFill>
            <a:srgbClr val="2EAA5E">
              <a:alpha val="12000"/>
            </a:srgbClr>
          </a:solidFill>
          <a:ln w="14288">
            <a:solidFill>
              <a:srgbClr val="2EAA5E">
                <a:alpha val="12000"/>
              </a:srgbClr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086802" y="5165884"/>
            <a:ext cx="32903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orders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86928" y="5165884"/>
            <a:ext cx="50388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b="1" dirty="0">
                <a:solidFill>
                  <a:srgbClr val="1A6B3A"/>
                </a:solidFill>
                <a:latin typeface="Poppins"/>
                <a:ea typeface="Microsoft YaHei"/>
                <a:cs typeface="Poppins"/>
              </a:rPr>
              <a:t>customers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42975" y="5805488"/>
            <a:ext cx="153123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LEFT JOIN — all left rows kept</a:t>
            </a:r>
          </a:p>
        </p:txBody>
      </p:sp>
      <p:sp>
        <p:nvSpPr>
          <p:cNvPr id="29" name="Ellipse 29"/>
          <p:cNvSpPr/>
          <p:nvPr/>
        </p:nvSpPr>
        <p:spPr>
          <a:xfrm>
            <a:off x="5181600" y="1619250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5229225" y="1743075"/>
            <a:ext cx="171450" cy="171450"/>
          </a:xfrm>
          <a:prstGeom prst="ellipse">
            <a:avLst/>
          </a:prstGeom>
          <a:noFill/>
          <a:ln w="17145">
            <a:solidFill>
              <a:srgbClr val="FFFFFF"/>
            </a:solidFill>
          </a:ln>
        </p:spPr>
      </p:sp>
      <p:sp>
        <p:nvSpPr>
          <p:cNvPr id="31" name="Ellipse 31"/>
          <p:cNvSpPr/>
          <p:nvPr/>
        </p:nvSpPr>
        <p:spPr>
          <a:xfrm>
            <a:off x="5381625" y="1743075"/>
            <a:ext cx="171450" cy="171450"/>
          </a:xfrm>
          <a:prstGeom prst="ellipse">
            <a:avLst/>
          </a:prstGeom>
          <a:noFill/>
          <a:ln w="17145">
            <a:solidFill>
              <a:srgbClr val="FFFFFF"/>
            </a:solidFill>
          </a:ln>
        </p:spPr>
      </p:sp>
      <p:sp>
        <p:nvSpPr>
          <p:cNvPr id="32" name="Ellipse 32"/>
          <p:cNvSpPr/>
          <p:nvPr/>
        </p:nvSpPr>
        <p:spPr>
          <a:xfrm>
            <a:off x="5353050" y="1762125"/>
            <a:ext cx="76200" cy="13335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5697855" y="1606868"/>
            <a:ext cx="9699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INNER JOIN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705475" y="1852612"/>
            <a:ext cx="396954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Returns only matched rows from both tables. Silent row drops if a key is missing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705475" y="1985962"/>
            <a:ext cx="222432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on either side. Use when a match must exist.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143500" y="2171700"/>
            <a:ext cx="6477000" cy="438150"/>
          </a:xfrm>
          <a:prstGeom prst="roundRect">
            <a:avLst>
              <a:gd name="adj" fmla="val 13043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5287328" y="2270284"/>
            <a:ext cx="166885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SELECT o.order_id, c.customer_name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287328" y="2422684"/>
            <a:ext cx="329355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FROM orders o INNER JOIN customers c ON o.customer_id = c.customer_id;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143500" y="2705100"/>
            <a:ext cx="762000" cy="171450"/>
          </a:xfrm>
          <a:prstGeom prst="roundRect">
            <a:avLst>
              <a:gd name="adj" fmla="val 50000"/>
            </a:avLst>
          </a:prstGeom>
          <a:solidFill>
            <a:srgbClr val="2EAA5E">
              <a:alpha val="15000"/>
            </a:srgbClr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282011" y="2746534"/>
            <a:ext cx="484978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1A6B3A"/>
                </a:solidFill>
                <a:latin typeface="Poppins"/>
                <a:ea typeface="Microsoft YaHei"/>
                <a:cs typeface="Poppins"/>
              </a:rPr>
              <a:t>INNER JOIN</a:t>
            </a:r>
          </a:p>
        </p:txBody>
      </p:sp>
      <p:sp>
        <p:nvSpPr>
          <p:cNvPr id="41" name="Rectangle 41"/>
          <p:cNvSpPr/>
          <p:nvPr/>
        </p:nvSpPr>
        <p:spPr>
          <a:xfrm>
            <a:off x="6000750" y="2705100"/>
            <a:ext cx="419100" cy="171450"/>
          </a:xfrm>
          <a:prstGeom prst="roundRect">
            <a:avLst>
              <a:gd name="adj" fmla="val 50000"/>
            </a:avLst>
          </a:prstGeom>
          <a:solidFill>
            <a:srgbClr val="2EAA5E">
              <a:alpha val="15000"/>
            </a:srgbClr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140295" y="2746534"/>
            <a:ext cx="14001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1A6B3A"/>
                </a:solidFill>
                <a:latin typeface="Poppins"/>
                <a:ea typeface="Microsoft YaHei"/>
                <a:cs typeface="Poppins"/>
              </a:rPr>
              <a:t>ON</a:t>
            </a:r>
          </a:p>
        </p:txBody>
      </p:sp>
      <p:sp>
        <p:nvSpPr>
          <p:cNvPr id="43" name="Rectangle 43"/>
          <p:cNvSpPr/>
          <p:nvPr/>
        </p:nvSpPr>
        <p:spPr>
          <a:xfrm>
            <a:off x="6515100" y="2705100"/>
            <a:ext cx="1047750" cy="171450"/>
          </a:xfrm>
          <a:prstGeom prst="roundRect">
            <a:avLst>
              <a:gd name="adj" fmla="val 50000"/>
            </a:avLst>
          </a:prstGeom>
          <a:solidFill>
            <a:srgbClr val="1A1A2E">
              <a:alpha val="7000"/>
            </a:srgbClr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677108" y="2746534"/>
            <a:ext cx="72373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table alias: o, c</a:t>
            </a:r>
          </a:p>
        </p:txBody>
      </p:sp>
      <p:sp>
        <p:nvSpPr>
          <p:cNvPr id="45" name="Line 45"/>
          <p:cNvSpPr/>
          <p:nvPr/>
        </p:nvSpPr>
        <p:spPr>
          <a:xfrm>
            <a:off x="5143500" y="3048000"/>
            <a:ext cx="6477000" cy="9525"/>
          </a:xfrm>
          <a:custGeom>
            <a:avLst/>
            <a:gdLst/>
            <a:ahLst/>
            <a:cxnLst/>
            <a:rect l="l" t="t" r="r" b="b"/>
            <a:pathLst>
              <a:path w="6477000" h="9525">
                <a:moveTo>
                  <a:pt x="0" y="0"/>
                </a:moveTo>
                <a:lnTo>
                  <a:pt x="6477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46" name="Ellipse 46"/>
          <p:cNvSpPr/>
          <p:nvPr/>
        </p:nvSpPr>
        <p:spPr>
          <a:xfrm>
            <a:off x="5181600" y="3429000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47" name="Ellipse 47"/>
          <p:cNvSpPr/>
          <p:nvPr/>
        </p:nvSpPr>
        <p:spPr>
          <a:xfrm>
            <a:off x="5229225" y="3552825"/>
            <a:ext cx="171450" cy="171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8" name="Ellipse 48"/>
          <p:cNvSpPr/>
          <p:nvPr/>
        </p:nvSpPr>
        <p:spPr>
          <a:xfrm>
            <a:off x="5381625" y="3552825"/>
            <a:ext cx="171450" cy="171450"/>
          </a:xfrm>
          <a:prstGeom prst="ellipse">
            <a:avLst/>
          </a:prstGeom>
          <a:noFill/>
          <a:ln w="17145">
            <a:solidFill>
              <a:srgbClr val="FFFFFF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5697855" y="3416618"/>
            <a:ext cx="9132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LEFT JOIN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705475" y="3662362"/>
            <a:ext cx="406455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Returns all rows from the left table plus matched rows from the right. Unmatched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705475" y="3795712"/>
            <a:ext cx="403955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right-side columns appear as NULL. Use when left rows must always be preserved.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143500" y="3981450"/>
            <a:ext cx="6477000" cy="438150"/>
          </a:xfrm>
          <a:prstGeom prst="roundRect">
            <a:avLst>
              <a:gd name="adj" fmla="val 13043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5287328" y="4080034"/>
            <a:ext cx="166885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SELECT o.order_id, c.customer_name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287328" y="4232434"/>
            <a:ext cx="326655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FROM orders o LEFT JOIN customers c ON o.customer_id = c.customer_id;</a:t>
            </a:r>
          </a:p>
        </p:txBody>
      </p:sp>
      <p:sp>
        <p:nvSpPr>
          <p:cNvPr id="55" name="Rectangle 55"/>
          <p:cNvSpPr/>
          <p:nvPr/>
        </p:nvSpPr>
        <p:spPr>
          <a:xfrm>
            <a:off x="5143500" y="4514850"/>
            <a:ext cx="6477000" cy="285750"/>
          </a:xfrm>
          <a:prstGeom prst="roundRect">
            <a:avLst>
              <a:gd name="adj" fmla="val 20000"/>
            </a:avLst>
          </a:prstGeom>
          <a:solidFill>
            <a:srgbClr val="FFF8E1"/>
          </a:solidFill>
          <a:ln w="9525">
            <a:solidFill>
              <a:srgbClr val="F59E0B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5287328" y="4565809"/>
            <a:ext cx="518058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b="1" dirty="0">
                <a:solidFill>
                  <a:srgbClr val="B45309"/>
                </a:solidFill>
                <a:latin typeface="Poppins"/>
                <a:ea typeface="Microsoft YaHei"/>
                <a:cs typeface="Poppins"/>
              </a:rPr>
              <a:t>⚠ NULL tip: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896928" y="4565809"/>
            <a:ext cx="317654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Use IS NULL in a WHERE clause to find orders with no matching customer.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287328" y="4680109"/>
            <a:ext cx="242044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WHERE c.customer_id IS NULL -- unmatched orders only</a:t>
            </a:r>
          </a:p>
        </p:txBody>
      </p:sp>
      <p:sp>
        <p:nvSpPr>
          <p:cNvPr id="59" name="Line 59"/>
          <p:cNvSpPr/>
          <p:nvPr/>
        </p:nvSpPr>
        <p:spPr>
          <a:xfrm>
            <a:off x="5143500" y="4914900"/>
            <a:ext cx="6477000" cy="9525"/>
          </a:xfrm>
          <a:custGeom>
            <a:avLst/>
            <a:gdLst/>
            <a:ahLst/>
            <a:cxnLst/>
            <a:rect l="l" t="t" r="r" b="b"/>
            <a:pathLst>
              <a:path w="6477000" h="9525">
                <a:moveTo>
                  <a:pt x="0" y="0"/>
                </a:moveTo>
                <a:lnTo>
                  <a:pt x="6477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5133022" y="5054441"/>
            <a:ext cx="9970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Quick Comparison</a:t>
            </a:r>
          </a:p>
        </p:txBody>
      </p:sp>
      <p:sp>
        <p:nvSpPr>
          <p:cNvPr id="61" name="Rectangle 61"/>
          <p:cNvSpPr/>
          <p:nvPr/>
        </p:nvSpPr>
        <p:spPr>
          <a:xfrm>
            <a:off x="5143500" y="5219700"/>
            <a:ext cx="6477000" cy="190500"/>
          </a:xfrm>
          <a:prstGeom prst="roundRect">
            <a:avLst>
              <a:gd name="adj" fmla="val 15000"/>
            </a:avLst>
          </a:prstGeom>
          <a:solidFill>
            <a:srgbClr val="2EAA5E">
              <a:alpha val="12000"/>
            </a:srgbClr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5325428" y="5280184"/>
            <a:ext cx="38101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b="1" dirty="0">
                <a:solidFill>
                  <a:srgbClr val="1A6B3A"/>
                </a:solidFill>
                <a:latin typeface="Poppins"/>
                <a:ea typeface="Microsoft YaHei"/>
                <a:cs typeface="Poppins"/>
              </a:rPr>
              <a:t>Feature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944678" y="5280184"/>
            <a:ext cx="484978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b="1" dirty="0">
                <a:solidFill>
                  <a:srgbClr val="1A6B3A"/>
                </a:solidFill>
                <a:latin typeface="Poppins"/>
                <a:ea typeface="Microsoft YaHei"/>
                <a:cs typeface="Poppins"/>
              </a:rPr>
              <a:t>INNER JOIN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135428" y="5280184"/>
            <a:ext cx="45662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b="1" dirty="0">
                <a:solidFill>
                  <a:srgbClr val="1A6B3A"/>
                </a:solidFill>
                <a:latin typeface="Poppins"/>
                <a:ea typeface="Microsoft YaHei"/>
                <a:cs typeface="Poppins"/>
              </a:rPr>
              <a:t>LEFT JOIN</a:t>
            </a:r>
          </a:p>
        </p:txBody>
      </p:sp>
      <p:sp>
        <p:nvSpPr>
          <p:cNvPr id="65" name="Rectangle 65"/>
          <p:cNvSpPr/>
          <p:nvPr/>
        </p:nvSpPr>
        <p:spPr>
          <a:xfrm>
            <a:off x="5143500" y="5410200"/>
            <a:ext cx="6477000" cy="171450"/>
          </a:xfrm>
          <a:prstGeom prst="rect">
            <a:avLst/>
          </a:prstGeom>
          <a:solidFill>
            <a:srgbClr val="F9FAFB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5325428" y="5451634"/>
            <a:ext cx="92625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Unmatched left rows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944678" y="5451634"/>
            <a:ext cx="39069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Excluded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9135428" y="5451634"/>
            <a:ext cx="111978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Included (NULLs on right)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143500" y="5581650"/>
            <a:ext cx="6477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5325428" y="5623084"/>
            <a:ext cx="759738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Result row count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6944678" y="5623084"/>
            <a:ext cx="71473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≤ smallest table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135428" y="5623084"/>
            <a:ext cx="86775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= rows in left table</a:t>
            </a:r>
          </a:p>
        </p:txBody>
      </p:sp>
      <p:sp>
        <p:nvSpPr>
          <p:cNvPr id="73" name="Rectangle 73"/>
          <p:cNvSpPr/>
          <p:nvPr/>
        </p:nvSpPr>
        <p:spPr>
          <a:xfrm>
            <a:off x="5143500" y="5753100"/>
            <a:ext cx="6477000" cy="171450"/>
          </a:xfrm>
          <a:prstGeom prst="rect">
            <a:avLst/>
          </a:prstGeom>
          <a:solidFill>
            <a:srgbClr val="F9FAFB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5325428" y="5794534"/>
            <a:ext cx="77324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Common use-case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6944678" y="5794534"/>
            <a:ext cx="104777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Strict relational lookup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9135428" y="5794534"/>
            <a:ext cx="146632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Reporting with optional relations</a:t>
            </a:r>
          </a:p>
        </p:txBody>
      </p:sp>
      <p:sp>
        <p:nvSpPr>
          <p:cNvPr id="77" name="Rectangle 77"/>
          <p:cNvSpPr/>
          <p:nvPr/>
        </p:nvSpPr>
        <p:spPr>
          <a:xfrm>
            <a:off x="5143500" y="5219700"/>
            <a:ext cx="6477000" cy="704850"/>
          </a:xfrm>
          <a:prstGeom prst="roundRect">
            <a:avLst>
              <a:gd name="adj" fmla="val 4054"/>
            </a:avLst>
          </a:prstGeom>
          <a:noFill/>
          <a:ln w="9525">
            <a:solidFill>
              <a:srgbClr val="E5E7EB"/>
            </a:solidFill>
          </a:ln>
        </p:spPr>
      </p:sp>
      <p:sp>
        <p:nvSpPr>
          <p:cNvPr id="78" name="Line 78"/>
          <p:cNvSpPr/>
          <p:nvPr/>
        </p:nvSpPr>
        <p:spPr>
          <a:xfrm>
            <a:off x="5143500" y="5410200"/>
            <a:ext cx="6477000" cy="9525"/>
          </a:xfrm>
          <a:custGeom>
            <a:avLst/>
            <a:gdLst/>
            <a:ahLst/>
            <a:cxnLst/>
            <a:rect l="l" t="t" r="r" b="b"/>
            <a:pathLst>
              <a:path w="6477000" h="9525">
                <a:moveTo>
                  <a:pt x="0" y="0"/>
                </a:moveTo>
                <a:lnTo>
                  <a:pt x="6477000" y="0"/>
                </a:lnTo>
              </a:path>
            </a:pathLst>
          </a:custGeom>
          <a:noFill/>
          <a:ln w="4762">
            <a:solidFill>
              <a:srgbClr val="E5E7EB"/>
            </a:solidFill>
          </a:ln>
        </p:spPr>
      </p:sp>
      <p:sp>
        <p:nvSpPr>
          <p:cNvPr id="79" name="Line 79"/>
          <p:cNvSpPr/>
          <p:nvPr/>
        </p:nvSpPr>
        <p:spPr>
          <a:xfrm>
            <a:off x="5143500" y="5581650"/>
            <a:ext cx="6477000" cy="9525"/>
          </a:xfrm>
          <a:custGeom>
            <a:avLst/>
            <a:gdLst/>
            <a:ahLst/>
            <a:cxnLst/>
            <a:rect l="l" t="t" r="r" b="b"/>
            <a:pathLst>
              <a:path w="6477000" h="9525">
                <a:moveTo>
                  <a:pt x="0" y="0"/>
                </a:moveTo>
                <a:lnTo>
                  <a:pt x="6477000" y="0"/>
                </a:lnTo>
              </a:path>
            </a:pathLst>
          </a:custGeom>
          <a:noFill/>
          <a:ln w="4762">
            <a:solidFill>
              <a:srgbClr val="E5E7EB"/>
            </a:solidFill>
          </a:ln>
        </p:spPr>
      </p:sp>
      <p:sp>
        <p:nvSpPr>
          <p:cNvPr id="80" name="Line 80"/>
          <p:cNvSpPr/>
          <p:nvPr/>
        </p:nvSpPr>
        <p:spPr>
          <a:xfrm>
            <a:off x="5143500" y="5753100"/>
            <a:ext cx="6477000" cy="9525"/>
          </a:xfrm>
          <a:custGeom>
            <a:avLst/>
            <a:gdLst/>
            <a:ahLst/>
            <a:cxnLst/>
            <a:rect l="l" t="t" r="r" b="b"/>
            <a:pathLst>
              <a:path w="6477000" h="9525">
                <a:moveTo>
                  <a:pt x="0" y="0"/>
                </a:moveTo>
                <a:lnTo>
                  <a:pt x="6477000" y="0"/>
                </a:lnTo>
              </a:path>
            </a:pathLst>
          </a:custGeom>
          <a:noFill/>
          <a:ln w="4762">
            <a:solidFill>
              <a:srgbClr val="E5E7EB"/>
            </a:solidFill>
          </a:ln>
        </p:spPr>
      </p:sp>
      <p:sp>
        <p:nvSpPr>
          <p:cNvPr id="81" name="Line 81"/>
          <p:cNvSpPr/>
          <p:nvPr/>
        </p:nvSpPr>
        <p:spPr>
          <a:xfrm>
            <a:off x="6858000" y="5219700"/>
            <a:ext cx="9525" cy="704850"/>
          </a:xfrm>
          <a:custGeom>
            <a:avLst/>
            <a:gdLst/>
            <a:ahLst/>
            <a:cxnLst/>
            <a:rect l="l" t="t" r="r" b="b"/>
            <a:pathLst>
              <a:path w="9525" h="704850">
                <a:moveTo>
                  <a:pt x="0" y="0"/>
                </a:moveTo>
                <a:lnTo>
                  <a:pt x="0" y="704850"/>
                </a:lnTo>
              </a:path>
            </a:pathLst>
          </a:custGeom>
          <a:noFill/>
          <a:ln w="4762">
            <a:solidFill>
              <a:srgbClr val="E5E7EB"/>
            </a:solidFill>
          </a:ln>
        </p:spPr>
      </p:sp>
      <p:sp>
        <p:nvSpPr>
          <p:cNvPr id="82" name="Line 82"/>
          <p:cNvSpPr/>
          <p:nvPr/>
        </p:nvSpPr>
        <p:spPr>
          <a:xfrm>
            <a:off x="8953500" y="5219700"/>
            <a:ext cx="9525" cy="704850"/>
          </a:xfrm>
          <a:custGeom>
            <a:avLst/>
            <a:gdLst/>
            <a:ahLst/>
            <a:cxnLst/>
            <a:rect l="l" t="t" r="r" b="b"/>
            <a:pathLst>
              <a:path w="9525" h="704850">
                <a:moveTo>
                  <a:pt x="0" y="0"/>
                </a:moveTo>
                <a:lnTo>
                  <a:pt x="0" y="704850"/>
                </a:lnTo>
              </a:path>
            </a:pathLst>
          </a:custGeom>
          <a:noFill/>
          <a:ln w="4762">
            <a:solidFill>
              <a:srgbClr val="E5E7EB"/>
            </a:solidFill>
          </a:ln>
        </p:spPr>
      </p:sp>
      <p:sp>
        <p:nvSpPr>
          <p:cNvPr id="83" name="Line 83"/>
          <p:cNvSpPr/>
          <p:nvPr/>
        </p:nvSpPr>
        <p:spPr>
          <a:xfrm>
            <a:off x="4991100" y="952500"/>
            <a:ext cx="9525" cy="5238750"/>
          </a:xfrm>
          <a:custGeom>
            <a:avLst/>
            <a:gdLst/>
            <a:ahLst/>
            <a:cxnLst/>
            <a:rect l="l" t="t" r="r" b="b"/>
            <a:pathLst>
              <a:path w="9525" h="5238750">
                <a:moveTo>
                  <a:pt x="0" y="0"/>
                </a:moveTo>
                <a:lnTo>
                  <a:pt x="0" y="5238750"/>
                </a:lnTo>
              </a:path>
            </a:pathLst>
          </a:custGeom>
          <a:noFill/>
          <a:ln w="9525">
            <a:solidFill>
              <a:srgbClr val="E5E7EB"/>
            </a:solidFill>
            <a:prstDash val="dash"/>
          </a:ln>
        </p:spPr>
      </p:sp>
      <p:sp>
        <p:nvSpPr>
          <p:cNvPr id="84" name="TextBox 84"/>
          <p:cNvSpPr txBox="1"/>
          <p:nvPr/>
        </p:nvSpPr>
        <p:spPr>
          <a:xfrm>
            <a:off x="11501890" y="657844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EAA5E"/>
              </a:gs>
              <a:gs pos="60000">
                <a:srgbClr val="1A6B3A"/>
              </a:gs>
              <a:gs pos="100000">
                <a:srgbClr val="0D3A1F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43000" y="-952500"/>
            <a:ext cx="9906000" cy="3429000"/>
          </a:xfrm>
          <a:prstGeom prst="ellipse">
            <a:avLst/>
          </a:prstGeom>
          <a:gradFill>
            <a:gsLst>
              <a:gs pos="0">
                <a:srgbClr val="5CDB8F">
                  <a:alpha val="12000"/>
                </a:srgbClr>
              </a:gs>
              <a:gs pos="100000">
                <a:srgbClr val="1A6B3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865386" y="661035"/>
            <a:ext cx="846122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Outer</a:t>
            </a:r>
            <a:r>
              <a:rPr lang="zh-CN" sz="27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 xml:space="preserve"> JOINs</a:t>
            </a:r>
            <a:r>
              <a:rPr lang="zh-CN" sz="165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 xml:space="preserve"> — RIGHT JOIN and FULL OUTER JOIN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1239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14288">
            <a:solidFill>
              <a:srgbClr val="2EAA5E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4139922" y="1267778"/>
            <a:ext cx="39121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Mod val="65000"/>
                  </a:srgbClr>
                </a:solidFill>
                <a:latin typeface="Poppins"/>
                <a:ea typeface="Microsoft YaHei"/>
                <a:cs typeface="Poppins"/>
              </a:rPr>
              <a:t>The Rarer Two — Understanding When and How to Use Them</a:t>
            </a:r>
          </a:p>
        </p:txBody>
      </p:sp>
      <p:sp>
        <p:nvSpPr>
          <p:cNvPr id="7" name="Rectangle 7"/>
          <p:cNvSpPr/>
          <p:nvPr/>
        </p:nvSpPr>
        <p:spPr>
          <a:xfrm>
            <a:off x="619125" y="1552575"/>
            <a:ext cx="5286375" cy="333375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050"/>
              </a:srgbClr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1743075"/>
            <a:ext cx="1238250" cy="266700"/>
          </a:xfrm>
          <a:prstGeom prst="roundRect">
            <a:avLst>
              <a:gd name="adj" fmla="val 21429"/>
            </a:avLst>
          </a:prstGeom>
          <a:solidFill>
            <a:srgbClr val="2EAA5E">
              <a:alpha val="85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26113" y="1818799"/>
            <a:ext cx="7005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RIGHT JOIN</a:t>
            </a:r>
          </a:p>
        </p:txBody>
      </p:sp>
      <p:sp>
        <p:nvSpPr>
          <p:cNvPr id="10" name="Ellipse 10"/>
          <p:cNvSpPr/>
          <p:nvPr/>
        </p:nvSpPr>
        <p:spPr>
          <a:xfrm>
            <a:off x="1809750" y="2095500"/>
            <a:ext cx="1047750" cy="1047750"/>
          </a:xfrm>
          <a:prstGeom prst="ellipse">
            <a:avLst/>
          </a:prstGeom>
          <a:solidFill>
            <a:srgbClr val="1A6B3A">
              <a:alpha val="80000"/>
            </a:srgbClr>
          </a:solidFill>
          <a:ln w="14288">
            <a:solidFill>
              <a:srgbClr val="4A4A6A">
                <a:alpha val="80000"/>
              </a:srgbClr>
            </a:solidFill>
          </a:ln>
        </p:spPr>
      </p:sp>
      <p:sp>
        <p:nvSpPr>
          <p:cNvPr id="11" name="Ellipse 11"/>
          <p:cNvSpPr/>
          <p:nvPr/>
        </p:nvSpPr>
        <p:spPr>
          <a:xfrm>
            <a:off x="2286000" y="2095500"/>
            <a:ext cx="1047750" cy="1047750"/>
          </a:xfrm>
          <a:prstGeom prst="ellipse">
            <a:avLst/>
          </a:prstGeom>
          <a:solidFill>
            <a:srgbClr val="2EAA5E">
              <a:alpha val="55000"/>
            </a:srgbClr>
          </a:solidFill>
          <a:ln w="14288">
            <a:solidFill>
              <a:srgbClr val="5CDB8F">
                <a:alpha val="55000"/>
              </a:srgbClr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2071211" y="2586038"/>
            <a:ext cx="23907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>
                    <a:alphaMod val="55000"/>
                  </a:srgbClr>
                </a:solidFill>
                <a:latin typeface="Poppins"/>
                <a:ea typeface="Microsoft YaHei"/>
                <a:cs typeface="Poppins"/>
              </a:rPr>
              <a:t>LEFT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18209" y="2586038"/>
            <a:ext cx="26908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RIGHT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5820" y="3284220"/>
            <a:ext cx="12326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Mirror of LEFT JOIN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6772" y="3473291"/>
            <a:ext cx="236424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All rows from the RIGHT table are returned.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6772" y="3644741"/>
            <a:ext cx="21222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NULLs fill the left-table columns where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6772" y="3816191"/>
            <a:ext cx="92856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no match exists.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57250" y="4019550"/>
            <a:ext cx="4810125" cy="495300"/>
          </a:xfrm>
          <a:prstGeom prst="roundRect">
            <a:avLst>
              <a:gd name="adj" fmla="val 15385"/>
            </a:avLst>
          </a:prstGeom>
          <a:solidFill>
            <a:srgbClr val="0D3A1F">
              <a:alpha val="70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000125" y="4110038"/>
            <a:ext cx="116919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SELECT * FROM orders 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00125" y="4262438"/>
            <a:ext cx="216931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RIGHT JOIN customers c ON o.cust_id = c.id;</a:t>
            </a:r>
          </a:p>
        </p:txBody>
      </p:sp>
      <p:sp>
        <p:nvSpPr>
          <p:cNvPr id="21" name="Rectangle 21"/>
          <p:cNvSpPr/>
          <p:nvPr/>
        </p:nvSpPr>
        <p:spPr>
          <a:xfrm>
            <a:off x="857250" y="4572000"/>
            <a:ext cx="4810125" cy="209550"/>
          </a:xfrm>
          <a:prstGeom prst="roundRect">
            <a:avLst>
              <a:gd name="adj" fmla="val 22727"/>
            </a:avLst>
          </a:prstGeom>
          <a:solidFill>
            <a:srgbClr val="2EAA5E">
              <a:alpha val="20000"/>
            </a:srgbClr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42975" y="4633912"/>
            <a:ext cx="3130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⚡ Tip: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00175" y="4633912"/>
            <a:ext cx="30744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85000"/>
                  </a:srgbClr>
                </a:solidFill>
                <a:latin typeface="Poppins"/>
                <a:ea typeface="Microsoft YaHei"/>
                <a:cs typeface="Poppins"/>
              </a:rPr>
              <a:t>Almost always rewritable as LEFT JOIN — swap the table order.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7725" y="4833938"/>
            <a:ext cx="262437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70000"/>
                  </a:srgbClr>
                </a:solidFill>
                <a:latin typeface="Poppins"/>
                <a:ea typeface="Microsoft YaHei"/>
                <a:cs typeface="Poppins"/>
              </a:rPr>
              <a:t>⚠ Avoid mixing LEFT and RIGHT JOIN in the same query —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7725" y="4976812"/>
            <a:ext cx="22143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70000"/>
                  </a:srgbClr>
                </a:solidFill>
                <a:latin typeface="Poppins"/>
                <a:ea typeface="Microsoft YaHei"/>
                <a:cs typeface="Poppins"/>
              </a:rPr>
              <a:t>it creates confusion and is hard to maintain.</a:t>
            </a:r>
          </a:p>
        </p:txBody>
      </p:sp>
      <p:sp>
        <p:nvSpPr>
          <p:cNvPr id="26" name="Line 26"/>
          <p:cNvSpPr/>
          <p:nvPr/>
        </p:nvSpPr>
        <p:spPr>
          <a:xfrm>
            <a:off x="6096000" y="1552575"/>
            <a:ext cx="9525" cy="3333750"/>
          </a:xfrm>
          <a:custGeom>
            <a:avLst/>
            <a:gdLst/>
            <a:ahLst/>
            <a:cxnLst/>
            <a:rect l="l" t="t" r="r" b="b"/>
            <a:pathLst>
              <a:path w="9525" h="3333750">
                <a:moveTo>
                  <a:pt x="0" y="0"/>
                </a:moveTo>
                <a:lnTo>
                  <a:pt x="0" y="3333750"/>
                </a:lnTo>
              </a:path>
            </a:pathLst>
          </a:custGeom>
          <a:noFill/>
          <a:ln w="14288">
            <a:solidFill>
              <a:srgbClr val="2EAA5E">
                <a:alpha val="80000"/>
              </a:srgbClr>
            </a:solidFill>
          </a:ln>
        </p:spPr>
      </p:sp>
      <p:sp>
        <p:nvSpPr>
          <p:cNvPr id="27" name="Ellipse 27"/>
          <p:cNvSpPr/>
          <p:nvPr/>
        </p:nvSpPr>
        <p:spPr>
          <a:xfrm>
            <a:off x="6057900" y="1514475"/>
            <a:ext cx="76200" cy="76200"/>
          </a:xfrm>
          <a:prstGeom prst="ellipse">
            <a:avLst/>
          </a:prstGeom>
          <a:solidFill>
            <a:srgbClr val="2EAA5E">
              <a:alpha val="80000"/>
            </a:srgbClr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6057900" y="4848225"/>
            <a:ext cx="76200" cy="76200"/>
          </a:xfrm>
          <a:prstGeom prst="ellipse">
            <a:avLst/>
          </a:prstGeom>
          <a:solidFill>
            <a:srgbClr val="2EAA5E">
              <a:alpha val="80000"/>
            </a:srgbClr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6238875" y="1552575"/>
            <a:ext cx="5334000" cy="333375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050"/>
              </a:srgbClr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6477000" y="1743075"/>
            <a:ext cx="1619250" cy="266700"/>
          </a:xfrm>
          <a:prstGeom prst="roundRect">
            <a:avLst>
              <a:gd name="adj" fmla="val 21429"/>
            </a:avLst>
          </a:prstGeom>
          <a:solidFill>
            <a:srgbClr val="1A6B3A"/>
          </a:solidFill>
          <a:ln w="11430">
            <a:solidFill>
              <a:srgbClr val="2EAA5E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735000" y="1818799"/>
            <a:ext cx="11032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FULL OUTER JOIN</a:t>
            </a:r>
          </a:p>
        </p:txBody>
      </p:sp>
      <p:sp>
        <p:nvSpPr>
          <p:cNvPr id="32" name="Ellipse 32"/>
          <p:cNvSpPr/>
          <p:nvPr/>
        </p:nvSpPr>
        <p:spPr>
          <a:xfrm>
            <a:off x="7524750" y="2095500"/>
            <a:ext cx="1047750" cy="1047750"/>
          </a:xfrm>
          <a:prstGeom prst="ellipse">
            <a:avLst/>
          </a:prstGeom>
          <a:solidFill>
            <a:srgbClr val="2EAA5E">
              <a:alpha val="45000"/>
            </a:srgbClr>
          </a:solidFill>
          <a:ln w="14288">
            <a:solidFill>
              <a:srgbClr val="5CDB8F">
                <a:alpha val="45000"/>
              </a:srgbClr>
            </a:solidFill>
          </a:ln>
        </p:spPr>
      </p:sp>
      <p:sp>
        <p:nvSpPr>
          <p:cNvPr id="33" name="Ellipse 33"/>
          <p:cNvSpPr/>
          <p:nvPr/>
        </p:nvSpPr>
        <p:spPr>
          <a:xfrm>
            <a:off x="8001000" y="2095500"/>
            <a:ext cx="1047750" cy="1047750"/>
          </a:xfrm>
          <a:prstGeom prst="ellipse">
            <a:avLst/>
          </a:prstGeom>
          <a:solidFill>
            <a:srgbClr val="2EAA5E">
              <a:alpha val="45000"/>
            </a:srgbClr>
          </a:solidFill>
          <a:ln w="14288">
            <a:solidFill>
              <a:srgbClr val="5CDB8F">
                <a:alpha val="45000"/>
              </a:srgbClr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7786211" y="2586038"/>
            <a:ext cx="23907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LEFT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533209" y="2586038"/>
            <a:ext cx="26908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RIGHT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465570" y="3284220"/>
            <a:ext cx="21966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Returns ALL rows from BOTH tables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466522" y="3473291"/>
            <a:ext cx="243025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NULLs fill either side where no match exists.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466522" y="3644741"/>
            <a:ext cx="22707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Useful for finding unmatched rows in both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466522" y="3816191"/>
            <a:ext cx="14511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directions simultaneously.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477000" y="4019550"/>
            <a:ext cx="4857750" cy="495300"/>
          </a:xfrm>
          <a:prstGeom prst="roundRect">
            <a:avLst>
              <a:gd name="adj" fmla="val 15385"/>
            </a:avLst>
          </a:prstGeom>
          <a:solidFill>
            <a:srgbClr val="0D3A1F">
              <a:alpha val="70000"/>
            </a:srgbClr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619875" y="4110038"/>
            <a:ext cx="132921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SELECT * FROM employees 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619875" y="4262438"/>
            <a:ext cx="25743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FULL OUTER JOIN departments d ON e.dept_id = d.id;</a:t>
            </a:r>
          </a:p>
        </p:txBody>
      </p:sp>
      <p:sp>
        <p:nvSpPr>
          <p:cNvPr id="43" name="Rectangle 43"/>
          <p:cNvSpPr/>
          <p:nvPr/>
        </p:nvSpPr>
        <p:spPr>
          <a:xfrm>
            <a:off x="6477000" y="4572000"/>
            <a:ext cx="4857750" cy="209550"/>
          </a:xfrm>
          <a:prstGeom prst="roundRect">
            <a:avLst>
              <a:gd name="adj" fmla="val 22727"/>
            </a:avLst>
          </a:prstGeom>
          <a:solidFill>
            <a:srgbClr val="2EAA5E">
              <a:alpha val="20000"/>
            </a:srgbClr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562725" y="4633912"/>
            <a:ext cx="60187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⚡ Use case: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229475" y="4633912"/>
            <a:ext cx="229933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85000"/>
                  </a:srgbClr>
                </a:solidFill>
                <a:latin typeface="Poppins"/>
                <a:ea typeface="Microsoft YaHei"/>
                <a:cs typeface="Poppins"/>
              </a:rPr>
              <a:t>Data reconciliation, finding orphaned records.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467475" y="4833938"/>
            <a:ext cx="241434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70000"/>
                  </a:srgbClr>
                </a:solidFill>
                <a:latin typeface="Poppins"/>
                <a:ea typeface="Microsoft YaHei"/>
                <a:cs typeface="Poppins"/>
              </a:rPr>
              <a:t>⚠ Not supported natively in MySQL — emulate with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467475" y="4976812"/>
            <a:ext cx="224932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70000"/>
                  </a:srgbClr>
                </a:solidFill>
                <a:latin typeface="Poppins"/>
                <a:ea typeface="Microsoft YaHei"/>
                <a:cs typeface="Poppins"/>
              </a:rPr>
              <a:t>LEFT JOIN UNION ALL RIGHT JOIN WHERE IS NULL.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19125" y="5219700"/>
            <a:ext cx="10953750" cy="904875"/>
          </a:xfrm>
          <a:prstGeom prst="roundRect">
            <a:avLst>
              <a:gd name="adj" fmla="val 1473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200"/>
              </a:srgbClr>
            </a:solidFill>
          </a:ln>
        </p:spPr>
      </p:sp>
      <p:sp>
        <p:nvSpPr>
          <p:cNvPr id="49" name="Ellipse 49"/>
          <p:cNvSpPr/>
          <p:nvPr/>
        </p:nvSpPr>
        <p:spPr>
          <a:xfrm>
            <a:off x="781050" y="5457825"/>
            <a:ext cx="419100" cy="419100"/>
          </a:xfrm>
          <a:prstGeom prst="ellipse">
            <a:avLst/>
          </a:prstGeom>
          <a:solidFill>
            <a:srgbClr val="2EAA5E">
              <a:alpha val="90000"/>
            </a:srgbClr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929154" y="558546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💡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302068" y="5400199"/>
            <a:ext cx="21749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WHERE IS NULL — The Power Filter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303972" y="5606891"/>
            <a:ext cx="633024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90000"/>
                  </a:srgbClr>
                </a:solidFill>
                <a:latin typeface="Poppins"/>
                <a:ea typeface="Microsoft YaHei"/>
                <a:cs typeface="Poppins"/>
              </a:rPr>
              <a:t>Add WHERE right_table.id IS NULL after a LEFT JOIN to get rows that exist ONLY in the left table (no match on right).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303972" y="5797391"/>
            <a:ext cx="67868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90000"/>
                  </a:srgbClr>
                </a:solidFill>
                <a:latin typeface="Poppins"/>
                <a:ea typeface="Microsoft YaHei"/>
                <a:cs typeface="Poppins"/>
              </a:rPr>
              <a:t>Similarly, use WHERE left_table.id IS NULL on a RIGHT JOIN — or use FULL OUTER JOIN with both sides IS NULL for exclusive rows.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501890" y="657844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FFFFF">
                    <a:alphaMod val="60000"/>
                  </a:srgbClr>
                </a:solidFill>
                <a:latin typeface="Poppins"/>
                <a:ea typeface="Microsoft YaHei"/>
                <a:cs typeface="Poppi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CDB8F">
                  <a:alpha val="8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37210" y="546735"/>
            <a:ext cx="133503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Special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32610" y="546735"/>
            <a:ext cx="108930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JOINs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08960" y="546735"/>
            <a:ext cx="445392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— Cross JOIN &amp; Self JOIN</a:t>
            </a:r>
          </a:p>
        </p:txBody>
      </p:sp>
      <p:sp>
        <p:nvSpPr>
          <p:cNvPr id="8" name="Line 8"/>
          <p:cNvSpPr/>
          <p:nvPr/>
        </p:nvSpPr>
        <p:spPr>
          <a:xfrm>
            <a:off x="571500" y="9906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14288">
            <a:solidFill>
              <a:srgbClr val="2EAA5E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59118" y="1094899"/>
            <a:ext cx="56674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Special-purpose JOINs for product matrices, hierarchies, and advanced query patterns.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409700"/>
            <a:ext cx="3619500" cy="2952750"/>
          </a:xfrm>
          <a:prstGeom prst="roundRect">
            <a:avLst>
              <a:gd name="adj" fmla="val 4516"/>
            </a:avLst>
          </a:prstGeom>
          <a:solidFill>
            <a:srgbClr val="F7FBF9"/>
          </a:solidFill>
          <a:ln w="14288">
            <a:solidFill>
              <a:srgbClr val="2EAA5E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409700"/>
            <a:ext cx="3619500" cy="2952750"/>
          </a:xfrm>
          <a:prstGeom prst="roundRect">
            <a:avLst>
              <a:gd name="adj" fmla="val 4516"/>
            </a:avLst>
          </a:prstGeom>
          <a:gradFill>
            <a:gsLst>
              <a:gs pos="0">
                <a:srgbClr val="1A6B3A">
                  <a:alpha val="6000"/>
                </a:srgbClr>
              </a:gs>
              <a:gs pos="100000">
                <a:srgbClr val="2EAA5E">
                  <a:alpha val="4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762000" y="1581150"/>
            <a:ext cx="1238250" cy="266700"/>
          </a:xfrm>
          <a:prstGeom prst="roundRect">
            <a:avLst>
              <a:gd name="adj" fmla="val 28571"/>
            </a:avLst>
          </a:prstGeom>
          <a:solidFill>
            <a:srgbClr val="2EAA5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00146" y="1656874"/>
            <a:ext cx="7619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CROSS JOIN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19525" y="1815465"/>
            <a:ext cx="112345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1A6B3A"/>
                </a:solidFill>
                <a:latin typeface="Poppins"/>
                <a:ea typeface="Microsoft YaHei"/>
                <a:cs typeface="Poppins"/>
              </a:rPr>
              <a:t>A × B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97884" y="2352199"/>
            <a:ext cx="9667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rows in result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9618" y="2618899"/>
            <a:ext cx="20400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Every row in Table A paired with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9618" y="2790349"/>
            <a:ext cx="22545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every row in Table B. No ON clause.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0570" y="3065145"/>
            <a:ext cx="6844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Use cases: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0570" y="3236595"/>
            <a:ext cx="11450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• Product matrices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0570" y="3398520"/>
            <a:ext cx="1355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• Calendar / time grids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0570" y="3560445"/>
            <a:ext cx="17570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• Test / seed data generation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62000" y="3771900"/>
            <a:ext cx="3238500" cy="457200"/>
          </a:xfrm>
          <a:prstGeom prst="roundRect">
            <a:avLst>
              <a:gd name="adj" fmla="val 16667"/>
            </a:avLst>
          </a:prstGeom>
          <a:solidFill>
            <a:srgbClr val="FFF3CD"/>
          </a:solidFill>
          <a:ln w="9525">
            <a:solidFill>
              <a:srgbClr val="F0A50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942022" y="3863816"/>
            <a:ext cx="214064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A5C00"/>
                </a:solidFill>
                <a:latin typeface="Poppins"/>
                <a:ea typeface="Microsoft YaHei"/>
                <a:cs typeface="Poppins"/>
              </a:rPr>
              <a:t>⚠ Risk: 1,000 × 1,000 = 1,000,000 rows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2022" y="4035266"/>
            <a:ext cx="20837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A5C00"/>
                </a:solidFill>
                <a:latin typeface="Poppins"/>
                <a:ea typeface="Microsoft YaHei"/>
                <a:cs typeface="Poppins"/>
              </a:rPr>
              <a:t>Always sanity-check row counts first!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4495800"/>
            <a:ext cx="3619500" cy="857250"/>
          </a:xfrm>
          <a:prstGeom prst="roundRect">
            <a:avLst>
              <a:gd name="adj" fmla="val 11111"/>
            </a:avLst>
          </a:prstGeom>
          <a:solidFill>
            <a:srgbClr val="F0F0F5"/>
          </a:solidFill>
          <a:ln w="9525">
            <a:solidFill>
              <a:srgbClr val="C8C8D8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50570" y="4589145"/>
            <a:ext cx="15710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SELECT a.name, b.product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50570" y="4760595"/>
            <a:ext cx="10909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FROM customers 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0570" y="4932045"/>
            <a:ext cx="7033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EAA5E"/>
                </a:solidFill>
                <a:latin typeface="Courier New"/>
                <a:ea typeface="Microsoft YaHei"/>
                <a:cs typeface="Courier New"/>
              </a:rPr>
              <a:t>CROSS JOIN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03070" y="4932045"/>
            <a:ext cx="71894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products b;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1522" y="5149691"/>
            <a:ext cx="123660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-- No ON clause needed</a:t>
            </a:r>
          </a:p>
        </p:txBody>
      </p:sp>
      <p:sp>
        <p:nvSpPr>
          <p:cNvPr id="31" name="Polygon 31"/>
          <p:cNvSpPr/>
          <p:nvPr/>
        </p:nvSpPr>
        <p:spPr>
          <a:xfrm>
            <a:off x="4333875" y="2857500"/>
            <a:ext cx="619125" cy="571500"/>
          </a:xfrm>
          <a:custGeom>
            <a:avLst/>
            <a:gdLst/>
            <a:ahLst/>
            <a:cxnLst/>
            <a:rect l="l" t="t" r="r" b="b"/>
            <a:pathLst>
              <a:path w="619125" h="571500">
                <a:moveTo>
                  <a:pt x="0" y="0"/>
                </a:moveTo>
                <a:lnTo>
                  <a:pt x="619125" y="285750"/>
                </a:lnTo>
                <a:lnTo>
                  <a:pt x="0" y="571500"/>
                </a:lnTo>
                <a:close/>
              </a:path>
            </a:pathLst>
          </a:custGeom>
          <a:solidFill>
            <a:srgbClr val="2EAA5E">
              <a:alpha val="85000"/>
            </a:srgbClr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4574190" y="3673316"/>
            <a:ext cx="14802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VS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143500" y="1409700"/>
            <a:ext cx="6477000" cy="2952750"/>
          </a:xfrm>
          <a:prstGeom prst="roundRect">
            <a:avLst>
              <a:gd name="adj" fmla="val 4516"/>
            </a:avLst>
          </a:prstGeom>
          <a:solidFill>
            <a:srgbClr val="F7FBF9"/>
          </a:solidFill>
          <a:ln w="14288">
            <a:solidFill>
              <a:srgbClr val="1A6B3A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5143500" y="1409700"/>
            <a:ext cx="6477000" cy="2952750"/>
          </a:xfrm>
          <a:prstGeom prst="roundRect">
            <a:avLst>
              <a:gd name="adj" fmla="val 4516"/>
            </a:avLst>
          </a:prstGeom>
          <a:gradFill>
            <a:gsLst>
              <a:gs pos="0">
                <a:srgbClr val="1A6B3A">
                  <a:alpha val="6000"/>
                </a:srgbClr>
              </a:gs>
              <a:gs pos="100000">
                <a:srgbClr val="2EAA5E">
                  <a:alpha val="4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5334000" y="1581150"/>
            <a:ext cx="1143000" cy="266700"/>
          </a:xfrm>
          <a:prstGeom prst="roundRect">
            <a:avLst>
              <a:gd name="adj" fmla="val 28571"/>
            </a:avLst>
          </a:prstGeom>
          <a:solidFill>
            <a:srgbClr val="1A6B3A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575715" y="1656874"/>
            <a:ext cx="6595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SELF JOIN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421204" y="1815465"/>
            <a:ext cx="3064092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1A6B3A"/>
                </a:solidFill>
                <a:latin typeface="Poppins"/>
                <a:ea typeface="Microsoft YaHei"/>
                <a:cs typeface="Poppins"/>
              </a:rPr>
              <a:t>T AS a, T AS b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445993" y="2352199"/>
            <a:ext cx="10145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alias technique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321618" y="2618899"/>
            <a:ext cx="27421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A table joined to itself using two different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321618" y="2790349"/>
            <a:ext cx="27811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aliases. Requires ON clause to match rows.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322570" y="3065145"/>
            <a:ext cx="6844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Use cases: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322570" y="3236595"/>
            <a:ext cx="197310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• Employee ↔ Manager hierarchies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322570" y="3398520"/>
            <a:ext cx="13430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• Org-chart traversal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322570" y="3560445"/>
            <a:ext cx="19911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• Finding duplicate / related rows</a:t>
            </a:r>
          </a:p>
        </p:txBody>
      </p:sp>
      <p:sp>
        <p:nvSpPr>
          <p:cNvPr id="45" name="Rectangle 45"/>
          <p:cNvSpPr/>
          <p:nvPr/>
        </p:nvSpPr>
        <p:spPr>
          <a:xfrm>
            <a:off x="5334000" y="3771900"/>
            <a:ext cx="6096000" cy="457200"/>
          </a:xfrm>
          <a:prstGeom prst="roundRect">
            <a:avLst>
              <a:gd name="adj" fmla="val 16667"/>
            </a:avLst>
          </a:prstGeom>
          <a:solidFill>
            <a:srgbClr val="E8F5EE"/>
          </a:solidFill>
          <a:ln w="9525">
            <a:solidFill>
              <a:srgbClr val="2EAA5E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5514022" y="3863816"/>
            <a:ext cx="30301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A6B3A"/>
                </a:solidFill>
                <a:latin typeface="Poppins"/>
                <a:ea typeface="Microsoft YaHei"/>
                <a:cs typeface="Poppins"/>
              </a:rPr>
              <a:t>💡 Key technique: assign two aliases to the same table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514022" y="4035266"/>
            <a:ext cx="364040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e.g. FROM employees e1 JOIN employees e2 ON e1.manager_id = e2.id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143500" y="4495800"/>
            <a:ext cx="3143250" cy="857250"/>
          </a:xfrm>
          <a:prstGeom prst="roundRect">
            <a:avLst>
              <a:gd name="adj" fmla="val 11111"/>
            </a:avLst>
          </a:prstGeom>
          <a:solidFill>
            <a:srgbClr val="F0F0F5"/>
          </a:solidFill>
          <a:ln w="9525">
            <a:solidFill>
              <a:srgbClr val="C8C8D8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5322570" y="4589145"/>
            <a:ext cx="19250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SELECT e1.name, e2.name AS mgr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322570" y="4760595"/>
            <a:ext cx="10969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FROM employees e1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322570" y="4932045"/>
            <a:ext cx="2937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6B3A"/>
                </a:solidFill>
                <a:latin typeface="Courier New"/>
                <a:ea typeface="Microsoft YaHei"/>
                <a:cs typeface="Courier New"/>
              </a:rPr>
              <a:t>JOIN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665470" y="4932045"/>
            <a:ext cx="778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employees e2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322570" y="5103495"/>
            <a:ext cx="15410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ON e1.manager_id = e2.id;</a:t>
            </a:r>
          </a:p>
        </p:txBody>
      </p:sp>
      <p:sp>
        <p:nvSpPr>
          <p:cNvPr id="54" name="Rectangle 54"/>
          <p:cNvSpPr/>
          <p:nvPr/>
        </p:nvSpPr>
        <p:spPr>
          <a:xfrm>
            <a:off x="8477250" y="4495800"/>
            <a:ext cx="3143250" cy="857250"/>
          </a:xfrm>
          <a:prstGeom prst="roundRect">
            <a:avLst>
              <a:gd name="adj" fmla="val 11111"/>
            </a:avLst>
          </a:prstGeom>
          <a:solidFill>
            <a:srgbClr val="E8F5EE"/>
          </a:solidFill>
          <a:ln w="9525">
            <a:solidFill>
              <a:srgbClr val="2EAA5E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656320" y="4589145"/>
            <a:ext cx="9994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6B3A"/>
                </a:solidFill>
                <a:latin typeface="Poppins"/>
                <a:ea typeface="Microsoft YaHei"/>
                <a:cs typeface="Poppins"/>
              </a:rPr>
              <a:t>Key Differences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657272" y="4787741"/>
            <a:ext cx="181417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CROSS: no filter → explosive rows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657272" y="4959191"/>
            <a:ext cx="181417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SELF: needs ON → targeted result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657272" y="5130641"/>
            <a:ext cx="14951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Both need planning &amp; aliases</a:t>
            </a:r>
          </a:p>
        </p:txBody>
      </p:sp>
      <p:sp>
        <p:nvSpPr>
          <p:cNvPr id="59" name="Rectangle 59"/>
          <p:cNvSpPr/>
          <p:nvPr/>
        </p:nvSpPr>
        <p:spPr>
          <a:xfrm>
            <a:off x="571500" y="5524500"/>
            <a:ext cx="11049000" cy="647700"/>
          </a:xfrm>
          <a:prstGeom prst="roundRect">
            <a:avLst>
              <a:gd name="adj" fmla="val 17647"/>
            </a:avLst>
          </a:prstGeom>
          <a:solidFill>
            <a:srgbClr val="1A6B3A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5715021" y="5666899"/>
            <a:ext cx="7619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CROSS JOIN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127075" y="5855970"/>
            <a:ext cx="79378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produces a Cartesian product (all combinations) — SELF JOIN joins a table to itself using aliases to model hierarchies and relationships.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3280172" y="6016466"/>
            <a:ext cx="563165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Pattern: SELECT ... FROM TableA CROSS JOIN TableB | SELECT ... FROM T AS a JOIN T AS b ON a.col = b.col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501890" y="657844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EAA5E"/>
              </a:gs>
              <a:gs pos="100000">
                <a:srgbClr val="1A6B3A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-571500" y="-2857500"/>
            <a:ext cx="13335000" cy="5715000"/>
          </a:xfrm>
          <a:prstGeom prst="ellipse">
            <a:avLst/>
          </a:prstGeom>
          <a:gradFill>
            <a:gsLst>
              <a:gs pos="0">
                <a:srgbClr val="5CDB8F">
                  <a:alpha val="18000"/>
                </a:srgbClr>
              </a:gs>
              <a:gs pos="100000">
                <a:srgbClr val="5CDB8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0" y="1714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FFFFFF">
                <a:alpha val="6000"/>
              </a:srgbClr>
            </a:solidFill>
          </a:ln>
        </p:spPr>
      </p:sp>
      <p:sp>
        <p:nvSpPr>
          <p:cNvPr id="5" name="Line 5"/>
          <p:cNvSpPr/>
          <p:nvPr/>
        </p:nvSpPr>
        <p:spPr>
          <a:xfrm>
            <a:off x="0" y="3429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FFFFFF">
                <a:alpha val="6000"/>
              </a:srgbClr>
            </a:solidFill>
          </a:ln>
        </p:spPr>
      </p:sp>
      <p:sp>
        <p:nvSpPr>
          <p:cNvPr id="6" name="Line 6"/>
          <p:cNvSpPr/>
          <p:nvPr/>
        </p:nvSpPr>
        <p:spPr>
          <a:xfrm>
            <a:off x="0" y="5143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FFFFFF">
                <a:alpha val="6000"/>
              </a:srgbClr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729615" y="601028"/>
            <a:ext cx="193925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Subqueries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20365" y="601028"/>
            <a:ext cx="1528653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vs JOINs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96865" y="601028"/>
            <a:ext cx="263549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— Choose Speed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0570" y="1064895"/>
            <a:ext cx="71637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Correlated subqueries re-run once per outer row (nested loop) — rewrite as JOINs for set-based, single-pass execution.</a:t>
            </a:r>
          </a:p>
        </p:txBody>
      </p:sp>
      <p:sp>
        <p:nvSpPr>
          <p:cNvPr id="11" name="Line 11"/>
          <p:cNvSpPr/>
          <p:nvPr/>
        </p:nvSpPr>
        <p:spPr>
          <a:xfrm>
            <a:off x="762000" y="13144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4288">
            <a:solidFill>
              <a:srgbClr val="5CDB8F">
                <a:alpha val="70000"/>
              </a:srgbClr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62000" y="1409700"/>
            <a:ext cx="10668000" cy="266700"/>
          </a:xfrm>
          <a:prstGeom prst="roundRect">
            <a:avLst>
              <a:gd name="adj" fmla="val 17857"/>
            </a:avLst>
          </a:prstGeom>
          <a:solidFill>
            <a:srgbClr val="1A6B3A">
              <a:alpha val="60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46772" y="1501616"/>
            <a:ext cx="3386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RULE: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23022" y="1501616"/>
            <a:ext cx="786493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Make the JOIN rewrite explicit — do not rely on optimizer magic. MAX(amount) &gt; 500: aggregate once in a subquery, then INNER JOIN on the result.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62000" y="1828800"/>
            <a:ext cx="5105400" cy="4381500"/>
          </a:xfrm>
          <a:prstGeom prst="roundRect">
            <a:avLst>
              <a:gd name="adj" fmla="val 3043"/>
            </a:avLst>
          </a:prstGeom>
          <a:solidFill>
            <a:srgbClr val="FFFFFF">
              <a:alpha val="13000"/>
            </a:srgbClr>
          </a:solidFill>
          <a:ln w="9525">
            <a:solidFill>
              <a:srgbClr val="FFFFFF">
                <a:alpha val="5200"/>
              </a:srgbClr>
            </a:solidFill>
          </a:ln>
          <a:effectLst>
            <a:outerShdw blurRad="152400" dist="38100" dir="5400000" algn="ctr" rotWithShape="0">
              <a:srgbClr val="000000">
                <a:alpha val="26250"/>
              </a:srgbClr>
            </a:outerShdw>
          </a:effectLst>
        </p:spPr>
      </p:sp>
      <p:sp>
        <p:nvSpPr>
          <p:cNvPr id="16" name="Rectangle 16"/>
          <p:cNvSpPr/>
          <p:nvPr/>
        </p:nvSpPr>
        <p:spPr>
          <a:xfrm>
            <a:off x="762000" y="1828800"/>
            <a:ext cx="5105400" cy="419100"/>
          </a:xfrm>
          <a:prstGeom prst="roundRect">
            <a:avLst>
              <a:gd name="adj" fmla="val 31818"/>
            </a:avLst>
          </a:prstGeom>
          <a:solidFill>
            <a:srgbClr val="1A6B3A">
              <a:alpha val="5000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762000" y="2114550"/>
            <a:ext cx="5105400" cy="133350"/>
          </a:xfrm>
          <a:prstGeom prst="rect">
            <a:avLst/>
          </a:prstGeom>
          <a:solidFill>
            <a:srgbClr val="1A6B3A">
              <a:alpha val="50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39165" y="1972628"/>
            <a:ext cx="1982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NOT IN → LEFT JOIN + IS NULL</a:t>
            </a:r>
          </a:p>
        </p:txBody>
      </p:sp>
      <p:sp>
        <p:nvSpPr>
          <p:cNvPr id="19" name="Rectangle 19"/>
          <p:cNvSpPr/>
          <p:nvPr/>
        </p:nvSpPr>
        <p:spPr>
          <a:xfrm>
            <a:off x="914400" y="2362200"/>
            <a:ext cx="4800600" cy="1333500"/>
          </a:xfrm>
          <a:prstGeom prst="roundRect">
            <a:avLst>
              <a:gd name="adj" fmla="val 5714"/>
            </a:avLst>
          </a:prstGeom>
          <a:solidFill>
            <a:srgbClr val="1A1A2E">
              <a:alpha val="55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057275" y="2471738"/>
            <a:ext cx="198279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BEFORE (correlated subquery — slow):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58228" y="2670334"/>
            <a:ext cx="137181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FFFFFF">
                    <a:alphaMod val="92000"/>
                  </a:srgbClr>
                </a:solidFill>
                <a:latin typeface="Courier New"/>
                <a:ea typeface="Microsoft YaHei"/>
                <a:cs typeface="Courier New"/>
              </a:rPr>
              <a:t>SELECT c.customer_id, c.name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58228" y="2803684"/>
            <a:ext cx="81824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FFFFFF">
                    <a:alphaMod val="92000"/>
                  </a:srgbClr>
                </a:solidFill>
                <a:latin typeface="Courier New"/>
                <a:ea typeface="Microsoft YaHei"/>
                <a:cs typeface="Courier New"/>
              </a:rPr>
              <a:t>FROM customers 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58228" y="2937034"/>
            <a:ext cx="1322308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FFFFFF">
                    <a:alphaMod val="92000"/>
                  </a:srgbClr>
                </a:solidFill>
                <a:latin typeface="Courier New"/>
                <a:ea typeface="Microsoft YaHei"/>
                <a:cs typeface="Courier New"/>
              </a:rPr>
              <a:t>WHERE c.customer_id NOT IN (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10628" y="3070384"/>
            <a:ext cx="96226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5CDB8F">
                    <a:alphaMod val="92000"/>
                  </a:srgbClr>
                </a:solidFill>
                <a:latin typeface="Courier New"/>
                <a:ea typeface="Microsoft YaHei"/>
                <a:cs typeface="Courier New"/>
              </a:rPr>
              <a:t>SELECT order_cust_id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10628" y="3203734"/>
            <a:ext cx="57521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5CDB8F">
                    <a:alphaMod val="92000"/>
                  </a:srgbClr>
                </a:solidFill>
                <a:latin typeface="Courier New"/>
                <a:ea typeface="Microsoft YaHei"/>
                <a:cs typeface="Courier New"/>
              </a:rPr>
              <a:t>FROM orders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10628" y="3337084"/>
            <a:ext cx="113328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5CDB8F">
                    <a:alphaMod val="92000"/>
                  </a:srgbClr>
                </a:solidFill>
                <a:latin typeface="Courier New"/>
                <a:ea typeface="Microsoft YaHei"/>
                <a:cs typeface="Courier New"/>
              </a:rPr>
              <a:t>WHERE status = 'shipped'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58228" y="3470434"/>
            <a:ext cx="11615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FFFFFF">
                    <a:alphaMod val="92000"/>
                  </a:srgbClr>
                </a:solidFill>
                <a:latin typeface="Courier New"/>
                <a:ea typeface="Microsoft YaHei"/>
                <a:cs typeface="Courier New"/>
              </a:rPr>
              <a:t>);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161693" y="3724275"/>
            <a:ext cx="1536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↓</a:t>
            </a:r>
          </a:p>
        </p:txBody>
      </p:sp>
      <p:sp>
        <p:nvSpPr>
          <p:cNvPr id="29" name="Rectangle 29"/>
          <p:cNvSpPr/>
          <p:nvPr/>
        </p:nvSpPr>
        <p:spPr>
          <a:xfrm>
            <a:off x="914400" y="3962400"/>
            <a:ext cx="4800600" cy="1447800"/>
          </a:xfrm>
          <a:prstGeom prst="roundRect">
            <a:avLst>
              <a:gd name="adj" fmla="val 5263"/>
            </a:avLst>
          </a:prstGeom>
          <a:solidFill>
            <a:srgbClr val="1A1A2E">
              <a:alpha val="55000"/>
            </a:srgbClr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57275" y="4071938"/>
            <a:ext cx="243435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AFTER (LEFT JOIN + IS NULL — set-based, fast):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58228" y="4270534"/>
            <a:ext cx="137181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FFFFFF">
                    <a:alphaMod val="92000"/>
                  </a:srgbClr>
                </a:solidFill>
                <a:latin typeface="Courier New"/>
                <a:ea typeface="Microsoft YaHei"/>
                <a:cs typeface="Courier New"/>
              </a:rPr>
              <a:t>SELECT c.customer_id, c.name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58228" y="4403884"/>
            <a:ext cx="81824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FFFFFF">
                    <a:alphaMod val="92000"/>
                  </a:srgbClr>
                </a:solidFill>
                <a:latin typeface="Courier New"/>
                <a:ea typeface="Microsoft YaHei"/>
                <a:cs typeface="Courier New"/>
              </a:rPr>
              <a:t>FROM customers c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58228" y="4537234"/>
            <a:ext cx="83624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FFFFFF">
                    <a:alphaMod val="92000"/>
                  </a:srgbClr>
                </a:solidFill>
                <a:latin typeface="Courier New"/>
                <a:ea typeface="Microsoft YaHei"/>
                <a:cs typeface="Courier New"/>
              </a:rPr>
              <a:t>LEFT JOIN orders o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10628" y="4670584"/>
            <a:ext cx="162384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5CDB8F">
                    <a:alphaMod val="92000"/>
                  </a:srgbClr>
                </a:solidFill>
                <a:latin typeface="Courier New"/>
                <a:ea typeface="Microsoft YaHei"/>
                <a:cs typeface="Courier New"/>
              </a:rPr>
              <a:t>ON o.order_cust_id = c.customer_id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10628" y="4803934"/>
            <a:ext cx="111528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5CDB8F">
                    <a:alphaMod val="92000"/>
                  </a:srgbClr>
                </a:solidFill>
                <a:latin typeface="Courier New"/>
                <a:ea typeface="Microsoft YaHei"/>
                <a:cs typeface="Courier New"/>
              </a:rPr>
              <a:t>AND o.status = 'shipped'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58228" y="4937284"/>
            <a:ext cx="140781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FFFFFF">
                    <a:alphaMod val="92000"/>
                  </a:srgbClr>
                </a:solidFill>
                <a:latin typeface="Courier New"/>
                <a:ea typeface="Microsoft YaHei"/>
                <a:cs typeface="Courier New"/>
              </a:rPr>
              <a:t>WHERE o.order_cust_id IS NULL;</a:t>
            </a:r>
          </a:p>
        </p:txBody>
      </p:sp>
      <p:sp>
        <p:nvSpPr>
          <p:cNvPr id="37" name="Rectangle 37"/>
          <p:cNvSpPr/>
          <p:nvPr/>
        </p:nvSpPr>
        <p:spPr>
          <a:xfrm>
            <a:off x="914400" y="5505450"/>
            <a:ext cx="4800600" cy="533400"/>
          </a:xfrm>
          <a:prstGeom prst="roundRect">
            <a:avLst>
              <a:gd name="adj" fmla="val 14286"/>
            </a:avLst>
          </a:prstGeom>
          <a:solidFill>
            <a:srgbClr val="2EAA5E">
              <a:alpha val="25000"/>
            </a:srgbClr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019175" y="5614988"/>
            <a:ext cx="184627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✓ Same result, set-based execution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20128" y="5775484"/>
            <a:ext cx="361309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FFFFFF">
                    <a:alphaMod val="85000"/>
                  </a:srgbClr>
                </a:solidFill>
                <a:latin typeface="Poppins"/>
                <a:ea typeface="Microsoft YaHei"/>
                <a:cs typeface="Poppins"/>
              </a:rPr>
              <a:t>Database engine scans each table once and hash-joins — no per-row subquery loop.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20128" y="5908834"/>
            <a:ext cx="343307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FFFFFF">
                    <a:alphaMod val="85000"/>
                  </a:srgbClr>
                </a:solidFill>
                <a:latin typeface="Poppins"/>
                <a:ea typeface="Microsoft YaHei"/>
                <a:cs typeface="Poppins"/>
              </a:rPr>
              <a:t>Handles NULL values safely (NOT IN on NULLs can return 0 rows unexpectedly).</a:t>
            </a:r>
          </a:p>
        </p:txBody>
      </p:sp>
      <p:sp>
        <p:nvSpPr>
          <p:cNvPr id="41" name="Rectangle 41"/>
          <p:cNvSpPr/>
          <p:nvPr/>
        </p:nvSpPr>
        <p:spPr>
          <a:xfrm>
            <a:off x="6324600" y="1828800"/>
            <a:ext cx="5105400" cy="4381500"/>
          </a:xfrm>
          <a:prstGeom prst="roundRect">
            <a:avLst>
              <a:gd name="adj" fmla="val 3043"/>
            </a:avLst>
          </a:prstGeom>
          <a:solidFill>
            <a:srgbClr val="FFFFFF">
              <a:alpha val="13000"/>
            </a:srgbClr>
          </a:solidFill>
          <a:ln w="9525">
            <a:solidFill>
              <a:srgbClr val="FFFFFF">
                <a:alpha val="5200"/>
              </a:srgbClr>
            </a:solidFill>
          </a:ln>
          <a:effectLst>
            <a:outerShdw blurRad="152400" dist="38100" dir="5400000" algn="ctr" rotWithShape="0">
              <a:srgbClr val="000000">
                <a:alpha val="26250"/>
              </a:srgbClr>
            </a:outerShdw>
          </a:effectLst>
        </p:spPr>
      </p:sp>
      <p:sp>
        <p:nvSpPr>
          <p:cNvPr id="42" name="Rectangle 42"/>
          <p:cNvSpPr/>
          <p:nvPr/>
        </p:nvSpPr>
        <p:spPr>
          <a:xfrm>
            <a:off x="6324600" y="1828800"/>
            <a:ext cx="5105400" cy="419100"/>
          </a:xfrm>
          <a:prstGeom prst="roundRect">
            <a:avLst>
              <a:gd name="adj" fmla="val 31818"/>
            </a:avLst>
          </a:prstGeom>
          <a:solidFill>
            <a:srgbClr val="1A6B3A">
              <a:alpha val="50000"/>
            </a:srgbClr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6324600" y="2114550"/>
            <a:ext cx="5105400" cy="133350"/>
          </a:xfrm>
          <a:prstGeom prst="rect">
            <a:avLst/>
          </a:prstGeom>
          <a:solidFill>
            <a:srgbClr val="1A6B3A">
              <a:alpha val="50000"/>
            </a:srgbClr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501765" y="1972628"/>
            <a:ext cx="21143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EXISTS → INNER JOIN + DISTINCT</a:t>
            </a:r>
          </a:p>
        </p:txBody>
      </p:sp>
      <p:sp>
        <p:nvSpPr>
          <p:cNvPr id="45" name="Rectangle 45"/>
          <p:cNvSpPr/>
          <p:nvPr/>
        </p:nvSpPr>
        <p:spPr>
          <a:xfrm>
            <a:off x="6477000" y="2362200"/>
            <a:ext cx="4800600" cy="1333500"/>
          </a:xfrm>
          <a:prstGeom prst="roundRect">
            <a:avLst>
              <a:gd name="adj" fmla="val 5714"/>
            </a:avLst>
          </a:prstGeom>
          <a:solidFill>
            <a:srgbClr val="1A1A2E">
              <a:alpha val="55000"/>
            </a:srgbClr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619875" y="2471738"/>
            <a:ext cx="245010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BEFORE (correlated EXISTS — re-runs per row):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620828" y="2670334"/>
            <a:ext cx="137181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FFFFFF">
                    <a:alphaMod val="92000"/>
                  </a:srgbClr>
                </a:solidFill>
                <a:latin typeface="Courier New"/>
                <a:ea typeface="Microsoft YaHei"/>
                <a:cs typeface="Courier New"/>
              </a:rPr>
              <a:t>SELECT c.customer_id, c.name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620828" y="2803684"/>
            <a:ext cx="81824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FFFFFF">
                    <a:alphaMod val="92000"/>
                  </a:srgbClr>
                </a:solidFill>
                <a:latin typeface="Courier New"/>
                <a:ea typeface="Microsoft YaHei"/>
                <a:cs typeface="Courier New"/>
              </a:rPr>
              <a:t>FROM customers c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620828" y="2937034"/>
            <a:ext cx="66072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FFFFFF">
                    <a:alphaMod val="92000"/>
                  </a:srgbClr>
                </a:solidFill>
                <a:latin typeface="Courier New"/>
                <a:ea typeface="Microsoft YaHei"/>
                <a:cs typeface="Courier New"/>
              </a:rPr>
              <a:t>WHERE EXISTS (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773228" y="3070384"/>
            <a:ext cx="102977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5CDB8F">
                    <a:alphaMod val="92000"/>
                  </a:srgbClr>
                </a:solidFill>
                <a:latin typeface="Courier New"/>
                <a:ea typeface="Microsoft YaHei"/>
                <a:cs typeface="Courier New"/>
              </a:rPr>
              <a:t>SELECT 1 FROM orders o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773228" y="3203734"/>
            <a:ext cx="177236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5CDB8F">
                    <a:alphaMod val="92000"/>
                  </a:srgbClr>
                </a:solidFill>
                <a:latin typeface="Courier New"/>
                <a:ea typeface="Microsoft YaHei"/>
                <a:cs typeface="Courier New"/>
              </a:rPr>
              <a:t>WHERE o.order_cust_id = c.customer_id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773228" y="3337084"/>
            <a:ext cx="85875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5CDB8F">
                    <a:alphaMod val="92000"/>
                  </a:srgbClr>
                </a:solidFill>
                <a:latin typeface="Courier New"/>
                <a:ea typeface="Microsoft YaHei"/>
                <a:cs typeface="Courier New"/>
              </a:rPr>
              <a:t>AND o.amount &gt; 500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620828" y="3470434"/>
            <a:ext cx="11615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FFFFFF">
                    <a:alphaMod val="92000"/>
                  </a:srgbClr>
                </a:solidFill>
                <a:latin typeface="Courier New"/>
                <a:ea typeface="Microsoft YaHei"/>
                <a:cs typeface="Courier New"/>
              </a:rPr>
              <a:t>);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724293" y="3724275"/>
            <a:ext cx="1536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↓</a:t>
            </a:r>
          </a:p>
        </p:txBody>
      </p:sp>
      <p:sp>
        <p:nvSpPr>
          <p:cNvPr id="55" name="Rectangle 55"/>
          <p:cNvSpPr/>
          <p:nvPr/>
        </p:nvSpPr>
        <p:spPr>
          <a:xfrm>
            <a:off x="6477000" y="3962400"/>
            <a:ext cx="4800600" cy="1447800"/>
          </a:xfrm>
          <a:prstGeom prst="roundRect">
            <a:avLst>
              <a:gd name="adj" fmla="val 5263"/>
            </a:avLst>
          </a:prstGeom>
          <a:solidFill>
            <a:srgbClr val="1A1A2E">
              <a:alpha val="55000"/>
            </a:srgbClr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619875" y="4071938"/>
            <a:ext cx="21193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AFTER (INNER JOIN + DISTINCT — one pass):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620828" y="4270534"/>
            <a:ext cx="174986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FFFFFF">
                    <a:alphaMod val="92000"/>
                  </a:srgbClr>
                </a:solidFill>
                <a:latin typeface="Courier New"/>
                <a:ea typeface="Microsoft YaHei"/>
                <a:cs typeface="Courier New"/>
              </a:rPr>
              <a:t>SELECT DISTINCT c.customer_id, c.name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620828" y="4403884"/>
            <a:ext cx="81824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FFFFFF">
                    <a:alphaMod val="92000"/>
                  </a:srgbClr>
                </a:solidFill>
                <a:latin typeface="Courier New"/>
                <a:ea typeface="Microsoft YaHei"/>
                <a:cs typeface="Courier New"/>
              </a:rPr>
              <a:t>FROM customers c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620828" y="4537234"/>
            <a:ext cx="86325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FFFFFF">
                    <a:alphaMod val="92000"/>
                  </a:srgbClr>
                </a:solidFill>
                <a:latin typeface="Courier New"/>
                <a:ea typeface="Microsoft YaHei"/>
                <a:cs typeface="Courier New"/>
              </a:rPr>
              <a:t>INNER JOIN orders o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773228" y="4670584"/>
            <a:ext cx="162384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5CDB8F">
                    <a:alphaMod val="92000"/>
                  </a:srgbClr>
                </a:solidFill>
                <a:latin typeface="Courier New"/>
                <a:ea typeface="Microsoft YaHei"/>
                <a:cs typeface="Courier New"/>
              </a:rPr>
              <a:t>ON o.order_cust_id = c.customer_id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773228" y="4803934"/>
            <a:ext cx="90825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5CDB8F">
                    <a:alphaMod val="92000"/>
                  </a:srgbClr>
                </a:solidFill>
                <a:latin typeface="Courier New"/>
                <a:ea typeface="Microsoft YaHei"/>
                <a:cs typeface="Courier New"/>
              </a:rPr>
              <a:t>AND o.amount &gt; 500;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620828" y="5032534"/>
            <a:ext cx="197038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FFFFFF">
                    <a:alphaMod val="45000"/>
                  </a:srgbClr>
                </a:solidFill>
                <a:latin typeface="Courier New"/>
                <a:ea typeface="Microsoft YaHei"/>
                <a:cs typeface="Courier New"/>
              </a:rPr>
              <a:t>-- or use aggregation: JOIN on MAX(amount)</a:t>
            </a:r>
          </a:p>
        </p:txBody>
      </p:sp>
      <p:sp>
        <p:nvSpPr>
          <p:cNvPr id="63" name="Rectangle 63"/>
          <p:cNvSpPr/>
          <p:nvPr/>
        </p:nvSpPr>
        <p:spPr>
          <a:xfrm>
            <a:off x="6477000" y="5505450"/>
            <a:ext cx="4800600" cy="533400"/>
          </a:xfrm>
          <a:prstGeom prst="roundRect">
            <a:avLst>
              <a:gd name="adj" fmla="val 14286"/>
            </a:avLst>
          </a:prstGeom>
          <a:solidFill>
            <a:srgbClr val="2EAA5E">
              <a:alpha val="25000"/>
            </a:srgbClr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6581775" y="5614988"/>
            <a:ext cx="18567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✓ Same result, single hash-join pass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582728" y="5775484"/>
            <a:ext cx="360409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FFFFFF">
                    <a:alphaMod val="85000"/>
                  </a:srgbClr>
                </a:solidFill>
                <a:latin typeface="Poppins"/>
                <a:ea typeface="Microsoft YaHei"/>
                <a:cs typeface="Poppins"/>
              </a:rPr>
              <a:t>JOIN builds hash table on orders once; DISTINCT removes duplicates from fan-out.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582728" y="5908834"/>
            <a:ext cx="378861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FFFFFF">
                    <a:alphaMod val="85000"/>
                  </a:srgbClr>
                </a:solidFill>
                <a:latin typeface="Poppins"/>
                <a:ea typeface="Microsoft YaHei"/>
                <a:cs typeface="Poppins"/>
              </a:rPr>
              <a:t>MAX rewrite: aggregate in subquery, INNER JOIN result — optimizer has no guesswork.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501890" y="657844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CDB8F">
                  <a:alpha val="7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851535"/>
            <a:ext cx="88138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JOIN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1280160"/>
            <a:ext cx="243137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Performance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733550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4288">
            <a:solidFill>
              <a:srgbClr val="2EAA5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559118" y="1875949"/>
            <a:ext cx="19685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Write queries the query engine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9118" y="2047399"/>
            <a:ext cx="20725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can optimize with index-friendly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9118" y="2218849"/>
            <a:ext cx="21310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join patterns and early filtering.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2762250"/>
            <a:ext cx="400050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4288">
            <a:solidFill>
              <a:srgbClr val="5CDB8F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2762250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5CDB8F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70572" y="2920841"/>
            <a:ext cx="73136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A6B3A"/>
                </a:solidFill>
                <a:latin typeface="Poppins"/>
                <a:ea typeface="Microsoft YaHei"/>
                <a:cs typeface="Poppins"/>
              </a:rPr>
              <a:t>💡 Sargability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1525" y="3119438"/>
            <a:ext cx="173926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i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"Sargable condition = the optimizer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1525" y="3271838"/>
            <a:ext cx="160424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i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can use an index. Non-sargable =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1525" y="3424238"/>
            <a:ext cx="57411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i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it cannot."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71525" y="3633788"/>
            <a:ext cx="23443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Keep join columns bare — no wrapping functions.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501890" y="657844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8</a:t>
            </a:r>
          </a:p>
        </p:txBody>
      </p:sp>
      <p:sp>
        <p:nvSpPr>
          <p:cNvPr id="18" name="Ellipse 18"/>
          <p:cNvSpPr/>
          <p:nvPr/>
        </p:nvSpPr>
        <p:spPr>
          <a:xfrm>
            <a:off x="5172075" y="1266825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5286375" y="1343025"/>
            <a:ext cx="190500" cy="76200"/>
          </a:xfrm>
          <a:prstGeom prst="ellipse">
            <a:avLst/>
          </a:prstGeom>
          <a:noFill/>
          <a:ln w="14288">
            <a:solidFill>
              <a:srgbClr val="FFFFFF"/>
            </a:solidFill>
          </a:ln>
        </p:spPr>
      </p:sp>
      <p:sp>
        <p:nvSpPr>
          <p:cNvPr id="20" name="Line 20"/>
          <p:cNvSpPr/>
          <p:nvPr/>
        </p:nvSpPr>
        <p:spPr>
          <a:xfrm>
            <a:off x="5286375" y="1381125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4288">
            <a:solidFill>
              <a:srgbClr val="FFFFFF"/>
            </a:solidFill>
          </a:ln>
        </p:spPr>
      </p:sp>
      <p:sp>
        <p:nvSpPr>
          <p:cNvPr id="21" name="Line 21"/>
          <p:cNvSpPr/>
          <p:nvPr/>
        </p:nvSpPr>
        <p:spPr>
          <a:xfrm>
            <a:off x="5476875" y="1381125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4288">
            <a:solidFill>
              <a:srgbClr val="FFFFFF"/>
            </a:solidFill>
          </a:ln>
        </p:spPr>
      </p:sp>
      <p:sp>
        <p:nvSpPr>
          <p:cNvPr id="22" name="Ellipse 22"/>
          <p:cNvSpPr/>
          <p:nvPr/>
        </p:nvSpPr>
        <p:spPr>
          <a:xfrm>
            <a:off x="5286375" y="1457325"/>
            <a:ext cx="190500" cy="76200"/>
          </a:xfrm>
          <a:prstGeom prst="ellipse">
            <a:avLst/>
          </a:prstGeom>
          <a:noFill/>
          <a:ln w="14288">
            <a:solidFill>
              <a:srgbClr val="FFFFFF"/>
            </a:solidFill>
          </a:ln>
        </p:spPr>
      </p:sp>
      <p:sp>
        <p:nvSpPr>
          <p:cNvPr id="23" name="Ellipse 23"/>
          <p:cNvSpPr/>
          <p:nvPr/>
        </p:nvSpPr>
        <p:spPr>
          <a:xfrm>
            <a:off x="5286375" y="1400175"/>
            <a:ext cx="190500" cy="76200"/>
          </a:xfrm>
          <a:prstGeom prst="ellipse">
            <a:avLst/>
          </a:prstGeom>
          <a:noFill/>
          <a:ln w="14288">
            <a:solidFill>
              <a:srgbClr val="FFFFFF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5701665" y="1296352"/>
            <a:ext cx="12910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Index join columns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704522" y="1492091"/>
            <a:ext cx="28318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Foreign keys without an index cause full-table scans</a:t>
            </a:r>
          </a:p>
        </p:txBody>
      </p:sp>
      <p:sp>
        <p:nvSpPr>
          <p:cNvPr id="26" name="Ellipse 26"/>
          <p:cNvSpPr/>
          <p:nvPr/>
        </p:nvSpPr>
        <p:spPr>
          <a:xfrm>
            <a:off x="5172075" y="2105025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5295900" y="2228850"/>
            <a:ext cx="171450" cy="171450"/>
          </a:xfrm>
          <a:prstGeom prst="ellipse">
            <a:avLst/>
          </a:prstGeom>
          <a:noFill/>
          <a:ln w="17145">
            <a:solidFill>
              <a:srgbClr val="FFFFFF"/>
            </a:solidFill>
          </a:ln>
        </p:spPr>
      </p:sp>
      <p:sp>
        <p:nvSpPr>
          <p:cNvPr id="28" name="Line 28"/>
          <p:cNvSpPr/>
          <p:nvPr/>
        </p:nvSpPr>
        <p:spPr>
          <a:xfrm>
            <a:off x="5314950" y="22479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0" y="0"/>
                </a:moveTo>
                <a:lnTo>
                  <a:pt x="133350" y="133350"/>
                </a:lnTo>
              </a:path>
            </a:pathLst>
          </a:custGeom>
          <a:noFill/>
          <a:ln w="17145">
            <a:solidFill>
              <a:srgbClr val="FFFFFF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5701665" y="2134552"/>
            <a:ext cx="18202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No functions in ON clause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704522" y="2330291"/>
            <a:ext cx="30133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ON YEAR(date)=2024 kills index use; use a range instead</a:t>
            </a:r>
          </a:p>
        </p:txBody>
      </p:sp>
      <p:sp>
        <p:nvSpPr>
          <p:cNvPr id="31" name="Ellipse 31"/>
          <p:cNvSpPr/>
          <p:nvPr/>
        </p:nvSpPr>
        <p:spPr>
          <a:xfrm>
            <a:off x="5172075" y="2943225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32" name="Polygon 32"/>
          <p:cNvSpPr/>
          <p:nvPr/>
        </p:nvSpPr>
        <p:spPr>
          <a:xfrm>
            <a:off x="5295900" y="3067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23825" y="104775"/>
                </a:lnTo>
                <a:lnTo>
                  <a:pt x="123825" y="171450"/>
                </a:lnTo>
                <a:lnTo>
                  <a:pt x="47625" y="171450"/>
                </a:lnTo>
                <a:lnTo>
                  <a:pt x="47625" y="104775"/>
                </a:lnTo>
                <a:close/>
              </a:path>
            </a:pathLst>
          </a:custGeom>
          <a:noFill/>
          <a:ln w="14288">
            <a:solidFill>
              <a:srgbClr val="FFFFFF"/>
            </a:solidFill>
            <a:round/>
          </a:ln>
        </p:spPr>
      </p:sp>
      <p:sp>
        <p:nvSpPr>
          <p:cNvPr id="33" name="Line 33"/>
          <p:cNvSpPr/>
          <p:nvPr/>
        </p:nvSpPr>
        <p:spPr>
          <a:xfrm>
            <a:off x="5295900" y="3067050"/>
            <a:ext cx="171450" cy="9525"/>
          </a:xfrm>
          <a:custGeom>
            <a:avLst/>
            <a:gdLst/>
            <a:ahLst/>
            <a:cxnLst/>
            <a:rect l="l" t="t" r="r" b="b"/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/>
          <a:ln w="14288">
            <a:solidFill>
              <a:srgbClr val="FFFFFF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5701665" y="2972752"/>
            <a:ext cx="8499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Filter early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704522" y="3168491"/>
            <a:ext cx="33928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WHERE clauses that reduce rows before joining shrink workload</a:t>
            </a:r>
          </a:p>
        </p:txBody>
      </p:sp>
      <p:sp>
        <p:nvSpPr>
          <p:cNvPr id="36" name="Ellipse 36"/>
          <p:cNvSpPr/>
          <p:nvPr/>
        </p:nvSpPr>
        <p:spPr>
          <a:xfrm>
            <a:off x="5172075" y="3781425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37" name="Line 37"/>
          <p:cNvSpPr/>
          <p:nvPr/>
        </p:nvSpPr>
        <p:spPr>
          <a:xfrm>
            <a:off x="5314950" y="3952875"/>
            <a:ext cx="133350" cy="9525"/>
          </a:xfrm>
          <a:custGeom>
            <a:avLst/>
            <a:gdLst/>
            <a:ahLst/>
            <a:cxnLst/>
            <a:rect l="l" t="t" r="r" b="b"/>
            <a:pathLst>
              <a:path w="133350" h="952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/>
          <a:ln w="17145">
            <a:solidFill>
              <a:srgbClr val="FFFFFF"/>
            </a:solidFill>
          </a:ln>
        </p:spPr>
      </p:sp>
      <p:sp>
        <p:nvSpPr>
          <p:cNvPr id="38" name="Line 38"/>
          <p:cNvSpPr/>
          <p:nvPr/>
        </p:nvSpPr>
        <p:spPr>
          <a:xfrm>
            <a:off x="5314950" y="4029075"/>
            <a:ext cx="133350" cy="9525"/>
          </a:xfrm>
          <a:custGeom>
            <a:avLst/>
            <a:gdLst/>
            <a:ahLst/>
            <a:cxnLst/>
            <a:rect l="l" t="t" r="r" b="b"/>
            <a:pathLst>
              <a:path w="133350" h="952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/>
          <a:ln w="17145">
            <a:solidFill>
              <a:srgbClr val="FFFFFF"/>
            </a:solidFill>
          </a:ln>
        </p:spPr>
      </p:sp>
      <p:sp>
        <p:nvSpPr>
          <p:cNvPr id="39" name="Polyline 39"/>
          <p:cNvSpPr/>
          <p:nvPr/>
        </p:nvSpPr>
        <p:spPr>
          <a:xfrm>
            <a:off x="5410200" y="3914775"/>
            <a:ext cx="38100" cy="76200"/>
          </a:xfrm>
          <a:custGeom>
            <a:avLst/>
            <a:gdLst/>
            <a:ahLst/>
            <a:cxnLst/>
            <a:rect l="l" t="t" r="r" b="b"/>
            <a:pathLst>
              <a:path w="38100" h="76200">
                <a:moveTo>
                  <a:pt x="0" y="0"/>
                </a:moveTo>
                <a:lnTo>
                  <a:pt x="38100" y="38100"/>
                </a:lnTo>
                <a:lnTo>
                  <a:pt x="0" y="76200"/>
                </a:lnTo>
              </a:path>
            </a:pathLst>
          </a:custGeom>
          <a:noFill/>
          <a:ln w="14288">
            <a:solidFill>
              <a:srgbClr val="FFFFFF"/>
            </a:solidFill>
            <a:round/>
          </a:ln>
        </p:spPr>
      </p:sp>
      <p:sp>
        <p:nvSpPr>
          <p:cNvPr id="40" name="Polyline 40"/>
          <p:cNvSpPr/>
          <p:nvPr/>
        </p:nvSpPr>
        <p:spPr>
          <a:xfrm>
            <a:off x="5314950" y="3990975"/>
            <a:ext cx="38100" cy="76200"/>
          </a:xfrm>
          <a:custGeom>
            <a:avLst/>
            <a:gdLst/>
            <a:ahLst/>
            <a:cxnLst/>
            <a:rect l="l" t="t" r="r" b="b"/>
            <a:pathLst>
              <a:path w="38100" h="76200">
                <a:moveTo>
                  <a:pt x="38100" y="0"/>
                </a:moveTo>
                <a:lnTo>
                  <a:pt x="0" y="38100"/>
                </a:lnTo>
                <a:lnTo>
                  <a:pt x="38100" y="76200"/>
                </a:lnTo>
              </a:path>
            </a:pathLst>
          </a:custGeom>
          <a:noFill/>
          <a:ln w="14288">
            <a:solidFill>
              <a:srgbClr val="FFFFFF"/>
            </a:solidFill>
            <a:round/>
          </a:ln>
        </p:spPr>
      </p:sp>
      <p:sp>
        <p:nvSpPr>
          <p:cNvPr id="41" name="TextBox 41"/>
          <p:cNvSpPr txBox="1"/>
          <p:nvPr/>
        </p:nvSpPr>
        <p:spPr>
          <a:xfrm>
            <a:off x="5701665" y="3810952"/>
            <a:ext cx="12836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Prefer INNER JOIN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704522" y="4006691"/>
            <a:ext cx="364040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Optimizer has more freedom to reorder; avoid unnecessary OUTERs</a:t>
            </a:r>
          </a:p>
        </p:txBody>
      </p:sp>
      <p:sp>
        <p:nvSpPr>
          <p:cNvPr id="43" name="Ellipse 43"/>
          <p:cNvSpPr/>
          <p:nvPr/>
        </p:nvSpPr>
        <p:spPr>
          <a:xfrm>
            <a:off x="5172075" y="4619625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44" name="Ellipse 44"/>
          <p:cNvSpPr/>
          <p:nvPr/>
        </p:nvSpPr>
        <p:spPr>
          <a:xfrm>
            <a:off x="5286375" y="4724400"/>
            <a:ext cx="133350" cy="133350"/>
          </a:xfrm>
          <a:prstGeom prst="ellipse">
            <a:avLst/>
          </a:prstGeom>
          <a:noFill/>
          <a:ln w="17145">
            <a:solidFill>
              <a:srgbClr val="FFFFFF"/>
            </a:solidFill>
          </a:ln>
        </p:spPr>
      </p:sp>
      <p:sp>
        <p:nvSpPr>
          <p:cNvPr id="45" name="Line 45"/>
          <p:cNvSpPr/>
          <p:nvPr/>
        </p:nvSpPr>
        <p:spPr>
          <a:xfrm>
            <a:off x="5400675" y="4848225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0" y="0"/>
                </a:moveTo>
                <a:lnTo>
                  <a:pt x="66675" y="66675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5701665" y="4649152"/>
            <a:ext cx="10778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Always EXPLAIN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704522" y="4844891"/>
            <a:ext cx="29583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EXPLAIN ANALYZE reveals index scan vs. sequential scan</a:t>
            </a:r>
          </a:p>
        </p:txBody>
      </p:sp>
      <p:sp>
        <p:nvSpPr>
          <p:cNvPr id="48" name="Line 48"/>
          <p:cNvSpPr/>
          <p:nvPr/>
        </p:nvSpPr>
        <p:spPr>
          <a:xfrm>
            <a:off x="571500" y="65722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EAA5E">
                <a:alpha val="30000"/>
              </a:srgbClr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561022" y="691991"/>
            <a:ext cx="181968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SQL Joins — Training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EAA5E"/>
              </a:gs>
              <a:gs pos="100000">
                <a:srgbClr val="1A6B3A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43000" y="-1143000"/>
            <a:ext cx="9906000" cy="3810000"/>
          </a:xfrm>
          <a:prstGeom prst="ellipse">
            <a:avLst/>
          </a:prstGeom>
          <a:gradFill>
            <a:gsLst>
              <a:gs pos="0">
                <a:srgbClr val="5CDB8F">
                  <a:alpha val="12000"/>
                </a:srgbClr>
              </a:gs>
              <a:gs pos="100000">
                <a:srgbClr val="1A6B3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572500" y="-952500"/>
            <a:ext cx="5715000" cy="3429000"/>
          </a:xfrm>
          <a:prstGeom prst="ellipse">
            <a:avLst/>
          </a:prstGeom>
          <a:solidFill>
            <a:srgbClr val="5CDB8F">
              <a:alpha val="6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324518" y="737235"/>
            <a:ext cx="15429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In-Class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77262" y="749618"/>
            <a:ext cx="163747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Practice</a:t>
            </a:r>
          </a:p>
        </p:txBody>
      </p:sp>
      <p:sp>
        <p:nvSpPr>
          <p:cNvPr id="7" name="Line 7"/>
          <p:cNvSpPr/>
          <p:nvPr/>
        </p:nvSpPr>
        <p:spPr>
          <a:xfrm>
            <a:off x="4000500" y="1695450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4288">
            <a:solidFill>
              <a:srgbClr val="5CDB8F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1143000" y="1885950"/>
            <a:ext cx="9906000" cy="647700"/>
          </a:xfrm>
          <a:prstGeom prst="roundRect">
            <a:avLst>
              <a:gd name="adj" fmla="val 17647"/>
            </a:avLst>
          </a:prstGeom>
          <a:solidFill>
            <a:srgbClr val="FFFFFF">
              <a:alpha val="6000"/>
            </a:srgbClr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1333500" y="2057400"/>
            <a:ext cx="552450" cy="209550"/>
          </a:xfrm>
          <a:prstGeom prst="roundRect">
            <a:avLst>
              <a:gd name="adj" fmla="val 27273"/>
            </a:avLst>
          </a:prstGeom>
          <a:solidFill>
            <a:srgbClr val="5CDB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497190" y="2127409"/>
            <a:ext cx="22507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1A6B3A"/>
                </a:solidFill>
                <a:latin typeface="Poppins"/>
                <a:ea typeface="Microsoft YaHei"/>
                <a:cs typeface="Poppins"/>
              </a:rPr>
              <a:t>EASY</a:t>
            </a:r>
          </a:p>
        </p:txBody>
      </p:sp>
      <p:sp>
        <p:nvSpPr>
          <p:cNvPr id="11" name="Ellipse 11"/>
          <p:cNvSpPr/>
          <p:nvPr/>
        </p:nvSpPr>
        <p:spPr>
          <a:xfrm>
            <a:off x="2057400" y="2019300"/>
            <a:ext cx="304800" cy="3048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179468" y="2122170"/>
            <a:ext cx="606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83168" y="2009299"/>
            <a:ext cx="29940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Task 1 — LEFT JOIN: Employees &amp; Departments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486025" y="2233612"/>
            <a:ext cx="549973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Write a LEFT JOIN returning all employees and their department names, including employees with no department.</a:t>
            </a:r>
          </a:p>
        </p:txBody>
      </p:sp>
      <p:sp>
        <p:nvSpPr>
          <p:cNvPr id="15" name="Rectangle 15"/>
          <p:cNvSpPr/>
          <p:nvPr/>
        </p:nvSpPr>
        <p:spPr>
          <a:xfrm>
            <a:off x="1143000" y="2743200"/>
            <a:ext cx="9906000" cy="647700"/>
          </a:xfrm>
          <a:prstGeom prst="roundRect">
            <a:avLst>
              <a:gd name="adj" fmla="val 17647"/>
            </a:avLst>
          </a:prstGeom>
          <a:solidFill>
            <a:srgbClr val="FFFFFF">
              <a:alpha val="6000"/>
            </a:srgbClr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1333500" y="2914650"/>
            <a:ext cx="685800" cy="209550"/>
          </a:xfrm>
          <a:prstGeom prst="roundRect">
            <a:avLst>
              <a:gd name="adj" fmla="val 27273"/>
            </a:avLst>
          </a:prstGeom>
          <a:solidFill>
            <a:srgbClr val="2EAA5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504795" y="2984659"/>
            <a:ext cx="34321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MEDIUM</a:t>
            </a:r>
          </a:p>
        </p:txBody>
      </p:sp>
      <p:sp>
        <p:nvSpPr>
          <p:cNvPr id="18" name="Ellipse 18"/>
          <p:cNvSpPr/>
          <p:nvPr/>
        </p:nvSpPr>
        <p:spPr>
          <a:xfrm>
            <a:off x="2095500" y="2876550"/>
            <a:ext cx="304800" cy="304800"/>
          </a:xfrm>
          <a:prstGeom prst="ellipse">
            <a:avLst/>
          </a:prstGeom>
          <a:solidFill>
            <a:srgbClr val="1A6B3A"/>
          </a:solidFill>
          <a:ln w="14288">
            <a:solidFill>
              <a:srgbClr val="5CDB8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201816" y="2979420"/>
            <a:ext cx="921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1268" y="2866549"/>
            <a:ext cx="23455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Task 2 — Customers With No Orders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24125" y="3090862"/>
            <a:ext cx="59047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Find all customers who have never placed an order — no subqueries allowed. (Hint: NULL on the right side of a LEFT JOIN!)</a:t>
            </a:r>
          </a:p>
        </p:txBody>
      </p:sp>
      <p:sp>
        <p:nvSpPr>
          <p:cNvPr id="22" name="Rectangle 22"/>
          <p:cNvSpPr/>
          <p:nvPr/>
        </p:nvSpPr>
        <p:spPr>
          <a:xfrm>
            <a:off x="1143000" y="3600450"/>
            <a:ext cx="9906000" cy="647700"/>
          </a:xfrm>
          <a:prstGeom prst="roundRect">
            <a:avLst>
              <a:gd name="adj" fmla="val 17647"/>
            </a:avLst>
          </a:prstGeom>
          <a:solidFill>
            <a:srgbClr val="FFFFFF">
              <a:alpha val="6000"/>
            </a:srgbClr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1333500" y="3771900"/>
            <a:ext cx="514350" cy="20955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478140" y="3841909"/>
            <a:ext cx="22507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HARD</a:t>
            </a:r>
          </a:p>
        </p:txBody>
      </p:sp>
      <p:sp>
        <p:nvSpPr>
          <p:cNvPr id="25" name="Ellipse 25"/>
          <p:cNvSpPr/>
          <p:nvPr/>
        </p:nvSpPr>
        <p:spPr>
          <a:xfrm>
            <a:off x="2019300" y="3733800"/>
            <a:ext cx="304800" cy="3048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2019300" y="3733800"/>
            <a:ext cx="304800" cy="304800"/>
          </a:xfrm>
          <a:prstGeom prst="ellipse">
            <a:avLst/>
          </a:prstGeom>
          <a:noFill/>
          <a:ln w="11430">
            <a:solidFill>
              <a:srgbClr val="FFFF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2125616" y="3836670"/>
            <a:ext cx="921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445068" y="3723799"/>
            <a:ext cx="31578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Task 3 — Rewrite Correlated Subquery as a JOIN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447925" y="3948112"/>
            <a:ext cx="543972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Rewrite the correlated subquery below using a JOIN. Result: customers whose max order amount exceeds 1000.</a:t>
            </a:r>
          </a:p>
        </p:txBody>
      </p:sp>
      <p:sp>
        <p:nvSpPr>
          <p:cNvPr id="30" name="Rectangle 30"/>
          <p:cNvSpPr/>
          <p:nvPr/>
        </p:nvSpPr>
        <p:spPr>
          <a:xfrm>
            <a:off x="1143000" y="4381500"/>
            <a:ext cx="9906000" cy="685800"/>
          </a:xfrm>
          <a:prstGeom prst="roundRect">
            <a:avLst>
              <a:gd name="adj" fmla="val 13889"/>
            </a:avLst>
          </a:prstGeom>
          <a:solidFill>
            <a:srgbClr val="FFFFFF">
              <a:alpha val="13000"/>
            </a:srgbClr>
          </a:solidFill>
          <a:ln w="9525">
            <a:solidFill>
              <a:srgbClr val="FFFFFF">
                <a:alpha val="3900"/>
              </a:srgbClr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438275" y="4519612"/>
            <a:ext cx="124420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95000"/>
                  </a:srgbClr>
                </a:solidFill>
                <a:latin typeface="Courier New"/>
                <a:ea typeface="Microsoft YaHei"/>
                <a:cs typeface="Courier New"/>
              </a:rPr>
              <a:t>SELECT c.customer_name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38275" y="4662488"/>
            <a:ext cx="90916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95000"/>
                  </a:srgbClr>
                </a:solidFill>
                <a:latin typeface="Courier New"/>
                <a:ea typeface="Microsoft YaHei"/>
                <a:cs typeface="Courier New"/>
              </a:rPr>
              <a:t>FROM customers c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38275" y="4805362"/>
            <a:ext cx="444960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95000"/>
                  </a:srgbClr>
                </a:solidFill>
                <a:latin typeface="Courier New"/>
                <a:ea typeface="Microsoft YaHei"/>
                <a:cs typeface="Courier New"/>
              </a:rPr>
              <a:t>WHERE (SELECT MAX(amount) FROM orders o WHERE o.customer_id = c.customer_id) &gt; 1000;</a:t>
            </a:r>
          </a:p>
        </p:txBody>
      </p:sp>
      <p:sp>
        <p:nvSpPr>
          <p:cNvPr id="34" name="Rectangle 34"/>
          <p:cNvSpPr/>
          <p:nvPr/>
        </p:nvSpPr>
        <p:spPr>
          <a:xfrm>
            <a:off x="1143000" y="4381500"/>
            <a:ext cx="762000" cy="171450"/>
          </a:xfrm>
          <a:prstGeom prst="roundRect">
            <a:avLst>
              <a:gd name="adj" fmla="val 27778"/>
            </a:avLst>
          </a:prstGeom>
          <a:solidFill>
            <a:srgbClr val="5CDB8F">
              <a:alpha val="70000"/>
            </a:srgbClr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344158" y="4440555"/>
            <a:ext cx="359683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b="1" dirty="0">
                <a:solidFill>
                  <a:srgbClr val="1A6B3A"/>
                </a:solidFill>
                <a:latin typeface="Poppins"/>
                <a:ea typeface="Microsoft YaHei"/>
                <a:cs typeface="Poppins"/>
              </a:rPr>
              <a:t>ORIGINAL</a:t>
            </a:r>
          </a:p>
        </p:txBody>
      </p:sp>
      <p:sp>
        <p:nvSpPr>
          <p:cNvPr id="36" name="Rectangle 36"/>
          <p:cNvSpPr/>
          <p:nvPr/>
        </p:nvSpPr>
        <p:spPr>
          <a:xfrm>
            <a:off x="1143000" y="5219700"/>
            <a:ext cx="9906000" cy="400050"/>
          </a:xfrm>
          <a:prstGeom prst="roundRect">
            <a:avLst>
              <a:gd name="adj" fmla="val 23810"/>
            </a:avLst>
          </a:prstGeom>
          <a:solidFill>
            <a:srgbClr val="5CDB8F">
              <a:alpha val="15000"/>
            </a:srgbClr>
          </a:solidFill>
          <a:ln w="9525">
            <a:solidFill>
              <a:srgbClr val="5CDB8F">
                <a:alpha val="6000"/>
              </a:srgbClr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5506277" y="5329238"/>
            <a:ext cx="117944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💡 Reminder for Task 2: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598664" y="5462588"/>
            <a:ext cx="499467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Think about what NULL means on the right side of a LEFT JOIN — use that to filter rows with no match.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501890" y="657844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FFFFF">
                    <a:alphaMod val="60000"/>
                  </a:srgbClr>
                </a:solidFill>
                <a:latin typeface="Poppins"/>
                <a:ea typeface="Microsoft YaHei"/>
                <a:cs typeface="Poppi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CDB8F">
                  <a:alpha val="8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571500"/>
            <a:ext cx="4191000" cy="5715000"/>
          </a:xfrm>
          <a:prstGeom prst="roundRect">
            <a:avLst>
              <a:gd name="adj" fmla="val 2727"/>
            </a:avLst>
          </a:prstGeom>
          <a:solidFill>
            <a:srgbClr val="F7FCF9">
              <a:alpha val="70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7710" y="1042035"/>
            <a:ext cx="142955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Session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7710" y="1470660"/>
            <a:ext cx="167528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Summary</a:t>
            </a:r>
          </a:p>
        </p:txBody>
      </p:sp>
      <p:sp>
        <p:nvSpPr>
          <p:cNvPr id="7" name="Line 7"/>
          <p:cNvSpPr/>
          <p:nvPr/>
        </p:nvSpPr>
        <p:spPr>
          <a:xfrm>
            <a:off x="762000" y="19050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14288">
            <a:solidFill>
              <a:srgbClr val="2EAA5E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48665" y="2029778"/>
            <a:ext cx="15948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What we covered today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2362200"/>
            <a:ext cx="1524000" cy="247650"/>
          </a:xfrm>
          <a:prstGeom prst="roundRect">
            <a:avLst>
              <a:gd name="adj" fmla="val 50000"/>
            </a:avLst>
          </a:prstGeom>
          <a:solidFill>
            <a:srgbClr val="2EAA5E">
              <a:alpha val="12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63754" y="2435066"/>
            <a:ext cx="13204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A6B3A"/>
                </a:solidFill>
                <a:latin typeface="Poppins"/>
                <a:ea typeface="Microsoft YaHei"/>
                <a:cs typeface="Poppins"/>
              </a:rPr>
              <a:t>SQL Intermediate Joins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9618" y="2828449"/>
            <a:ext cx="11510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Topics Reviewed: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1522" y="3035141"/>
            <a:ext cx="18801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Six join techniques with real-world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1522" y="3178016"/>
            <a:ext cx="185268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application patterns and gotchas.</a:t>
            </a:r>
          </a:p>
        </p:txBody>
      </p:sp>
      <p:sp>
        <p:nvSpPr>
          <p:cNvPr id="14" name="Ellipse 14"/>
          <p:cNvSpPr/>
          <p:nvPr/>
        </p:nvSpPr>
        <p:spPr>
          <a:xfrm>
            <a:off x="733425" y="3533775"/>
            <a:ext cx="57150" cy="57150"/>
          </a:xfrm>
          <a:prstGeom prst="ellipse">
            <a:avLst/>
          </a:prstGeom>
          <a:solidFill>
            <a:srgbClr val="2EAA5E">
              <a:alpha val="50000"/>
            </a:srgbClr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847725" y="3533775"/>
            <a:ext cx="57150" cy="57150"/>
          </a:xfrm>
          <a:prstGeom prst="ellipse">
            <a:avLst/>
          </a:prstGeom>
          <a:solidFill>
            <a:srgbClr val="2EAA5E">
              <a:alpha val="30000"/>
            </a:srgbClr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962025" y="3533775"/>
            <a:ext cx="57150" cy="57150"/>
          </a:xfrm>
          <a:prstGeom prst="ellipse">
            <a:avLst/>
          </a:prstGeom>
          <a:solidFill>
            <a:srgbClr val="2EAA5E">
              <a:alpha val="1500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685800" y="3762375"/>
            <a:ext cx="3886200" cy="21907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4288">
            <a:solidFill>
              <a:srgbClr val="2EAA5E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685800" y="3762375"/>
            <a:ext cx="3886200" cy="342900"/>
          </a:xfrm>
          <a:prstGeom prst="roundRect">
            <a:avLst>
              <a:gd name="adj" fmla="val 27778"/>
            </a:avLst>
          </a:prstGeom>
          <a:solidFill>
            <a:srgbClr val="2EAA5E">
              <a:alpha val="10000"/>
            </a:srgbClr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685800" y="3933825"/>
            <a:ext cx="3886200" cy="171450"/>
          </a:xfrm>
          <a:prstGeom prst="rect">
            <a:avLst/>
          </a:prstGeom>
          <a:solidFill>
            <a:srgbClr val="2EAA5E">
              <a:alpha val="10000"/>
            </a:srgbClr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847725" y="3819525"/>
            <a:ext cx="266700" cy="2667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31150" y="3895249"/>
            <a:ext cx="998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→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78242" y="3895249"/>
            <a:ext cx="741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Next Steps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7722" y="4197191"/>
            <a:ext cx="20540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A6B3A"/>
                </a:solidFill>
                <a:latin typeface="Poppins"/>
                <a:ea typeface="Microsoft YaHei"/>
                <a:cs typeface="Poppins"/>
              </a:rPr>
              <a:t>▸ Complete take-home exercises 4–7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2975" y="4357688"/>
            <a:ext cx="12342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in the assignment sheet.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27722" y="4597241"/>
            <a:ext cx="133204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A6B3A"/>
                </a:solidFill>
                <a:latin typeface="Poppins"/>
                <a:ea typeface="Microsoft YaHei"/>
                <a:cs typeface="Poppins"/>
              </a:rPr>
              <a:t>▸ Practice with EXPLAIN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2975" y="4757738"/>
            <a:ext cx="16192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on your own database before the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2975" y="4891088"/>
            <a:ext cx="68413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next session.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7722" y="5130641"/>
            <a:ext cx="162083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A6B3A"/>
                </a:solidFill>
                <a:latin typeface="Poppins"/>
                <a:ea typeface="Microsoft YaHei"/>
                <a:cs typeface="Poppins"/>
              </a:rPr>
              <a:t>▸ Review sargable conditions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2975" y="5291138"/>
            <a:ext cx="187928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and index strategies for join columns.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28675" y="5538788"/>
            <a:ext cx="18942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Next session: Window Functions &amp; CTEs</a:t>
            </a:r>
          </a:p>
        </p:txBody>
      </p:sp>
      <p:sp>
        <p:nvSpPr>
          <p:cNvPr id="31" name="Line 31"/>
          <p:cNvSpPr/>
          <p:nvPr/>
        </p:nvSpPr>
        <p:spPr>
          <a:xfrm>
            <a:off x="838200" y="5695950"/>
            <a:ext cx="3543300" cy="9525"/>
          </a:xfrm>
          <a:custGeom>
            <a:avLst/>
            <a:gdLst/>
            <a:ahLst/>
            <a:cxnLst/>
            <a:rect l="l" t="t" r="r" b="b"/>
            <a:pathLst>
              <a:path w="3543300" h="9525">
                <a:moveTo>
                  <a:pt x="0" y="0"/>
                </a:moveTo>
                <a:lnTo>
                  <a:pt x="3543300" y="0"/>
                </a:lnTo>
              </a:path>
            </a:pathLst>
          </a:custGeom>
          <a:noFill/>
          <a:ln w="7620">
            <a:solidFill>
              <a:srgbClr val="2EAA5E">
                <a:alpha val="50000"/>
              </a:srgbClr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29628" y="5765959"/>
            <a:ext cx="153833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4A4A6A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Bring a dataset you want to query!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226368" y="894874"/>
            <a:ext cx="9940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Key Takeaways</a:t>
            </a:r>
          </a:p>
        </p:txBody>
      </p:sp>
      <p:sp>
        <p:nvSpPr>
          <p:cNvPr id="34" name="Line 34"/>
          <p:cNvSpPr/>
          <p:nvPr/>
        </p:nvSpPr>
        <p:spPr>
          <a:xfrm>
            <a:off x="5238750" y="1066800"/>
            <a:ext cx="6381750" cy="9525"/>
          </a:xfrm>
          <a:custGeom>
            <a:avLst/>
            <a:gdLst/>
            <a:ahLst/>
            <a:cxnLst/>
            <a:rect l="l" t="t" r="r" b="b"/>
            <a:pathLst>
              <a:path w="6381750" h="9525">
                <a:moveTo>
                  <a:pt x="0" y="0"/>
                </a:moveTo>
                <a:lnTo>
                  <a:pt x="6381750" y="0"/>
                </a:lnTo>
              </a:path>
            </a:pathLst>
          </a:custGeom>
          <a:noFill/>
          <a:ln w="14288">
            <a:solidFill>
              <a:srgbClr val="2EAA5E"/>
            </a:solidFill>
          </a:ln>
        </p:spPr>
      </p:sp>
      <p:sp>
        <p:nvSpPr>
          <p:cNvPr id="35" name="Ellipse 35"/>
          <p:cNvSpPr/>
          <p:nvPr/>
        </p:nvSpPr>
        <p:spPr>
          <a:xfrm>
            <a:off x="5372100" y="1390650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520204" y="1537335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✓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912168" y="1418749"/>
            <a:ext cx="7005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INNER JOIN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915025" y="1604962"/>
            <a:ext cx="266938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Matched rows only; silent row drops are the #1 gotcha</a:t>
            </a:r>
          </a:p>
        </p:txBody>
      </p:sp>
      <p:sp>
        <p:nvSpPr>
          <p:cNvPr id="39" name="Line 39"/>
          <p:cNvSpPr/>
          <p:nvPr/>
        </p:nvSpPr>
        <p:spPr>
          <a:xfrm>
            <a:off x="5238750" y="1933575"/>
            <a:ext cx="6381750" cy="9525"/>
          </a:xfrm>
          <a:custGeom>
            <a:avLst/>
            <a:gdLst/>
            <a:ahLst/>
            <a:cxnLst/>
            <a:rect l="l" t="t" r="r" b="b"/>
            <a:pathLst>
              <a:path w="6381750" h="9525">
                <a:moveTo>
                  <a:pt x="0" y="0"/>
                </a:moveTo>
                <a:lnTo>
                  <a:pt x="6381750" y="0"/>
                </a:lnTo>
              </a:path>
            </a:pathLst>
          </a:custGeom>
          <a:noFill/>
          <a:ln w="4762">
            <a:solidFill>
              <a:srgbClr val="2EAA5E">
                <a:alpha val="25000"/>
              </a:srgbClr>
            </a:solidFill>
          </a:ln>
        </p:spPr>
      </p:sp>
      <p:sp>
        <p:nvSpPr>
          <p:cNvPr id="40" name="Ellipse 40"/>
          <p:cNvSpPr/>
          <p:nvPr/>
        </p:nvSpPr>
        <p:spPr>
          <a:xfrm>
            <a:off x="5372100" y="2038350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520204" y="2185035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✓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912168" y="2066449"/>
            <a:ext cx="6595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LEFT JOIN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915025" y="2252662"/>
            <a:ext cx="237434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Preserve the left table; filter in ON, not WHERE</a:t>
            </a:r>
          </a:p>
        </p:txBody>
      </p:sp>
      <p:sp>
        <p:nvSpPr>
          <p:cNvPr id="44" name="Line 44"/>
          <p:cNvSpPr/>
          <p:nvPr/>
        </p:nvSpPr>
        <p:spPr>
          <a:xfrm>
            <a:off x="5238750" y="2581275"/>
            <a:ext cx="6381750" cy="9525"/>
          </a:xfrm>
          <a:custGeom>
            <a:avLst/>
            <a:gdLst/>
            <a:ahLst/>
            <a:cxnLst/>
            <a:rect l="l" t="t" r="r" b="b"/>
            <a:pathLst>
              <a:path w="6381750" h="9525">
                <a:moveTo>
                  <a:pt x="0" y="0"/>
                </a:moveTo>
                <a:lnTo>
                  <a:pt x="6381750" y="0"/>
                </a:lnTo>
              </a:path>
            </a:pathLst>
          </a:custGeom>
          <a:noFill/>
          <a:ln w="4762">
            <a:solidFill>
              <a:srgbClr val="2EAA5E">
                <a:alpha val="25000"/>
              </a:srgbClr>
            </a:solidFill>
          </a:ln>
        </p:spPr>
      </p:sp>
      <p:sp>
        <p:nvSpPr>
          <p:cNvPr id="45" name="Ellipse 45"/>
          <p:cNvSpPr/>
          <p:nvPr/>
        </p:nvSpPr>
        <p:spPr>
          <a:xfrm>
            <a:off x="5372100" y="2686050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5520204" y="2832735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✓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912168" y="2714149"/>
            <a:ext cx="11032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FULL OUTER JOIN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915025" y="2900362"/>
            <a:ext cx="293941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Reconciliation and discrepancy detection across both tables</a:t>
            </a:r>
          </a:p>
        </p:txBody>
      </p:sp>
      <p:sp>
        <p:nvSpPr>
          <p:cNvPr id="49" name="Line 49"/>
          <p:cNvSpPr/>
          <p:nvPr/>
        </p:nvSpPr>
        <p:spPr>
          <a:xfrm>
            <a:off x="5238750" y="3228975"/>
            <a:ext cx="6381750" cy="9525"/>
          </a:xfrm>
          <a:custGeom>
            <a:avLst/>
            <a:gdLst/>
            <a:ahLst/>
            <a:cxnLst/>
            <a:rect l="l" t="t" r="r" b="b"/>
            <a:pathLst>
              <a:path w="6381750" h="9525">
                <a:moveTo>
                  <a:pt x="0" y="0"/>
                </a:moveTo>
                <a:lnTo>
                  <a:pt x="6381750" y="0"/>
                </a:lnTo>
              </a:path>
            </a:pathLst>
          </a:custGeom>
          <a:noFill/>
          <a:ln w="4762">
            <a:solidFill>
              <a:srgbClr val="2EAA5E">
                <a:alpha val="25000"/>
              </a:srgbClr>
            </a:solidFill>
          </a:ln>
        </p:spPr>
      </p:sp>
      <p:sp>
        <p:nvSpPr>
          <p:cNvPr id="50" name="Ellipse 50"/>
          <p:cNvSpPr/>
          <p:nvPr/>
        </p:nvSpPr>
        <p:spPr>
          <a:xfrm>
            <a:off x="5372100" y="3333750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5520204" y="3480435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✓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912168" y="3361849"/>
            <a:ext cx="121928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CROSS / SELF JOIN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915025" y="3548062"/>
            <a:ext cx="231433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Cartesian products and same-table hierarchies</a:t>
            </a:r>
          </a:p>
        </p:txBody>
      </p:sp>
      <p:sp>
        <p:nvSpPr>
          <p:cNvPr id="54" name="Line 54"/>
          <p:cNvSpPr/>
          <p:nvPr/>
        </p:nvSpPr>
        <p:spPr>
          <a:xfrm>
            <a:off x="5238750" y="3876675"/>
            <a:ext cx="6381750" cy="9525"/>
          </a:xfrm>
          <a:custGeom>
            <a:avLst/>
            <a:gdLst/>
            <a:ahLst/>
            <a:cxnLst/>
            <a:rect l="l" t="t" r="r" b="b"/>
            <a:pathLst>
              <a:path w="6381750" h="9525">
                <a:moveTo>
                  <a:pt x="0" y="0"/>
                </a:moveTo>
                <a:lnTo>
                  <a:pt x="6381750" y="0"/>
                </a:lnTo>
              </a:path>
            </a:pathLst>
          </a:custGeom>
          <a:noFill/>
          <a:ln w="4762">
            <a:solidFill>
              <a:srgbClr val="2EAA5E">
                <a:alpha val="25000"/>
              </a:srgbClr>
            </a:solidFill>
          </a:ln>
        </p:spPr>
      </p:sp>
      <p:sp>
        <p:nvSpPr>
          <p:cNvPr id="55" name="Ellipse 55"/>
          <p:cNvSpPr/>
          <p:nvPr/>
        </p:nvSpPr>
        <p:spPr>
          <a:xfrm>
            <a:off x="5372100" y="3981450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5520204" y="4128135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✓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912168" y="4009549"/>
            <a:ext cx="12602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Subquery Rewrites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915025" y="4195762"/>
            <a:ext cx="285440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NOT IN → LEFT JOIN + IS NULL; EXISTS → INNER JOIN + DISTINCT</a:t>
            </a:r>
          </a:p>
        </p:txBody>
      </p:sp>
      <p:sp>
        <p:nvSpPr>
          <p:cNvPr id="59" name="Line 59"/>
          <p:cNvSpPr/>
          <p:nvPr/>
        </p:nvSpPr>
        <p:spPr>
          <a:xfrm>
            <a:off x="5238750" y="4524375"/>
            <a:ext cx="6381750" cy="9525"/>
          </a:xfrm>
          <a:custGeom>
            <a:avLst/>
            <a:gdLst/>
            <a:ahLst/>
            <a:cxnLst/>
            <a:rect l="l" t="t" r="r" b="b"/>
            <a:pathLst>
              <a:path w="6381750" h="9525">
                <a:moveTo>
                  <a:pt x="0" y="0"/>
                </a:moveTo>
                <a:lnTo>
                  <a:pt x="6381750" y="0"/>
                </a:lnTo>
              </a:path>
            </a:pathLst>
          </a:custGeom>
          <a:noFill/>
          <a:ln w="4762">
            <a:solidFill>
              <a:srgbClr val="2EAA5E">
                <a:alpha val="25000"/>
              </a:srgbClr>
            </a:solidFill>
          </a:ln>
        </p:spPr>
      </p:sp>
      <p:sp>
        <p:nvSpPr>
          <p:cNvPr id="60" name="Ellipse 60"/>
          <p:cNvSpPr/>
          <p:nvPr/>
        </p:nvSpPr>
        <p:spPr>
          <a:xfrm>
            <a:off x="5372100" y="4629150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5520204" y="4775835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✓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912168" y="4657249"/>
            <a:ext cx="8779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Performance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915025" y="4843462"/>
            <a:ext cx="284940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Index join columns; write sargable conditions; run EXPLAIN</a:t>
            </a:r>
          </a:p>
        </p:txBody>
      </p:sp>
      <p:sp>
        <p:nvSpPr>
          <p:cNvPr id="64" name="Line 64"/>
          <p:cNvSpPr/>
          <p:nvPr/>
        </p:nvSpPr>
        <p:spPr>
          <a:xfrm>
            <a:off x="5238750" y="5219700"/>
            <a:ext cx="6381750" cy="9525"/>
          </a:xfrm>
          <a:custGeom>
            <a:avLst/>
            <a:gdLst/>
            <a:ahLst/>
            <a:cxnLst/>
            <a:rect l="l" t="t" r="r" b="b"/>
            <a:pathLst>
              <a:path w="6381750" h="9525">
                <a:moveTo>
                  <a:pt x="0" y="0"/>
                </a:moveTo>
                <a:lnTo>
                  <a:pt x="6381750" y="0"/>
                </a:lnTo>
              </a:path>
            </a:pathLst>
          </a:custGeom>
          <a:noFill/>
          <a:ln w="14288">
            <a:solidFill>
              <a:srgbClr val="2EAA5E">
                <a:alpha val="30000"/>
              </a:srgbClr>
            </a:solidFill>
          </a:ln>
        </p:spPr>
      </p:sp>
      <p:sp>
        <p:nvSpPr>
          <p:cNvPr id="65" name="Rectangle 65"/>
          <p:cNvSpPr/>
          <p:nvPr/>
        </p:nvSpPr>
        <p:spPr>
          <a:xfrm>
            <a:off x="5238750" y="5353050"/>
            <a:ext cx="6381750" cy="666750"/>
          </a:xfrm>
          <a:prstGeom prst="roundRect">
            <a:avLst>
              <a:gd name="adj" fmla="val 11429"/>
            </a:avLst>
          </a:prstGeom>
          <a:solidFill>
            <a:srgbClr val="1A6B3A">
              <a:alpha val="5000"/>
            </a:srgbClr>
          </a:solidFill>
          <a:ln>
            <a:noFill/>
          </a:ln>
        </p:spPr>
      </p:sp>
      <p:sp>
        <p:nvSpPr>
          <p:cNvPr id="66" name="Rectangle 66"/>
          <p:cNvSpPr/>
          <p:nvPr/>
        </p:nvSpPr>
        <p:spPr>
          <a:xfrm>
            <a:off x="5238750" y="5353050"/>
            <a:ext cx="38100" cy="666750"/>
          </a:xfrm>
          <a:prstGeom prst="roundRect">
            <a:avLst>
              <a:gd name="adj" fmla="val 50000"/>
            </a:avLst>
          </a:prstGeom>
          <a:solidFill>
            <a:srgbClr val="2EAA5E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5398770" y="5465445"/>
            <a:ext cx="12074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Session 10 Complete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400675" y="5653088"/>
            <a:ext cx="296441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You now have the full join toolkit — from basic INNER JOINs to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5400675" y="5805488"/>
            <a:ext cx="32194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performance-aware query design. Keep practising with real data!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1468886" y="6578441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10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751522" y="6578441"/>
            <a:ext cx="181968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SQL Joins — Training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