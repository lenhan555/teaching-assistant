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238500" y="-723900"/>
            <a:ext cx="5715000" cy="4191000"/>
          </a:xfrm>
          <a:prstGeom prst="ellipse">
            <a:avLst/>
          </a:prstGeom>
          <a:solidFill>
            <a:srgbClr val="5CDB8F">
              <a:alpha val="22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6210300" y="-552450"/>
            <a:ext cx="3429000" cy="2476500"/>
          </a:xfrm>
          <a:prstGeom prst="ellipse">
            <a:avLst/>
          </a:prstGeom>
          <a:solidFill>
            <a:srgbClr val="5CDB8F">
              <a:alpha val="1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71500"/>
            <a:ext cx="4572000" cy="5715000"/>
          </a:xfrm>
          <a:prstGeom prst="roundRect">
            <a:avLst>
              <a:gd name="adj" fmla="val 333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1238250" y="1162050"/>
            <a:ext cx="571500" cy="5715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85339" y="1399699"/>
            <a:ext cx="2773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SQL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11668" y="1275874"/>
            <a:ext cx="18677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SQL Training · Intermediate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3572" y="1482566"/>
            <a:ext cx="18691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Advanced data querying with JOINs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18478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5CDB8F">
                <a:alpha val="5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35355" y="2083118"/>
            <a:ext cx="2472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Mastering Every JOIN Type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5355" y="2330768"/>
            <a:ext cx="21608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for Real-World Queries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0118" y="2923699"/>
            <a:ext cx="21375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6 JOIN types · Subquery rewrites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118" y="3133249"/>
            <a:ext cx="16629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Performance optimization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37338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2EAA5E">
              <a:alpha val="8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4448" y="3817620"/>
            <a:ext cx="11696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Intermediate Level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400300" y="37338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586085" y="3817620"/>
            <a:ext cx="580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SQL Joins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38800" y="2495550"/>
            <a:ext cx="1706594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SQL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38800" y="3448050"/>
            <a:ext cx="2252662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Joins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97855" y="4378642"/>
            <a:ext cx="37067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Master every JOIN for production queries</a:t>
            </a:r>
          </a:p>
        </p:txBody>
      </p:sp>
      <p:sp>
        <p:nvSpPr>
          <p:cNvPr id="22" name="Ellipse 22"/>
          <p:cNvSpPr/>
          <p:nvPr/>
        </p:nvSpPr>
        <p:spPr>
          <a:xfrm>
            <a:off x="10287000" y="-95250"/>
            <a:ext cx="2286000" cy="1714500"/>
          </a:xfrm>
          <a:prstGeom prst="ellipse">
            <a:avLst/>
          </a:prstGeom>
          <a:solidFill>
            <a:srgbClr val="5CDB8F">
              <a:alpha val="15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529393" y="6578441"/>
            <a:ext cx="53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1022985"/>
            <a:ext cx="14295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Session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18360" y="1022985"/>
            <a:ext cx="1316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Agenda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1022" y="1577816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What we cover today</a:t>
            </a:r>
          </a:p>
        </p:txBody>
      </p:sp>
      <p:sp>
        <p:nvSpPr>
          <p:cNvPr id="7" name="Ellipse 7"/>
          <p:cNvSpPr/>
          <p:nvPr/>
        </p:nvSpPr>
        <p:spPr>
          <a:xfrm>
            <a:off x="5143500" y="18097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248275" y="1924050"/>
            <a:ext cx="85725" cy="190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353050" y="1924050"/>
            <a:ext cx="85725" cy="190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Line 10"/>
          <p:cNvSpPr/>
          <p:nvPr/>
        </p:nvSpPr>
        <p:spPr>
          <a:xfrm>
            <a:off x="5353050" y="193357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663565" y="1867852"/>
            <a:ext cx="7911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JOIN Types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6422" y="2063591"/>
            <a:ext cx="26117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INNER · LEFT · RIGHT · FULL OUTER · CROSS · SELF</a:t>
            </a:r>
          </a:p>
        </p:txBody>
      </p:sp>
      <p:sp>
        <p:nvSpPr>
          <p:cNvPr id="13" name="Ellipse 13"/>
          <p:cNvSpPr/>
          <p:nvPr/>
        </p:nvSpPr>
        <p:spPr>
          <a:xfrm>
            <a:off x="5143500" y="24955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4" name="Polyline 14"/>
          <p:cNvSpPr/>
          <p:nvPr/>
        </p:nvSpPr>
        <p:spPr>
          <a:xfrm>
            <a:off x="5238750" y="270510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5" name="Polyline 15"/>
          <p:cNvSpPr/>
          <p:nvPr/>
        </p:nvSpPr>
        <p:spPr>
          <a:xfrm>
            <a:off x="5238750" y="26670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8100" h="76200">
                <a:moveTo>
                  <a:pt x="38100" y="0"/>
                </a:moveTo>
                <a:lnTo>
                  <a:pt x="0" y="38100"/>
                </a:lnTo>
                <a:lnTo>
                  <a:pt x="38100" y="762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6" name="Polyline 16"/>
          <p:cNvSpPr/>
          <p:nvPr/>
        </p:nvSpPr>
        <p:spPr>
          <a:xfrm>
            <a:off x="5429250" y="26670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8100" h="76200">
                <a:moveTo>
                  <a:pt x="0" y="0"/>
                </a:moveTo>
                <a:lnTo>
                  <a:pt x="381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663565" y="2553652"/>
            <a:ext cx="22613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Correlated Subqueries vs JOINs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6422" y="2749391"/>
            <a:ext cx="24632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Rewrite slow subqueries as performant JOINs</a:t>
            </a:r>
          </a:p>
        </p:txBody>
      </p:sp>
      <p:sp>
        <p:nvSpPr>
          <p:cNvPr id="19" name="Ellipse 19"/>
          <p:cNvSpPr/>
          <p:nvPr/>
        </p:nvSpPr>
        <p:spPr>
          <a:xfrm>
            <a:off x="5143500" y="31813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0" name="Polygon 20"/>
          <p:cNvSpPr/>
          <p:nvPr/>
        </p:nvSpPr>
        <p:spPr>
          <a:xfrm>
            <a:off x="5314950" y="3209925"/>
            <a:ext cx="123825" cy="361950"/>
          </a:xfrm>
          <a:custGeom>
            <a:avLst/>
            <a:gdLst/>
            <a:ahLst/>
            <a:cxnLst/>
            <a:rect l="l" t="t" r="r" b="b"/>
            <a:pathLst>
              <a:path w="123825" h="361950">
                <a:moveTo>
                  <a:pt x="85725" y="0"/>
                </a:moveTo>
                <a:lnTo>
                  <a:pt x="0" y="180975"/>
                </a:lnTo>
                <a:lnTo>
                  <a:pt x="57150" y="180975"/>
                </a:lnTo>
                <a:lnTo>
                  <a:pt x="9525" y="361950"/>
                </a:lnTo>
                <a:lnTo>
                  <a:pt x="123825" y="142875"/>
                </a:lnTo>
                <a:lnTo>
                  <a:pt x="66675" y="1428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663565" y="3239452"/>
            <a:ext cx="9455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Performance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6422" y="3435191"/>
            <a:ext cx="20397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Indexes, EXPLAIN, sargable conditions</a:t>
            </a:r>
          </a:p>
        </p:txBody>
      </p:sp>
      <p:sp>
        <p:nvSpPr>
          <p:cNvPr id="23" name="Ellipse 23"/>
          <p:cNvSpPr/>
          <p:nvPr/>
        </p:nvSpPr>
        <p:spPr>
          <a:xfrm>
            <a:off x="5143500" y="38671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 rot="-1800000">
            <a:off x="5257800" y="3981450"/>
            <a:ext cx="57150" cy="133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Polygon 25"/>
          <p:cNvSpPr/>
          <p:nvPr/>
        </p:nvSpPr>
        <p:spPr>
          <a:xfrm>
            <a:off x="5238750" y="4114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663565" y="3925252"/>
            <a:ext cx="12542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In-Class Practice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6422" y="4120991"/>
            <a:ext cx="16711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3 progressively harder queries</a:t>
            </a:r>
          </a:p>
        </p:txBody>
      </p:sp>
      <p:sp>
        <p:nvSpPr>
          <p:cNvPr id="28" name="Ellipse 28"/>
          <p:cNvSpPr/>
          <p:nvPr/>
        </p:nvSpPr>
        <p:spPr>
          <a:xfrm>
            <a:off x="5143500" y="45529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286375" y="4648200"/>
            <a:ext cx="190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Polygon 30"/>
          <p:cNvSpPr/>
          <p:nvPr/>
        </p:nvSpPr>
        <p:spPr>
          <a:xfrm>
            <a:off x="5305425" y="465772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63565" y="4611052"/>
            <a:ext cx="17541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Summary and Next Steps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6422" y="4806791"/>
            <a:ext cx="21662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Key takeaways and take-home exercises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619500" y="-476250"/>
            <a:ext cx="4953000" cy="3429000"/>
          </a:xfrm>
          <a:prstGeom prst="ellipse">
            <a:avLst/>
          </a:prstGeom>
          <a:solidFill>
            <a:srgbClr val="5CDB8F">
              <a:alpha val="2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972800" y="495300"/>
            <a:ext cx="685800" cy="533400"/>
          </a:xfrm>
          <a:prstGeom prst="ellipse">
            <a:avLst/>
          </a:prstGeom>
          <a:solidFill>
            <a:srgbClr val="5CDB8F">
              <a:alpha val="3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106150" y="609600"/>
            <a:ext cx="419100" cy="304800"/>
          </a:xfrm>
          <a:prstGeom prst="ellipse">
            <a:avLst/>
          </a:prstGeom>
          <a:solidFill>
            <a:srgbClr val="5CDB8F">
              <a:alpha val="5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237632" y="1213485"/>
            <a:ext cx="37167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Learning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8972" y="1963102"/>
            <a:ext cx="31140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By the end of this session you will be able to:</a:t>
            </a:r>
          </a:p>
        </p:txBody>
      </p:sp>
      <p:sp>
        <p:nvSpPr>
          <p:cNvPr id="8" name="Line 8"/>
          <p:cNvSpPr/>
          <p:nvPr/>
        </p:nvSpPr>
        <p:spPr>
          <a:xfrm>
            <a:off x="3810000" y="22669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5CDB8F">
                <a:alpha val="3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3448050" y="26098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0" name="Polyline 10"/>
          <p:cNvSpPr/>
          <p:nvPr/>
        </p:nvSpPr>
        <p:spPr>
          <a:xfrm>
            <a:off x="3552825" y="2705100"/>
            <a:ext cx="219075" cy="190500"/>
          </a:xfrm>
          <a:custGeom>
            <a:avLst/>
            <a:gdLst/>
            <a:ahLst/>
            <a:cxnLst/>
            <a:rect l="l" t="t" r="r" b="b"/>
            <a:pathLst>
              <a:path w="219075" h="190500">
                <a:moveTo>
                  <a:pt x="0" y="114300"/>
                </a:moveTo>
                <a:lnTo>
                  <a:pt x="76200" y="190500"/>
                </a:lnTo>
                <a:lnTo>
                  <a:pt x="219075" y="0"/>
                </a:lnTo>
              </a:path>
            </a:pathLst>
          </a:custGeom>
          <a:noFill/>
          <a:ln w="23812" cap="rnd">
            <a:solidFill>
              <a:srgbClr val="FFFFFF"/>
            </a:solidFill>
            <a:round/>
          </a:ln>
        </p:spPr>
      </p:sp>
      <p:sp>
        <p:nvSpPr>
          <p:cNvPr id="11" name="TextBox 11"/>
          <p:cNvSpPr txBox="1"/>
          <p:nvPr/>
        </p:nvSpPr>
        <p:spPr>
          <a:xfrm>
            <a:off x="3969068" y="2666524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Choose the right JOIN type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70972" y="2854166"/>
            <a:ext cx="1445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for any query requirement</a:t>
            </a:r>
          </a:p>
        </p:txBody>
      </p:sp>
      <p:sp>
        <p:nvSpPr>
          <p:cNvPr id="13" name="Ellipse 13"/>
          <p:cNvSpPr/>
          <p:nvPr/>
        </p:nvSpPr>
        <p:spPr>
          <a:xfrm>
            <a:off x="3448050" y="32956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4" name="Polyline 14"/>
          <p:cNvSpPr/>
          <p:nvPr/>
        </p:nvSpPr>
        <p:spPr>
          <a:xfrm>
            <a:off x="3552825" y="3390900"/>
            <a:ext cx="219075" cy="190500"/>
          </a:xfrm>
          <a:custGeom>
            <a:avLst/>
            <a:gdLst/>
            <a:ahLst/>
            <a:cxnLst/>
            <a:rect l="l" t="t" r="r" b="b"/>
            <a:pathLst>
              <a:path w="219075" h="190500">
                <a:moveTo>
                  <a:pt x="0" y="114300"/>
                </a:moveTo>
                <a:lnTo>
                  <a:pt x="76200" y="190500"/>
                </a:lnTo>
                <a:lnTo>
                  <a:pt x="219075" y="0"/>
                </a:lnTo>
              </a:path>
            </a:pathLst>
          </a:custGeom>
          <a:noFill/>
          <a:ln w="23812" cap="rnd">
            <a:solidFill>
              <a:srgbClr val="FFFFFF"/>
            </a:solidFill>
            <a:round/>
          </a:ln>
        </p:spPr>
      </p:sp>
      <p:sp>
        <p:nvSpPr>
          <p:cNvPr id="15" name="TextBox 15"/>
          <p:cNvSpPr txBox="1"/>
          <p:nvPr/>
        </p:nvSpPr>
        <p:spPr>
          <a:xfrm>
            <a:off x="3969068" y="3352324"/>
            <a:ext cx="31714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Identify and fix the LEFT JOIN → INNER JOIN trap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70972" y="3539966"/>
            <a:ext cx="26942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Catch the WHERE-clause filter conversion mistake</a:t>
            </a:r>
          </a:p>
        </p:txBody>
      </p:sp>
      <p:sp>
        <p:nvSpPr>
          <p:cNvPr id="17" name="Ellipse 17"/>
          <p:cNvSpPr/>
          <p:nvPr/>
        </p:nvSpPr>
        <p:spPr>
          <a:xfrm>
            <a:off x="3448050" y="39814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8" name="Polyline 18"/>
          <p:cNvSpPr/>
          <p:nvPr/>
        </p:nvSpPr>
        <p:spPr>
          <a:xfrm>
            <a:off x="3552825" y="4076700"/>
            <a:ext cx="219075" cy="190500"/>
          </a:xfrm>
          <a:custGeom>
            <a:avLst/>
            <a:gdLst/>
            <a:ahLst/>
            <a:cxnLst/>
            <a:rect l="l" t="t" r="r" b="b"/>
            <a:pathLst>
              <a:path w="219075" h="190500">
                <a:moveTo>
                  <a:pt x="0" y="114300"/>
                </a:moveTo>
                <a:lnTo>
                  <a:pt x="76200" y="190500"/>
                </a:lnTo>
                <a:lnTo>
                  <a:pt x="219075" y="0"/>
                </a:lnTo>
              </a:path>
            </a:pathLst>
          </a:custGeom>
          <a:noFill/>
          <a:ln w="23812" cap="rnd">
            <a:solidFill>
              <a:srgbClr val="FFFFFF"/>
            </a:solidFill>
            <a:round/>
          </a:ln>
        </p:spPr>
      </p:sp>
      <p:sp>
        <p:nvSpPr>
          <p:cNvPr id="19" name="TextBox 19"/>
          <p:cNvSpPr txBox="1"/>
          <p:nvPr/>
        </p:nvSpPr>
        <p:spPr>
          <a:xfrm>
            <a:off x="3969068" y="4038124"/>
            <a:ext cx="34786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Rewrite correlated subqueries as performant JOINs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70972" y="4225766"/>
            <a:ext cx="25842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NOT IN → LEFT JOIN + IS NULL; EXISTS → INNER JOIN</a:t>
            </a:r>
          </a:p>
        </p:txBody>
      </p:sp>
      <p:sp>
        <p:nvSpPr>
          <p:cNvPr id="21" name="Ellipse 21"/>
          <p:cNvSpPr/>
          <p:nvPr/>
        </p:nvSpPr>
        <p:spPr>
          <a:xfrm>
            <a:off x="3448050" y="46672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2" name="Polyline 22"/>
          <p:cNvSpPr/>
          <p:nvPr/>
        </p:nvSpPr>
        <p:spPr>
          <a:xfrm>
            <a:off x="3552825" y="4762500"/>
            <a:ext cx="219075" cy="190500"/>
          </a:xfrm>
          <a:custGeom>
            <a:avLst/>
            <a:gdLst/>
            <a:ahLst/>
            <a:cxnLst/>
            <a:rect l="l" t="t" r="r" b="b"/>
            <a:pathLst>
              <a:path w="219075" h="190500">
                <a:moveTo>
                  <a:pt x="0" y="114300"/>
                </a:moveTo>
                <a:lnTo>
                  <a:pt x="76200" y="190500"/>
                </a:lnTo>
                <a:lnTo>
                  <a:pt x="219075" y="0"/>
                </a:lnTo>
              </a:path>
            </a:pathLst>
          </a:custGeom>
          <a:noFill/>
          <a:ln w="23812" cap="rnd">
            <a:solidFill>
              <a:srgbClr val="FFFFFF"/>
            </a:solidFill>
            <a:round/>
          </a:ln>
        </p:spPr>
      </p:sp>
      <p:sp>
        <p:nvSpPr>
          <p:cNvPr id="23" name="TextBox 23"/>
          <p:cNvSpPr txBox="1"/>
          <p:nvPr/>
        </p:nvSpPr>
        <p:spPr>
          <a:xfrm>
            <a:off x="3969068" y="4723924"/>
            <a:ext cx="28779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Read an EXPLAIN plan to diagnose a slow join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70972" y="4911566"/>
            <a:ext cx="21662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Identify sequential scans vs index scans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1022985"/>
            <a:ext cx="9002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Core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4960" y="1022985"/>
            <a:ext cx="1089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JOINs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1022" y="1577816"/>
            <a:ext cx="20782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The two JOINs you will write every day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2000250"/>
            <a:ext cx="40005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4288">
            <a:solidFill>
              <a:srgbClr val="5CDB8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2475" y="2119312"/>
            <a:ext cx="16492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If rows go missing unexpectedly 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2475" y="2290762"/>
            <a:ext cx="10324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suspect INNER JOIN.</a:t>
            </a:r>
          </a:p>
        </p:txBody>
      </p:sp>
      <p:sp>
        <p:nvSpPr>
          <p:cNvPr id="10" name="Ellipse 10"/>
          <p:cNvSpPr/>
          <p:nvPr/>
        </p:nvSpPr>
        <p:spPr>
          <a:xfrm>
            <a:off x="5143500" y="155257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5200650" y="1676400"/>
            <a:ext cx="171450" cy="17145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5334000" y="1676400"/>
            <a:ext cx="171450" cy="17145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663565" y="1610678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6422" y="1806416"/>
            <a:ext cx="35633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Returns only matched rows. Silent row drops when key is missing.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2076450"/>
            <a:ext cx="6286500" cy="647700"/>
          </a:xfrm>
          <a:prstGeom prst="roundRect">
            <a:avLst>
              <a:gd name="adj" fmla="val 11765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286375" y="2176462"/>
            <a:ext cx="18542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o.order_id, c.customer_name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86375" y="2328862"/>
            <a:ext cx="7241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orders 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86375" y="2481262"/>
            <a:ext cx="29244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INNER JOIN customers c ON o.customer_id = c.customer_id;</a:t>
            </a:r>
          </a:p>
        </p:txBody>
      </p:sp>
      <p:sp>
        <p:nvSpPr>
          <p:cNvPr id="19" name="Ellipse 19"/>
          <p:cNvSpPr/>
          <p:nvPr/>
        </p:nvSpPr>
        <p:spPr>
          <a:xfrm>
            <a:off x="5143500" y="31718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191125" y="3276600"/>
            <a:ext cx="209550" cy="2095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5334000" y="3295650"/>
            <a:ext cx="171450" cy="17145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663565" y="3229928"/>
            <a:ext cx="7103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LEFT JOIN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6422" y="3425666"/>
            <a:ext cx="34863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All left-table rows kept; unmatched right-table columns = NULL.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67375" y="3652838"/>
            <a:ext cx="31894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⚠ WHERE filter on right-table col silently converts to INNER JOIN.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75" y="3786188"/>
            <a:ext cx="26863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Move filter to ON clause to preserve the LEFT JOIN.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43500" y="4000500"/>
            <a:ext cx="6286500" cy="781050"/>
          </a:xfrm>
          <a:prstGeom prst="roundRect">
            <a:avLst>
              <a:gd name="adj" fmla="val 9756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286375" y="4110038"/>
            <a:ext cx="1474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c.name, o.order_date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86375" y="4262438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customers 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86375" y="4414838"/>
            <a:ext cx="21393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LEFT JOIN orders o ON c.id = o.customer_id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86375" y="4567238"/>
            <a:ext cx="22993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AND o.status = 'active'; -- filter in ON clause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677025" y="-561975"/>
            <a:ext cx="4191000" cy="3048000"/>
          </a:xfrm>
          <a:prstGeom prst="ellipse">
            <a:avLst/>
          </a:prstGeom>
          <a:solidFill>
            <a:srgbClr val="5CDB8F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125200" y="5867400"/>
            <a:ext cx="609600" cy="457200"/>
          </a:xfrm>
          <a:prstGeom prst="ellipse">
            <a:avLst/>
          </a:prstGeom>
          <a:solidFill>
            <a:srgbClr val="5CDB8F">
              <a:alpha val="3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258550" y="5962650"/>
            <a:ext cx="342900" cy="266700"/>
          </a:xfrm>
          <a:prstGeom prst="ellipse">
            <a:avLst/>
          </a:prstGeom>
          <a:solidFill>
            <a:srgbClr val="5CDB8F">
              <a:alpha val="5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937019" y="832485"/>
            <a:ext cx="231796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Outer JOINs</a:t>
            </a:r>
          </a:p>
        </p:txBody>
      </p:sp>
      <p:sp>
        <p:nvSpPr>
          <p:cNvPr id="7" name="Line 7"/>
          <p:cNvSpPr/>
          <p:nvPr/>
        </p:nvSpPr>
        <p:spPr>
          <a:xfrm>
            <a:off x="6096000" y="138112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56260" y="1565910"/>
            <a:ext cx="862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RIGHT JOIN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1022" y="1834991"/>
            <a:ext cx="22377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Mirror of LEFT JOIN. All right-table rows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022" y="1987391"/>
            <a:ext cx="22212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retained; NULLs fill unmatched left side.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1022" y="2254091"/>
            <a:ext cx="21662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Almost always rewritable as a LEFT JOIN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1022" y="2406491"/>
            <a:ext cx="14401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with swapped table order.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1975" y="2681288"/>
            <a:ext cx="15692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Avoid mixing LEFT and RIGHT JOIN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1975" y="2814638"/>
            <a:ext cx="16542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in the same query — hard to read.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086100"/>
            <a:ext cx="523875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14375" y="3205162"/>
            <a:ext cx="11691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* FROM orders 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4375" y="3357562"/>
            <a:ext cx="24093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RIGHT JOIN customers c ON o.customer_id = c.id;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1260" y="1565910"/>
            <a:ext cx="1357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FULL OUTER JOIN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76022" y="1834991"/>
            <a:ext cx="21607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Every row from both tables. Unmatched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76022" y="1987391"/>
            <a:ext cx="2155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sides get NULL on the other column set.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76022" y="2254091"/>
            <a:ext cx="23752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The reconciliation tool: which records exist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76022" y="2406491"/>
            <a:ext cx="18251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in one dataset but not the other?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76975" y="2681288"/>
            <a:ext cx="19342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MySQL: UNION of LEFT JOIN + RIGHT JOIN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76975" y="2814638"/>
            <a:ext cx="18642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(no native FULL OUTER JOIN support).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3086100"/>
            <a:ext cx="514350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429375" y="3205162"/>
            <a:ext cx="8091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* FROM 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29375" y="3357562"/>
            <a:ext cx="16442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FULL OUTER JOIN b ON a.id = b.id;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886200"/>
            <a:ext cx="11049000" cy="1447800"/>
          </a:xfrm>
          <a:prstGeom prst="roundRect">
            <a:avLst>
              <a:gd name="adj" fmla="val 7895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0570" y="4017645"/>
            <a:ext cx="26313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Isolate exclusive rows with WHERE IS NULL: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4229100"/>
            <a:ext cx="10668000" cy="990600"/>
          </a:xfrm>
          <a:prstGeom prst="roundRect">
            <a:avLst>
              <a:gd name="adj" fmla="val 5769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04875" y="4357688"/>
            <a:ext cx="24093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* FROM a FULL OUTER JOIN b ON a.id = b.id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4875" y="4510088"/>
            <a:ext cx="17092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WHERE a.id IS NULL OR b.id IS NULL;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2475" y="4967288"/>
            <a:ext cx="56997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This pattern isolates rows that exist in one table but not the other — the foundation of data reconciliation queries.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832485"/>
            <a:ext cx="13350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Special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0260" y="832485"/>
            <a:ext cx="1089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JOINs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573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533049"/>
            <a:ext cx="761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CROSS JOIN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1975" y="1747838"/>
            <a:ext cx="1819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Result = Table A rows × Table B rows.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1975" y="1881188"/>
            <a:ext cx="10391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 ON clause needed.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1975" y="2109788"/>
            <a:ext cx="21493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Use for: product matrices, calendar grids,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975" y="2243138"/>
            <a:ext cx="10991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test data generation.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1975" y="2471738"/>
            <a:ext cx="18242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Risk: 1,000 × 1,000 = 1,000,000 rows.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1975" y="2605088"/>
            <a:ext cx="19565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Always sanity-check row count first.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876550"/>
            <a:ext cx="3429000" cy="419100"/>
          </a:xfrm>
          <a:prstGeom prst="roundRect">
            <a:avLst>
              <a:gd name="adj" fmla="val 18182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5328" y="2975134"/>
            <a:ext cx="107477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* FROM products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5328" y="3127534"/>
            <a:ext cx="85425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CROSS JOIN colors;</a:t>
            </a:r>
          </a:p>
        </p:txBody>
      </p:sp>
      <p:sp>
        <p:nvSpPr>
          <p:cNvPr id="16" name="Polygon 16"/>
          <p:cNvSpPr/>
          <p:nvPr/>
        </p:nvSpPr>
        <p:spPr>
          <a:xfrm>
            <a:off x="5143500" y="3390900"/>
            <a:ext cx="1905000" cy="647700"/>
          </a:xfrm>
          <a:custGeom>
            <a:avLst/>
            <a:gdLst/>
            <a:ahLst/>
            <a:cxnLst/>
            <a:rect l="l" t="t" r="r" b="b"/>
            <a:pathLst>
              <a:path w="1905000" h="647700">
                <a:moveTo>
                  <a:pt x="0" y="152400"/>
                </a:moveTo>
                <a:lnTo>
                  <a:pt x="1524000" y="152400"/>
                </a:lnTo>
                <a:lnTo>
                  <a:pt x="1524000" y="0"/>
                </a:lnTo>
                <a:lnTo>
                  <a:pt x="1905000" y="323850"/>
                </a:lnTo>
                <a:lnTo>
                  <a:pt x="1524000" y="647700"/>
                </a:lnTo>
                <a:lnTo>
                  <a:pt x="1524000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2EAA5E"/>
          </a:solidFill>
          <a:ln>
            <a:noFill/>
          </a:ln>
        </p:spPr>
      </p:sp>
      <p:sp>
        <p:nvSpPr>
          <p:cNvPr id="17" name="Polygon 17"/>
          <p:cNvSpPr/>
          <p:nvPr/>
        </p:nvSpPr>
        <p:spPr>
          <a:xfrm>
            <a:off x="5143500" y="3390900"/>
            <a:ext cx="1905000" cy="647700"/>
          </a:xfrm>
          <a:custGeom>
            <a:avLst/>
            <a:gdLst/>
            <a:ahLst/>
            <a:cxnLst/>
            <a:rect l="l" t="t" r="r" b="b"/>
            <a:pathLst>
              <a:path w="1905000" h="647700">
                <a:moveTo>
                  <a:pt x="0" y="152400"/>
                </a:moveTo>
                <a:lnTo>
                  <a:pt x="1524000" y="152400"/>
                </a:lnTo>
                <a:lnTo>
                  <a:pt x="1524000" y="0"/>
                </a:lnTo>
                <a:lnTo>
                  <a:pt x="1905000" y="323850"/>
                </a:lnTo>
                <a:lnTo>
                  <a:pt x="1524000" y="647700"/>
                </a:lnTo>
                <a:lnTo>
                  <a:pt x="1524000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2EAA5E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908715" y="43005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vs.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88618" y="1533049"/>
            <a:ext cx="6595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SELF JOIN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1475" y="1747838"/>
            <a:ext cx="22243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Same table, two aliases. No special keyword.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91475" y="1976438"/>
            <a:ext cx="21693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Use for: hierarchies (employee → manager),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91475" y="2109788"/>
            <a:ext cx="19192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duplicate detection, row comparisons.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91475" y="2338388"/>
            <a:ext cx="19342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Use LEFT JOIN variant to keep top-level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91475" y="2471738"/>
            <a:ext cx="17642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rows (employees with no manager).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001000" y="2876550"/>
            <a:ext cx="3429000" cy="647700"/>
          </a:xfrm>
          <a:prstGeom prst="roundRect">
            <a:avLst>
              <a:gd name="adj" fmla="val 11765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144828" y="2975134"/>
            <a:ext cx="70573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e.name,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44828" y="3127534"/>
            <a:ext cx="8677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m.name AS manager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44828" y="3279934"/>
            <a:ext cx="79574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employees 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44828" y="3432334"/>
            <a:ext cx="210540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LEFT JOIN employees m ON e.manager_id = m.id;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504825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4F4F8"/>
          </a:solidFill>
          <a:ln w="9525">
            <a:solidFill>
              <a:srgbClr val="2EAA5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51522" y="5140166"/>
            <a:ext cx="9046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CROSS JOIN tip: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08822" y="5140166"/>
            <a:ext cx="54776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Add a WHERE clause to filter the product — otherwise you generate every combination unconditionally.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1522" y="5292566"/>
            <a:ext cx="8180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SELF JOIN tip: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61198" y="5292566"/>
            <a:ext cx="49770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Always alias clearly (e for employee, m for manager) — ambiguous aliases cause subtle bugs.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23950" y="-571500"/>
            <a:ext cx="4572000" cy="3333750"/>
          </a:xfrm>
          <a:prstGeom prst="ellipse">
            <a:avLst/>
          </a:prstGeom>
          <a:solidFill>
            <a:srgbClr val="5CDB8F">
              <a:alpha val="2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201400" y="438150"/>
            <a:ext cx="647700" cy="495300"/>
          </a:xfrm>
          <a:prstGeom prst="ellipse">
            <a:avLst/>
          </a:prstGeom>
          <a:solidFill>
            <a:srgbClr val="5CDB8F">
              <a:alpha val="3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334750" y="542925"/>
            <a:ext cx="381000" cy="285750"/>
          </a:xfrm>
          <a:prstGeom prst="ellipse">
            <a:avLst/>
          </a:prstGeom>
          <a:solidFill>
            <a:srgbClr val="5CDB8F">
              <a:alpha val="5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9115" y="724852"/>
            <a:ext cx="351025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Subqueries vs JOINs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1188720"/>
            <a:ext cx="51174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Correlated subqueries re-run once per outer row — nested loop on large tables is slow.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0070" y="1350645"/>
            <a:ext cx="35212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Rewrite as a JOIN to let the optimizer handle it efficiently.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657350"/>
            <a:ext cx="5219700" cy="3810000"/>
          </a:xfrm>
          <a:prstGeom prst="roundRect">
            <a:avLst>
              <a:gd name="adj" fmla="val 35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49618" y="1837849"/>
            <a:ext cx="18404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NOT IN → LEFT JOIN + IS NULL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2475" y="2109788"/>
            <a:ext cx="7961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Before (slow):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286000"/>
            <a:ext cx="4857750" cy="723900"/>
          </a:xfrm>
          <a:prstGeom prst="roundRect">
            <a:avLst>
              <a:gd name="adj" fmla="val 789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6778" y="2384584"/>
            <a:ext cx="148432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c.name FROM customers 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6778" y="2536984"/>
            <a:ext cx="85875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WHERE c.id NOT IN (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778" y="2689384"/>
            <a:ext cx="146632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customer_id FROM orders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778" y="2841784"/>
            <a:ext cx="1161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);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2475" y="3119438"/>
            <a:ext cx="7436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After (fast):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295650"/>
            <a:ext cx="4857750" cy="723900"/>
          </a:xfrm>
          <a:prstGeom prst="roundRect">
            <a:avLst>
              <a:gd name="adj" fmla="val 789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6778" y="3394234"/>
            <a:ext cx="148432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c.name FROM customers 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6778" y="3546634"/>
            <a:ext cx="19253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LEFT JOIN orders o ON c.id = o.customer_id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6778" y="3699034"/>
            <a:ext cx="13268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WHERE o.customer_id IS NULL;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4205288"/>
            <a:ext cx="2074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The LEFT JOIN + IS NULL pattern avoids the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2475" y="4357688"/>
            <a:ext cx="22293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correlated re-execution on every outer row.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057900" y="1657350"/>
            <a:ext cx="5219700" cy="3810000"/>
          </a:xfrm>
          <a:prstGeom prst="roundRect">
            <a:avLst>
              <a:gd name="adj" fmla="val 35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236018" y="1837849"/>
            <a:ext cx="19633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EXISTS → INNER JOIN + DISTINCT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38875" y="2109788"/>
            <a:ext cx="7961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Before (slow):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48400" y="2286000"/>
            <a:ext cx="4857750" cy="723900"/>
          </a:xfrm>
          <a:prstGeom prst="roundRect">
            <a:avLst>
              <a:gd name="adj" fmla="val 789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373178" y="2384584"/>
            <a:ext cx="148432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c.name FROM customers 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73178" y="2536984"/>
            <a:ext cx="6607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WHERE EXISTS (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73178" y="2689384"/>
            <a:ext cx="102977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1 FROM orders 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73178" y="2841784"/>
            <a:ext cx="12277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WHERE o.customer_id = c.id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38875" y="3119438"/>
            <a:ext cx="7436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After (fast):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248400" y="3295650"/>
            <a:ext cx="4857750" cy="723900"/>
          </a:xfrm>
          <a:prstGeom prst="roundRect">
            <a:avLst>
              <a:gd name="adj" fmla="val 789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73178" y="3394234"/>
            <a:ext cx="103427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DISTINCT c.name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73178" y="3546634"/>
            <a:ext cx="81824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FROM customers c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73178" y="3699034"/>
            <a:ext cx="200189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INNER JOIN orders o ON c.id = o.customer_id;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38875" y="4205288"/>
            <a:ext cx="18042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INNER JOIN + DISTINCT is a single-pass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38875" y="4357688"/>
            <a:ext cx="21843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operation the optimizer handles efficiently.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69308" y="5892641"/>
            <a:ext cx="34533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Make the JOIN rewrite explicit — do not rely on optimizer magic.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1022985"/>
            <a:ext cx="88138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JOIN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2085" y="1022985"/>
            <a:ext cx="243137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Performance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1022" y="1577816"/>
            <a:ext cx="32333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Five rules for queries the optimizer can execute efficiently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2000250"/>
            <a:ext cx="40005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5CDB8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200025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33425" y="2147888"/>
            <a:ext cx="25493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Sargable condition = the optimizer can use an index.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3425" y="2319338"/>
            <a:ext cx="19042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i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Non-sargable = full scan on every row.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3425" y="2490788"/>
            <a:ext cx="30696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ON YEAR(date) = 2024 is non-sargable — rewrite as a range.</a:t>
            </a:r>
          </a:p>
        </p:txBody>
      </p:sp>
      <p:sp>
        <p:nvSpPr>
          <p:cNvPr id="12" name="Ellipse 12"/>
          <p:cNvSpPr/>
          <p:nvPr/>
        </p:nvSpPr>
        <p:spPr>
          <a:xfrm>
            <a:off x="5143500" y="155257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5257800" y="1619250"/>
            <a:ext cx="190500" cy="76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257800" y="1657350"/>
            <a:ext cx="190500" cy="13335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5257800" y="1752600"/>
            <a:ext cx="190500" cy="76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664518" y="1618774"/>
            <a:ext cx="11988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Index join columns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67375" y="1795462"/>
            <a:ext cx="32194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Foreign keys without an index cause full-table scans on every join</a:t>
            </a:r>
          </a:p>
        </p:txBody>
      </p:sp>
      <p:sp>
        <p:nvSpPr>
          <p:cNvPr id="18" name="Ellipse 18"/>
          <p:cNvSpPr/>
          <p:nvPr/>
        </p:nvSpPr>
        <p:spPr>
          <a:xfrm>
            <a:off x="5143500" y="220027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248275" y="2305050"/>
            <a:ext cx="209550" cy="20955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20" name="Line 20"/>
          <p:cNvSpPr/>
          <p:nvPr/>
        </p:nvSpPr>
        <p:spPr>
          <a:xfrm>
            <a:off x="5276850" y="2333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664518" y="2266474"/>
            <a:ext cx="16902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No functions in ON clause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7375" y="2443162"/>
            <a:ext cx="32744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ON YEAR(date) = 2024 kills index use; use a range condition instead</a:t>
            </a:r>
          </a:p>
        </p:txBody>
      </p:sp>
      <p:sp>
        <p:nvSpPr>
          <p:cNvPr id="23" name="Ellipse 23"/>
          <p:cNvSpPr/>
          <p:nvPr/>
        </p:nvSpPr>
        <p:spPr>
          <a:xfrm>
            <a:off x="5143500" y="284797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5248275" y="2962275"/>
            <a:ext cx="209550" cy="180975"/>
          </a:xfrm>
          <a:custGeom>
            <a:avLst/>
            <a:gdLst/>
            <a:ahLst/>
            <a:cxnLst/>
            <a:rect l="l" t="t" r="r" b="b"/>
            <a:pathLst>
              <a:path w="209550" h="180975">
                <a:moveTo>
                  <a:pt x="0" y="0"/>
                </a:moveTo>
                <a:lnTo>
                  <a:pt x="209550" y="0"/>
                </a:lnTo>
                <a:lnTo>
                  <a:pt x="161925" y="76200"/>
                </a:lnTo>
                <a:lnTo>
                  <a:pt x="161925" y="180975"/>
                </a:lnTo>
                <a:lnTo>
                  <a:pt x="47625" y="180975"/>
                </a:lnTo>
                <a:lnTo>
                  <a:pt x="47625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664518" y="2914174"/>
            <a:ext cx="7892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Filter early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67375" y="3090862"/>
            <a:ext cx="34244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WHERE conditions that shrink rows before joining reduce join workload</a:t>
            </a:r>
          </a:p>
        </p:txBody>
      </p:sp>
      <p:sp>
        <p:nvSpPr>
          <p:cNvPr id="27" name="Ellipse 27"/>
          <p:cNvSpPr/>
          <p:nvPr/>
        </p:nvSpPr>
        <p:spPr>
          <a:xfrm>
            <a:off x="5143500" y="349567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5267325" y="364807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9" name="Line 29"/>
          <p:cNvSpPr/>
          <p:nvPr/>
        </p:nvSpPr>
        <p:spPr>
          <a:xfrm>
            <a:off x="5267325" y="3724275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0" name="Line 30"/>
          <p:cNvSpPr/>
          <p:nvPr/>
        </p:nvSpPr>
        <p:spPr>
          <a:xfrm>
            <a:off x="5267325" y="380047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664518" y="3561874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Prefer INNER JOIN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75" y="3738562"/>
            <a:ext cx="35544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Optimizer has more freedom to reorder; avoid unnecessary OUTER JOINs</a:t>
            </a:r>
          </a:p>
        </p:txBody>
      </p:sp>
      <p:sp>
        <p:nvSpPr>
          <p:cNvPr id="33" name="Ellipse 33"/>
          <p:cNvSpPr/>
          <p:nvPr/>
        </p:nvSpPr>
        <p:spPr>
          <a:xfrm>
            <a:off x="5143500" y="414337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5248275" y="4238625"/>
            <a:ext cx="152400" cy="15240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35" name="Line 35"/>
          <p:cNvSpPr/>
          <p:nvPr/>
        </p:nvSpPr>
        <p:spPr>
          <a:xfrm>
            <a:off x="5381625" y="43719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/>
          <a:ln w="23812" cap="rnd">
            <a:solidFill>
              <a:srgbClr val="FFFFFF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664518" y="4209574"/>
            <a:ext cx="1000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Always EXPLAIN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667375" y="4386262"/>
            <a:ext cx="35794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EXPLAIN ANALYZE reveals index scan vs sequential scan — run it every time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191000" y="-400050"/>
            <a:ext cx="3810000" cy="2857500"/>
          </a:xfrm>
          <a:prstGeom prst="ellipse">
            <a:avLst/>
          </a:prstGeom>
          <a:solidFill>
            <a:srgbClr val="5CDB8F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058525" y="476250"/>
            <a:ext cx="647700" cy="495300"/>
          </a:xfrm>
          <a:prstGeom prst="ellipse">
            <a:avLst/>
          </a:prstGeom>
          <a:solidFill>
            <a:srgbClr val="5CDB8F">
              <a:alpha val="3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191875" y="581025"/>
            <a:ext cx="381000" cy="285750"/>
          </a:xfrm>
          <a:prstGeom prst="ellipse">
            <a:avLst/>
          </a:prstGeom>
          <a:solidFill>
            <a:srgbClr val="5CDB8F">
              <a:alpha val="5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6000750"/>
            <a:ext cx="533400" cy="381000"/>
          </a:xfrm>
          <a:prstGeom prst="ellipse">
            <a:avLst/>
          </a:prstGeom>
          <a:solidFill>
            <a:srgbClr val="5CDB8F">
              <a:alpha val="3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685800" y="6076950"/>
            <a:ext cx="304800" cy="228600"/>
          </a:xfrm>
          <a:prstGeom prst="ellipse">
            <a:avLst/>
          </a:prstGeom>
          <a:solidFill>
            <a:srgbClr val="5CDB8F">
              <a:alpha val="4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83363" y="851535"/>
            <a:ext cx="322527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In-Class Practice</a:t>
            </a:r>
          </a:p>
        </p:txBody>
      </p:sp>
      <p:sp>
        <p:nvSpPr>
          <p:cNvPr id="9" name="Line 9"/>
          <p:cNvSpPr/>
          <p:nvPr/>
        </p:nvSpPr>
        <p:spPr>
          <a:xfrm>
            <a:off x="4191000" y="12954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5CDB8F">
                <a:alpha val="40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905000" y="2000250"/>
            <a:ext cx="609600" cy="209550"/>
          </a:xfrm>
          <a:prstGeom prst="roundRect">
            <a:avLst>
              <a:gd name="adj" fmla="val 50000"/>
            </a:avLst>
          </a:prstGeom>
          <a:solidFill>
            <a:srgbClr val="5CDB8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097265" y="2070259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Easy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34615" y="2020252"/>
            <a:ext cx="4383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Task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93570" y="2303145"/>
            <a:ext cx="41873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Write a LEFT JOIN returning all employees and their department names,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3570" y="2474595"/>
            <a:ext cx="29332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including employees with no department assigned.</a:t>
            </a:r>
          </a:p>
        </p:txBody>
      </p:sp>
      <p:sp>
        <p:nvSpPr>
          <p:cNvPr id="15" name="Line 15"/>
          <p:cNvSpPr/>
          <p:nvPr/>
        </p:nvSpPr>
        <p:spPr>
          <a:xfrm>
            <a:off x="1905000" y="27813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905000" y="2971800"/>
            <a:ext cx="723900" cy="209550"/>
          </a:xfrm>
          <a:prstGeom prst="roundRect">
            <a:avLst>
              <a:gd name="adj" fmla="val 5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095345" y="3041809"/>
            <a:ext cx="34321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Medium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48915" y="2991802"/>
            <a:ext cx="4750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Task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93570" y="3274695"/>
            <a:ext cx="4409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Find all customers who have never placed an order — no subqueries allowed.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93570" y="3446145"/>
            <a:ext cx="39773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i="1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Hint: think about what NULL means on the right side of a LEFT JOIN.</a:t>
            </a:r>
          </a:p>
        </p:txBody>
      </p:sp>
      <p:sp>
        <p:nvSpPr>
          <p:cNvPr id="21" name="Line 21"/>
          <p:cNvSpPr/>
          <p:nvPr/>
        </p:nvSpPr>
        <p:spPr>
          <a:xfrm>
            <a:off x="1905000" y="375285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1905000" y="3943350"/>
            <a:ext cx="6096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097265" y="4013359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Hard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34615" y="3963352"/>
            <a:ext cx="4750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Task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93570" y="4246245"/>
            <a:ext cx="26091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Rewrite this correlated subquery as a JOIN: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905000" y="4495800"/>
            <a:ext cx="8382000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2047875" y="4595812"/>
            <a:ext cx="21643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c.customer_name FROM customers 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47875" y="4767262"/>
            <a:ext cx="44496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WHERE (SELECT MAX(amount) FROM orders o WHERE o.customer_id = c.customer_id) &gt; 1000;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01890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1022985"/>
            <a:ext cx="14295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Session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75510" y="1022985"/>
            <a:ext cx="16752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Summary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1022" y="1577816"/>
            <a:ext cx="13136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What we covered today.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905000"/>
            <a:ext cx="40005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4288">
            <a:solidFill>
              <a:srgbClr val="2EAA5E"/>
            </a:solidFill>
          </a:ln>
        </p:spPr>
      </p:sp>
      <p:sp>
        <p:nvSpPr>
          <p:cNvPr id="8" name="Ellipse 8"/>
          <p:cNvSpPr/>
          <p:nvPr/>
        </p:nvSpPr>
        <p:spPr>
          <a:xfrm>
            <a:off x="723900" y="2476500"/>
            <a:ext cx="304800" cy="3048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9" name="Polyline 9"/>
          <p:cNvSpPr/>
          <p:nvPr/>
        </p:nvSpPr>
        <p:spPr>
          <a:xfrm>
            <a:off x="781050" y="26289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0" name="Polyline 10"/>
          <p:cNvSpPr/>
          <p:nvPr/>
        </p:nvSpPr>
        <p:spPr>
          <a:xfrm>
            <a:off x="895350" y="2571750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0" y="0"/>
                </a:moveTo>
                <a:lnTo>
                  <a:pt x="57150" y="57150"/>
                </a:lnTo>
                <a:lnTo>
                  <a:pt x="0" y="1143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50570" y="2036445"/>
            <a:ext cx="684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Next Steps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4425" y="2471738"/>
            <a:ext cx="16942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Complete take-home exercises 4–7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4425" y="2605088"/>
            <a:ext cx="12342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 the assignment sheet.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4425" y="2814638"/>
            <a:ext cx="18992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Practice EXPLAIN on your own 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4425" y="2947988"/>
            <a:ext cx="12392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before the next session.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3428" y="3184684"/>
            <a:ext cx="180386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Next session: Window Functions and CTEs</a:t>
            </a:r>
          </a:p>
        </p:txBody>
      </p:sp>
      <p:sp>
        <p:nvSpPr>
          <p:cNvPr id="17" name="Ellipse 17"/>
          <p:cNvSpPr/>
          <p:nvPr/>
        </p:nvSpPr>
        <p:spPr>
          <a:xfrm>
            <a:off x="5162550" y="9715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8" name="Polyline 18"/>
          <p:cNvSpPr/>
          <p:nvPr/>
        </p:nvSpPr>
        <p:spPr>
          <a:xfrm>
            <a:off x="5257800" y="1066800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95250"/>
                </a:moveTo>
                <a:lnTo>
                  <a:pt x="66675" y="161925"/>
                </a:lnTo>
                <a:lnTo>
                  <a:pt x="200025" y="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646420" y="102679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48325" y="1195388"/>
            <a:ext cx="31544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Matched rows only; silent row drops are the number-one gotcha</a:t>
            </a:r>
          </a:p>
        </p:txBody>
      </p:sp>
      <p:sp>
        <p:nvSpPr>
          <p:cNvPr id="21" name="Ellipse 21"/>
          <p:cNvSpPr/>
          <p:nvPr/>
        </p:nvSpPr>
        <p:spPr>
          <a:xfrm>
            <a:off x="5162550" y="152400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2" name="Polyline 22"/>
          <p:cNvSpPr/>
          <p:nvPr/>
        </p:nvSpPr>
        <p:spPr>
          <a:xfrm>
            <a:off x="5257800" y="1619250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95250"/>
                </a:moveTo>
                <a:lnTo>
                  <a:pt x="66675" y="161925"/>
                </a:lnTo>
                <a:lnTo>
                  <a:pt x="200025" y="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646420" y="1579245"/>
            <a:ext cx="6088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LEFT JOIN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48325" y="1747838"/>
            <a:ext cx="30594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Preserve the left table; move filters to ON clause, not WHERE</a:t>
            </a:r>
          </a:p>
        </p:txBody>
      </p:sp>
      <p:sp>
        <p:nvSpPr>
          <p:cNvPr id="25" name="Ellipse 25"/>
          <p:cNvSpPr/>
          <p:nvPr/>
        </p:nvSpPr>
        <p:spPr>
          <a:xfrm>
            <a:off x="5162550" y="20764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6" name="Polyline 26"/>
          <p:cNvSpPr/>
          <p:nvPr/>
        </p:nvSpPr>
        <p:spPr>
          <a:xfrm>
            <a:off x="5257800" y="2171700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95250"/>
                </a:moveTo>
                <a:lnTo>
                  <a:pt x="66675" y="161925"/>
                </a:lnTo>
                <a:lnTo>
                  <a:pt x="200025" y="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646420" y="2131695"/>
            <a:ext cx="10183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FULL OUTER JOIN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48325" y="2300288"/>
            <a:ext cx="30394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Reconciliation and discrepancy detection across two datasets</a:t>
            </a:r>
          </a:p>
        </p:txBody>
      </p:sp>
      <p:sp>
        <p:nvSpPr>
          <p:cNvPr id="29" name="Ellipse 29"/>
          <p:cNvSpPr/>
          <p:nvPr/>
        </p:nvSpPr>
        <p:spPr>
          <a:xfrm>
            <a:off x="5162550" y="262890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0" name="Polyline 30"/>
          <p:cNvSpPr/>
          <p:nvPr/>
        </p:nvSpPr>
        <p:spPr>
          <a:xfrm>
            <a:off x="5257800" y="2724150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95250"/>
                </a:moveTo>
                <a:lnTo>
                  <a:pt x="66675" y="161925"/>
                </a:lnTo>
                <a:lnTo>
                  <a:pt x="200025" y="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646420" y="2684145"/>
            <a:ext cx="1125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CROSS / SELF JOIN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8325" y="2852738"/>
            <a:ext cx="26193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Cartesian products and same-table hierarchy queries</a:t>
            </a:r>
          </a:p>
        </p:txBody>
      </p:sp>
      <p:sp>
        <p:nvSpPr>
          <p:cNvPr id="33" name="Ellipse 33"/>
          <p:cNvSpPr/>
          <p:nvPr/>
        </p:nvSpPr>
        <p:spPr>
          <a:xfrm>
            <a:off x="5162550" y="31813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4" name="Polyline 34"/>
          <p:cNvSpPr/>
          <p:nvPr/>
        </p:nvSpPr>
        <p:spPr>
          <a:xfrm>
            <a:off x="5257800" y="3276600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95250"/>
                </a:moveTo>
                <a:lnTo>
                  <a:pt x="66675" y="161925"/>
                </a:lnTo>
                <a:lnTo>
                  <a:pt x="200025" y="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46420" y="3236595"/>
            <a:ext cx="11633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Subquery rewrites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48325" y="3405188"/>
            <a:ext cx="28544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NOT IN → LEFT JOIN + IS NULL; EXISTS → INNER JOIN + DISTINCT</a:t>
            </a:r>
          </a:p>
        </p:txBody>
      </p:sp>
      <p:sp>
        <p:nvSpPr>
          <p:cNvPr id="37" name="Ellipse 37"/>
          <p:cNvSpPr/>
          <p:nvPr/>
        </p:nvSpPr>
        <p:spPr>
          <a:xfrm>
            <a:off x="5162550" y="373380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8" name="Polyline 38"/>
          <p:cNvSpPr/>
          <p:nvPr/>
        </p:nvSpPr>
        <p:spPr>
          <a:xfrm>
            <a:off x="5257800" y="3829050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95250"/>
                </a:moveTo>
                <a:lnTo>
                  <a:pt x="66675" y="161925"/>
                </a:lnTo>
                <a:lnTo>
                  <a:pt x="200025" y="0"/>
                </a:lnTo>
              </a:path>
            </a:pathLst>
          </a:custGeom>
          <a:noFill/>
          <a:ln w="19050" cap="rnd">
            <a:solidFill>
              <a:srgbClr val="FFFFF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646420" y="3789045"/>
            <a:ext cx="8104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Performance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48325" y="3957638"/>
            <a:ext cx="32644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Index join columns; write sargable conditions; run EXPLAIN ANALYZE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