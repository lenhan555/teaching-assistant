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CDB8F"/>
              </a:gs>
              <a:gs pos="100000">
                <a:srgbClr val="1A6B3A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334250" y="-571500"/>
            <a:ext cx="5334000" cy="3429000"/>
          </a:xfrm>
          <a:prstGeom prst="ellipse">
            <a:avLst/>
          </a:prstGeom>
          <a:solidFill>
            <a:srgbClr val="5CDB8F">
              <a:alpha val="1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952500"/>
            <a:ext cx="4572000" cy="4953000"/>
          </a:xfrm>
          <a:prstGeom prst="roundRect">
            <a:avLst>
              <a:gd name="adj" fmla="val 3333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7199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30605" y="1473518"/>
            <a:ext cx="1811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SQL Training Series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5368" y="1799749"/>
            <a:ext cx="8958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Session 3 of 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7272" y="2054066"/>
            <a:ext cx="19076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Poppins"/>
                <a:ea typeface="Microsoft YaHei"/>
                <a:cs typeface="Poppins"/>
              </a:rPr>
              <a:t>Prerequisite: Basic SELECT &amp; WHERE</a:t>
            </a:r>
          </a:p>
        </p:txBody>
      </p:sp>
      <p:sp>
        <p:nvSpPr>
          <p:cNvPr id="8" name="Line 8"/>
          <p:cNvSpPr/>
          <p:nvPr/>
        </p:nvSpPr>
        <p:spPr>
          <a:xfrm>
            <a:off x="1047750" y="2333625"/>
            <a:ext cx="3714750" cy="9525"/>
          </a:xfrm>
          <a:custGeom>
            <a:avLst/>
            <a:gdLst/>
            <a:ahLst/>
            <a:cxnLst/>
            <a:rect l="l" t="t" r="r" b="b"/>
            <a:pathLst>
              <a:path w="3714750" h="952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/>
          <a:ln w="9525">
            <a:solidFill>
              <a:srgbClr val="5CDB8F">
                <a:alpha val="5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035368" y="26569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What you will learn: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320" y="2950845"/>
            <a:ext cx="2243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• INNER, LEFT, RIGHT, FULL OUTER JOIN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6320" y="3188970"/>
            <a:ext cx="1445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• CROSS JOIN &amp; Self-Join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" y="3427095"/>
            <a:ext cx="1949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• Multiple JOINs across 3+ tables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6320" y="3665220"/>
            <a:ext cx="21291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5000"/>
                  </a:srgbClr>
                </a:solidFill>
                <a:latin typeface="Poppins"/>
                <a:ea typeface="Microsoft YaHei"/>
                <a:cs typeface="Poppins"/>
              </a:rPr>
              <a:t>• Common mistakes &amp; best practices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43550" y="2019300"/>
            <a:ext cx="1706594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0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SQL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58790" y="3006090"/>
            <a:ext cx="1802130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Joins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74030" y="3897630"/>
            <a:ext cx="344345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for Beginners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04510" y="4728210"/>
            <a:ext cx="28068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Combine data from multiple tables 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04510" y="4956810"/>
            <a:ext cx="23827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the most essential skill in SQL</a:t>
            </a:r>
          </a:p>
        </p:txBody>
      </p:sp>
      <p:sp>
        <p:nvSpPr>
          <p:cNvPr id="19" name="Rectangle 19"/>
          <p:cNvSpPr/>
          <p:nvPr/>
        </p:nvSpPr>
        <p:spPr>
          <a:xfrm rot="2700000">
            <a:off x="10858500" y="60960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2EAA5E">
              <a:alpha val="6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 rot="2700000">
            <a:off x="11191875" y="6238875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5CDB8F">
              <a:alpha val="4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851535"/>
            <a:ext cx="152406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Today's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1280160"/>
            <a:ext cx="13161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Agenda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71450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894999"/>
            <a:ext cx="26640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What you will be able to do by end of class</a:t>
            </a:r>
          </a:p>
        </p:txBody>
      </p:sp>
      <p:sp>
        <p:nvSpPr>
          <p:cNvPr id="7" name="Ellipse 7"/>
          <p:cNvSpPr/>
          <p:nvPr/>
        </p:nvSpPr>
        <p:spPr>
          <a:xfrm>
            <a:off x="5124450" y="20764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298612" y="2229802"/>
            <a:ext cx="70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3565" y="2210752"/>
            <a:ext cx="2329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What is a JOIN and why it matters</a:t>
            </a:r>
          </a:p>
        </p:txBody>
      </p:sp>
      <p:sp>
        <p:nvSpPr>
          <p:cNvPr id="10" name="Ellipse 10"/>
          <p:cNvSpPr/>
          <p:nvPr/>
        </p:nvSpPr>
        <p:spPr>
          <a:xfrm>
            <a:off x="5124450" y="27432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80235" y="28965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3565" y="2820352"/>
            <a:ext cx="28900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Section 1 — INNER JOIN: matching rows only</a:t>
            </a:r>
          </a:p>
        </p:txBody>
      </p:sp>
      <p:sp>
        <p:nvSpPr>
          <p:cNvPr id="13" name="Ellipse 13"/>
          <p:cNvSpPr/>
          <p:nvPr/>
        </p:nvSpPr>
        <p:spPr>
          <a:xfrm>
            <a:off x="5124450" y="34099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280235" y="356330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3565" y="3487102"/>
            <a:ext cx="32050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Section 2 — LEFT &amp; RIGHT JOIN: preserving rows</a:t>
            </a:r>
          </a:p>
        </p:txBody>
      </p:sp>
      <p:sp>
        <p:nvSpPr>
          <p:cNvPr id="16" name="Ellipse 16"/>
          <p:cNvSpPr/>
          <p:nvPr/>
        </p:nvSpPr>
        <p:spPr>
          <a:xfrm>
            <a:off x="5124450" y="40767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280235" y="42300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3565" y="4153852"/>
            <a:ext cx="27360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Section 3 — FULL OUTER JOIN: both sides</a:t>
            </a:r>
          </a:p>
        </p:txBody>
      </p:sp>
      <p:sp>
        <p:nvSpPr>
          <p:cNvPr id="19" name="Ellipse 19"/>
          <p:cNvSpPr/>
          <p:nvPr/>
        </p:nvSpPr>
        <p:spPr>
          <a:xfrm>
            <a:off x="5124450" y="47434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280235" y="489680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3565" y="4820602"/>
            <a:ext cx="23509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Section 4 — CROSS JOIN &amp; Self-Join</a:t>
            </a:r>
          </a:p>
        </p:txBody>
      </p:sp>
      <p:sp>
        <p:nvSpPr>
          <p:cNvPr id="22" name="Ellipse 22"/>
          <p:cNvSpPr/>
          <p:nvPr/>
        </p:nvSpPr>
        <p:spPr>
          <a:xfrm>
            <a:off x="5124450" y="54102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80235" y="55635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63565" y="5487352"/>
            <a:ext cx="29390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Section 5 — Multiple JOINs &amp; best practices</a:t>
            </a:r>
          </a:p>
        </p:txBody>
      </p:sp>
      <p:sp>
        <p:nvSpPr>
          <p:cNvPr id="25" name="Ellipse 25"/>
          <p:cNvSpPr/>
          <p:nvPr/>
        </p:nvSpPr>
        <p:spPr>
          <a:xfrm>
            <a:off x="5124450" y="59817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280235" y="61350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3565" y="6058852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Wrap-up: common mistakes &amp; next steps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1333500"/>
            <a:ext cx="7620000" cy="38100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856703" y="821055"/>
            <a:ext cx="4478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By the End of This Session,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84307" y="1183005"/>
            <a:ext cx="202338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Will Be Able To</a:t>
            </a:r>
          </a:p>
        </p:txBody>
      </p:sp>
      <p:sp>
        <p:nvSpPr>
          <p:cNvPr id="6" name="Ellipse 6"/>
          <p:cNvSpPr/>
          <p:nvPr/>
        </p:nvSpPr>
        <p:spPr>
          <a:xfrm>
            <a:off x="3409950" y="17907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558054" y="19278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49065" y="1934528"/>
            <a:ext cx="3702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Explain what a JOIN does and why multiple tables exist</a:t>
            </a:r>
          </a:p>
        </p:txBody>
      </p:sp>
      <p:sp>
        <p:nvSpPr>
          <p:cNvPr id="9" name="Ellipse 9"/>
          <p:cNvSpPr/>
          <p:nvPr/>
        </p:nvSpPr>
        <p:spPr>
          <a:xfrm>
            <a:off x="3409950" y="24003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558054" y="25374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49065" y="2544128"/>
            <a:ext cx="37371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Write INNER JOIN queries to retrieve matching records</a:t>
            </a:r>
          </a:p>
        </p:txBody>
      </p:sp>
      <p:sp>
        <p:nvSpPr>
          <p:cNvPr id="12" name="Ellipse 12"/>
          <p:cNvSpPr/>
          <p:nvPr/>
        </p:nvSpPr>
        <p:spPr>
          <a:xfrm>
            <a:off x="3409950" y="30099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558054" y="31470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49065" y="3153728"/>
            <a:ext cx="3744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Write LEFT and RIGHT JOIN queries to preserve all rows</a:t>
            </a:r>
          </a:p>
        </p:txBody>
      </p:sp>
      <p:sp>
        <p:nvSpPr>
          <p:cNvPr id="15" name="Ellipse 15"/>
          <p:cNvSpPr/>
          <p:nvPr/>
        </p:nvSpPr>
        <p:spPr>
          <a:xfrm>
            <a:off x="3409950" y="36195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558054" y="37566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49065" y="3763328"/>
            <a:ext cx="3653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Use FULL OUTER JOIN to see records from both tables</a:t>
            </a:r>
          </a:p>
        </p:txBody>
      </p:sp>
      <p:sp>
        <p:nvSpPr>
          <p:cNvPr id="18" name="Ellipse 18"/>
          <p:cNvSpPr/>
          <p:nvPr/>
        </p:nvSpPr>
        <p:spPr>
          <a:xfrm>
            <a:off x="3409950" y="42291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558054" y="43662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49065" y="4372928"/>
            <a:ext cx="35971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Apply CROSS JOIN and Self-Join for special scenarios</a:t>
            </a:r>
          </a:p>
        </p:txBody>
      </p:sp>
      <p:sp>
        <p:nvSpPr>
          <p:cNvPr id="21" name="Ellipse 21"/>
          <p:cNvSpPr/>
          <p:nvPr/>
        </p:nvSpPr>
        <p:spPr>
          <a:xfrm>
            <a:off x="3409950" y="48387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558054" y="49758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49065" y="4982528"/>
            <a:ext cx="33520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Chain multiple JOINs across three or more tables</a:t>
            </a:r>
          </a:p>
        </p:txBody>
      </p:sp>
      <p:sp>
        <p:nvSpPr>
          <p:cNvPr id="24" name="Ellipse 24"/>
          <p:cNvSpPr/>
          <p:nvPr/>
        </p:nvSpPr>
        <p:spPr>
          <a:xfrm>
            <a:off x="3409950" y="54483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558054" y="558546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49065" y="5592128"/>
            <a:ext cx="3562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Identify and avoid the 4 most common JOIN mistakes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756285"/>
            <a:ext cx="7679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Why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1184910"/>
            <a:ext cx="29984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Multiple Tables?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619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847374"/>
            <a:ext cx="29241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Real databases split data to avoid repetition.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118" y="2133124"/>
            <a:ext cx="29436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Instead of repeating customer info on every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3418" y="2323624"/>
            <a:ext cx="2969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order, store customers once, reference by ID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9118" y="2609374"/>
            <a:ext cx="9413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This is called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118" y="2818924"/>
            <a:ext cx="9257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normalization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118" y="3037999"/>
            <a:ext cx="28461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Tables connect via a shared column called 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118" y="3228499"/>
            <a:ext cx="78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foreign key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9118" y="3514249"/>
            <a:ext cx="25860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A JOIN tells SQL: "combine rows where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118" y="3704749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the keys match"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9118" y="3990499"/>
            <a:ext cx="2657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Without JOINs, you cannot answer most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118" y="4180999"/>
            <a:ext cx="15069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real business questions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334000" y="1333500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AA5E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334000" y="1333500"/>
            <a:ext cx="2476500" cy="342900"/>
          </a:xfrm>
          <a:prstGeom prst="roundRect">
            <a:avLst>
              <a:gd name="adj" fmla="val 22222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334000" y="1524000"/>
            <a:ext cx="2476500" cy="15240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208336" y="1447324"/>
            <a:ext cx="727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Customers</a:t>
            </a:r>
          </a:p>
        </p:txBody>
      </p:sp>
      <p:sp>
        <p:nvSpPr>
          <p:cNvPr id="21" name="Line 21"/>
          <p:cNvSpPr/>
          <p:nvPr/>
        </p:nvSpPr>
        <p:spPr>
          <a:xfrm>
            <a:off x="5334000" y="167640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9525">
            <a:solidFill>
              <a:srgbClr val="2EAA5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465445" y="1788795"/>
            <a:ext cx="709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CustomerID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6070" y="1788795"/>
            <a:ext cx="3108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Name</a:t>
            </a:r>
          </a:p>
        </p:txBody>
      </p:sp>
      <p:sp>
        <p:nvSpPr>
          <p:cNvPr id="24" name="Line 24"/>
          <p:cNvSpPr/>
          <p:nvPr/>
        </p:nvSpPr>
        <p:spPr>
          <a:xfrm>
            <a:off x="5334000" y="1962150"/>
            <a:ext cx="2476500" cy="9525"/>
          </a:xfrm>
          <a:custGeom>
            <a:avLst/>
            <a:gdLst/>
            <a:ahLst/>
            <a:cxnLst/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9525">
            <a:solidFill>
              <a:srgbClr val="E8F8E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65445" y="2036445"/>
            <a:ext cx="588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6070" y="203644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Alice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65445" y="224599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6070" y="22459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Bob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5445" y="24555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6070" y="2455545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Carol</a:t>
            </a:r>
          </a:p>
        </p:txBody>
      </p:sp>
      <p:sp>
        <p:nvSpPr>
          <p:cNvPr id="31" name="Line 31"/>
          <p:cNvSpPr/>
          <p:nvPr/>
        </p:nvSpPr>
        <p:spPr>
          <a:xfrm>
            <a:off x="7810500" y="2095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2EAA5E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763000" y="2028825"/>
            <a:ext cx="152400" cy="133350"/>
          </a:xfrm>
          <a:custGeom>
            <a:avLst/>
            <a:gdLst/>
            <a:ahLst/>
            <a:cxnLst/>
            <a:rect l="l" t="t" r="r" b="b"/>
            <a:pathLst>
              <a:path w="152400" h="133350">
                <a:moveTo>
                  <a:pt x="0" y="0"/>
                </a:moveTo>
                <a:lnTo>
                  <a:pt x="15240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2EAA5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175903" y="1919288"/>
            <a:ext cx="3740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JOIN 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067264" y="2033588"/>
            <a:ext cx="5913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CustomerID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915400" y="1333500"/>
            <a:ext cx="27051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2EAA5E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915400" y="1333500"/>
            <a:ext cx="2705100" cy="342900"/>
          </a:xfrm>
          <a:prstGeom prst="roundRect">
            <a:avLst>
              <a:gd name="adj" fmla="val 22222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915400" y="1524000"/>
            <a:ext cx="2705100" cy="15240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016663" y="1447324"/>
            <a:ext cx="5025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Orders</a:t>
            </a:r>
          </a:p>
        </p:txBody>
      </p:sp>
      <p:sp>
        <p:nvSpPr>
          <p:cNvPr id="39" name="Line 39"/>
          <p:cNvSpPr/>
          <p:nvPr/>
        </p:nvSpPr>
        <p:spPr>
          <a:xfrm>
            <a:off x="8915400" y="1676400"/>
            <a:ext cx="2705100" cy="9525"/>
          </a:xfrm>
          <a:custGeom>
            <a:avLst/>
            <a:gdLst/>
            <a:ahLst/>
            <a:cxnLst/>
            <a:rect l="l" t="t" r="r" b="b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9525">
            <a:solidFill>
              <a:srgbClr val="2EAA5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19222" y="1796891"/>
            <a:ext cx="4390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OrderID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00272" y="1796891"/>
            <a:ext cx="650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CustomerID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943272" y="1796891"/>
            <a:ext cx="4060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Amount</a:t>
            </a:r>
          </a:p>
        </p:txBody>
      </p:sp>
      <p:sp>
        <p:nvSpPr>
          <p:cNvPr id="43" name="Line 43"/>
          <p:cNvSpPr/>
          <p:nvPr/>
        </p:nvSpPr>
        <p:spPr>
          <a:xfrm>
            <a:off x="8915400" y="1962150"/>
            <a:ext cx="2705100" cy="9525"/>
          </a:xfrm>
          <a:custGeom>
            <a:avLst/>
            <a:gdLst/>
            <a:ahLst/>
            <a:cxnLst/>
            <a:rect l="l" t="t" r="r" b="b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9525">
            <a:solidFill>
              <a:srgbClr val="E8F8EE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019222" y="2044541"/>
            <a:ext cx="1474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101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800272" y="2044541"/>
            <a:ext cx="53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943272" y="2044541"/>
            <a:ext cx="2354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1200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019222" y="2254091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102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00272" y="225409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943272" y="2254091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800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334000" y="3429000"/>
            <a:ext cx="6286500" cy="76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9525">
            <a:solidFill>
              <a:srgbClr val="2EAA5E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511165" y="3620452"/>
            <a:ext cx="9602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Key concept: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512118" y="3857149"/>
            <a:ext cx="4432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Normalization + Foreign Keys = the foundation of relational databases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1143000"/>
            <a:ext cx="7620000" cy="34290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88285" y="598170"/>
            <a:ext cx="6154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The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01300" y="979170"/>
            <a:ext cx="358940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JOIN Syntax Blueprint</a:t>
            </a:r>
          </a:p>
        </p:txBody>
      </p:sp>
      <p:sp>
        <p:nvSpPr>
          <p:cNvPr id="6" name="Rectangle 6"/>
          <p:cNvSpPr/>
          <p:nvPr/>
        </p:nvSpPr>
        <p:spPr>
          <a:xfrm>
            <a:off x="1714500" y="1476375"/>
            <a:ext cx="8763000" cy="1857375"/>
          </a:xfrm>
          <a:prstGeom prst="roundRect">
            <a:avLst>
              <a:gd name="adj" fmla="val 5128"/>
            </a:avLst>
          </a:prstGeom>
          <a:solidFill>
            <a:srgbClr val="000000">
              <a:alpha val="30000"/>
            </a:srgbClr>
          </a:solidFill>
          <a:ln w="9525">
            <a:solidFill>
              <a:srgbClr val="FFFFFF">
                <a:alpha val="9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080260" y="1661160"/>
            <a:ext cx="2894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SELECT table1.column, table2.column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80260" y="1908810"/>
            <a:ext cx="9425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FROM table1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0260" y="2156460"/>
            <a:ext cx="15594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[JOIN TYPE] table2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0260" y="2404110"/>
            <a:ext cx="3430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ON table1.shared_key = table2.shared_key;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83118" y="3037999"/>
            <a:ext cx="53229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Courier New"/>
                <a:ea typeface="Microsoft YaHei"/>
                <a:cs typeface="Courier New"/>
              </a:rPr>
              <a:t>-- [JOIN TYPE] = INNER JOIN / LEFT JOIN / RIGHT JOIN / FULL OUTER JOIN / CROSS JOIN</a:t>
            </a:r>
          </a:p>
        </p:txBody>
      </p:sp>
      <p:sp>
        <p:nvSpPr>
          <p:cNvPr id="12" name="Ellipse 12"/>
          <p:cNvSpPr/>
          <p:nvPr/>
        </p:nvSpPr>
        <p:spPr>
          <a:xfrm>
            <a:off x="1695450" y="36004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69612" y="3753802"/>
            <a:ext cx="707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16468" y="3752374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SELECT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0368" y="3752374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— which columns you want</a:t>
            </a:r>
          </a:p>
        </p:txBody>
      </p:sp>
      <p:sp>
        <p:nvSpPr>
          <p:cNvPr id="16" name="Ellipse 16"/>
          <p:cNvSpPr/>
          <p:nvPr/>
        </p:nvSpPr>
        <p:spPr>
          <a:xfrm>
            <a:off x="1695450" y="41338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851235" y="428720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16468" y="4285774"/>
            <a:ext cx="379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FROM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26068" y="4285774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— your starting (left) table</a:t>
            </a:r>
          </a:p>
        </p:txBody>
      </p:sp>
      <p:sp>
        <p:nvSpPr>
          <p:cNvPr id="20" name="Ellipse 20"/>
          <p:cNvSpPr/>
          <p:nvPr/>
        </p:nvSpPr>
        <p:spPr>
          <a:xfrm>
            <a:off x="6267450" y="36004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23235" y="375380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88468" y="3752374"/>
            <a:ext cx="15264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JOIN TYPE + table name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88468" y="3904774"/>
            <a:ext cx="20985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— which table to combine and how</a:t>
            </a:r>
          </a:p>
        </p:txBody>
      </p:sp>
      <p:sp>
        <p:nvSpPr>
          <p:cNvPr id="24" name="Ellipse 24"/>
          <p:cNvSpPr/>
          <p:nvPr/>
        </p:nvSpPr>
        <p:spPr>
          <a:xfrm>
            <a:off x="6267450" y="413385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23235" y="428720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88468" y="4285774"/>
            <a:ext cx="2022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55168" y="4285774"/>
            <a:ext cx="25925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— the condition that links the two tables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26871" y="5220652"/>
            <a:ext cx="47382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Every JOIN you ever write follows this exact skeleton — memorize it.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756285"/>
            <a:ext cx="7679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Our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1184910"/>
            <a:ext cx="22423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Sample Data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6192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799749"/>
            <a:ext cx="20660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We will use these two tables for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118" y="1990249"/>
            <a:ext cx="19360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every example in this session.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2371249"/>
            <a:ext cx="49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Notice: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0070" y="2617470"/>
            <a:ext cx="15590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Dan (ID=4) has no orders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070" y="2827020"/>
            <a:ext cx="1739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CustomerID=5 in Orders has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3017520"/>
            <a:ext cx="13010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 matching customer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0070" y="3284220"/>
            <a:ext cx="16610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These gaps are intentional 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0070" y="3474720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they reveal how each JOIN type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0070" y="3665220"/>
            <a:ext cx="19851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handles missing data differently.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9118" y="894874"/>
            <a:ext cx="727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Customers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81500" y="1066800"/>
            <a:ext cx="3429000" cy="285750"/>
          </a:xfrm>
          <a:prstGeom prst="roundRect">
            <a:avLst>
              <a:gd name="adj" fmla="val 13333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13898" y="1168241"/>
            <a:ext cx="650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CustomerID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14022" y="1168241"/>
            <a:ext cx="2981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Name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6522" y="1168241"/>
            <a:ext cx="246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City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352550"/>
            <a:ext cx="34290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513898" y="1434941"/>
            <a:ext cx="53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14022" y="1434941"/>
            <a:ext cx="2684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6522" y="1434941"/>
            <a:ext cx="384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London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381500" y="1600200"/>
            <a:ext cx="3429000" cy="24765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13898" y="168259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14022" y="1682591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6522" y="1682591"/>
            <a:ext cx="2959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Paris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381500" y="1847850"/>
            <a:ext cx="34290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513898" y="19302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14022" y="1930241"/>
            <a:ext cx="2959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Carol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66522" y="1930241"/>
            <a:ext cx="328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Berlin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81500" y="2095500"/>
            <a:ext cx="3429000" cy="24765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513898" y="217789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14022" y="2177891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Dan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6522" y="2177891"/>
            <a:ext cx="3785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Madrid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381500" y="1066800"/>
            <a:ext cx="3429000" cy="1276350"/>
          </a:xfrm>
          <a:prstGeom prst="roundRect">
            <a:avLst>
              <a:gd name="adj" fmla="val 2985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4369118" y="2704624"/>
            <a:ext cx="5025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Orders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381500" y="2876550"/>
            <a:ext cx="6858000" cy="285750"/>
          </a:xfrm>
          <a:prstGeom prst="roundRect">
            <a:avLst>
              <a:gd name="adj" fmla="val 13333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13898" y="2977991"/>
            <a:ext cx="459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OrderID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418772" y="2977991"/>
            <a:ext cx="650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CustomerID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57022" y="2977991"/>
            <a:ext cx="4656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6272" y="2977991"/>
            <a:ext cx="4252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Amount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381500" y="3162300"/>
            <a:ext cx="68580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513898" y="3244691"/>
            <a:ext cx="1474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18772" y="3244691"/>
            <a:ext cx="53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57022" y="3244691"/>
            <a:ext cx="384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Laptop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76272" y="3244691"/>
            <a:ext cx="2354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1200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381500" y="3409950"/>
            <a:ext cx="6858000" cy="24765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513898" y="3492341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102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418772" y="34923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7022" y="3492341"/>
            <a:ext cx="323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Phone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76272" y="3492341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800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381500" y="3657600"/>
            <a:ext cx="6858000" cy="2476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513898" y="3739991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103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18772" y="3739991"/>
            <a:ext cx="53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57022" y="3739991"/>
            <a:ext cx="3454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Mouse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276272" y="373999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25</a:t>
            </a:r>
          </a:p>
        </p:txBody>
      </p:sp>
      <p:sp>
        <p:nvSpPr>
          <p:cNvPr id="58" name="Rectangle 58"/>
          <p:cNvSpPr/>
          <p:nvPr/>
        </p:nvSpPr>
        <p:spPr>
          <a:xfrm>
            <a:off x="4381500" y="3905250"/>
            <a:ext cx="6858000" cy="247650"/>
          </a:xfrm>
          <a:prstGeom prst="rect">
            <a:avLst/>
          </a:prstGeom>
          <a:solidFill>
            <a:srgbClr val="FFF8E8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513898" y="3987641"/>
            <a:ext cx="1749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104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18772" y="3987641"/>
            <a:ext cx="844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5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657022" y="3987641"/>
            <a:ext cx="5050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Keyboard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276272" y="39876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75</a:t>
            </a:r>
          </a:p>
        </p:txBody>
      </p:sp>
      <p:sp>
        <p:nvSpPr>
          <p:cNvPr id="63" name="Rectangle 63"/>
          <p:cNvSpPr/>
          <p:nvPr/>
        </p:nvSpPr>
        <p:spPr>
          <a:xfrm>
            <a:off x="4381500" y="2876550"/>
            <a:ext cx="6858000" cy="1276350"/>
          </a:xfrm>
          <a:prstGeom prst="roundRect">
            <a:avLst>
              <a:gd name="adj" fmla="val 2985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64" name="Line 64"/>
          <p:cNvSpPr/>
          <p:nvPr/>
        </p:nvSpPr>
        <p:spPr>
          <a:xfrm>
            <a:off x="6096000" y="4029075"/>
            <a:ext cx="9525" cy="447675"/>
          </a:xfrm>
          <a:custGeom>
            <a:avLst/>
            <a:gdLst/>
            <a:ahLst/>
            <a:cxnLst/>
            <a:rect l="l" t="t" r="r" b="b"/>
            <a:pathLst>
              <a:path w="9525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/>
          <a:ln w="14288">
            <a:solidFill>
              <a:srgbClr val="CC3333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5238750" y="4476750"/>
            <a:ext cx="2095500" cy="342900"/>
          </a:xfrm>
          <a:prstGeom prst="roundRect">
            <a:avLst>
              <a:gd name="adj" fmla="val 16667"/>
            </a:avLst>
          </a:prstGeom>
          <a:solidFill>
            <a:srgbClr val="FFF0F0"/>
          </a:solidFill>
          <a:ln w="9525">
            <a:solidFill>
              <a:srgbClr val="CC3333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5643581" y="4606766"/>
            <a:ext cx="12858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No matching customer!</a:t>
            </a:r>
          </a:p>
        </p:txBody>
      </p:sp>
      <p:sp>
        <p:nvSpPr>
          <p:cNvPr id="67" name="Line 67"/>
          <p:cNvSpPr/>
          <p:nvPr/>
        </p:nvSpPr>
        <p:spPr>
          <a:xfrm>
            <a:off x="7810500" y="22098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14288">
            <a:solidFill>
              <a:srgbClr val="CC3333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8572500" y="207645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9525">
            <a:solidFill>
              <a:srgbClr val="CC3333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939986" y="2177891"/>
            <a:ext cx="5985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No orders!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1143000"/>
            <a:ext cx="7620000" cy="34290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26887" y="630555"/>
            <a:ext cx="15382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Section 1 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26043" y="927735"/>
            <a:ext cx="193991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6" name="Ellipse 6"/>
          <p:cNvSpPr/>
          <p:nvPr/>
        </p:nvSpPr>
        <p:spPr>
          <a:xfrm>
            <a:off x="3524250" y="2190750"/>
            <a:ext cx="2857500" cy="2857500"/>
          </a:xfrm>
          <a:prstGeom prst="ellipse">
            <a:avLst/>
          </a:prstGeom>
          <a:solidFill>
            <a:srgbClr val="1A6B3A">
              <a:alpha val="80000"/>
            </a:srgbClr>
          </a:solidFill>
          <a:ln w="23812">
            <a:solidFill>
              <a:srgbClr val="FFFFFF">
                <a:alpha val="8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5810250" y="2190750"/>
            <a:ext cx="2857500" cy="2857500"/>
          </a:xfrm>
          <a:prstGeom prst="ellipse">
            <a:avLst/>
          </a:prstGeom>
          <a:solidFill>
            <a:srgbClr val="1A6B3A">
              <a:alpha val="80000"/>
            </a:srgbClr>
          </a:solidFill>
          <a:ln w="23812">
            <a:solidFill>
              <a:srgbClr val="FFFFFF">
                <a:alpha val="8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5543550" y="2381250"/>
            <a:ext cx="1104900" cy="2476500"/>
          </a:xfrm>
          <a:prstGeom prst="ellipse">
            <a:avLst/>
          </a:prstGeom>
          <a:solidFill>
            <a:srgbClr val="2EAA5E">
              <a:alpha val="9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47856" y="3442335"/>
            <a:ext cx="8957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33276" y="366522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(left table)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6973" y="3442335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Orders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00772" y="3665220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(right table)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07170" y="3438049"/>
            <a:ext cx="5776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Matched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66215" y="3609499"/>
            <a:ext cx="6595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rows only</a:t>
            </a:r>
          </a:p>
        </p:txBody>
      </p:sp>
      <p:sp>
        <p:nvSpPr>
          <p:cNvPr id="15" name="Ellipse 15"/>
          <p:cNvSpPr/>
          <p:nvPr/>
        </p:nvSpPr>
        <p:spPr>
          <a:xfrm>
            <a:off x="9353550" y="259080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471235" y="27060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98368" y="2695099"/>
            <a:ext cx="18709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Intersection only — no extras</a:t>
            </a:r>
          </a:p>
        </p:txBody>
      </p:sp>
      <p:sp>
        <p:nvSpPr>
          <p:cNvPr id="18" name="Ellipse 18"/>
          <p:cNvSpPr/>
          <p:nvPr/>
        </p:nvSpPr>
        <p:spPr>
          <a:xfrm>
            <a:off x="9353550" y="314325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471235" y="325850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98368" y="3247549"/>
            <a:ext cx="20985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Unmatched rows silently dropped</a:t>
            </a:r>
          </a:p>
        </p:txBody>
      </p:sp>
      <p:sp>
        <p:nvSpPr>
          <p:cNvPr id="21" name="Ellipse 21"/>
          <p:cNvSpPr/>
          <p:nvPr/>
        </p:nvSpPr>
        <p:spPr>
          <a:xfrm>
            <a:off x="9353550" y="369570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71235" y="381095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98368" y="3799999"/>
            <a:ext cx="19360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Most commonly used JOIN type</a:t>
            </a:r>
          </a:p>
        </p:txBody>
      </p:sp>
      <p:sp>
        <p:nvSpPr>
          <p:cNvPr id="24" name="Ellipse 24"/>
          <p:cNvSpPr/>
          <p:nvPr/>
        </p:nvSpPr>
        <p:spPr>
          <a:xfrm>
            <a:off x="9353550" y="424815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471235" y="4363402"/>
            <a:ext cx="107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98368" y="4352449"/>
            <a:ext cx="22805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Use when: you need confirmed pairs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20907" y="5601652"/>
            <a:ext cx="41501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Think: only the intersection of two circles in a Venn diagram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804862"/>
            <a:ext cx="188437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INNER JOIN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2925" y="1185862"/>
            <a:ext cx="245144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Worked Example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571625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714500"/>
            <a:ext cx="4953000" cy="1714500"/>
          </a:xfrm>
          <a:prstGeom prst="roundRect">
            <a:avLst>
              <a:gd name="adj" fmla="val 4444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1894999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3992" y="1894999"/>
            <a:ext cx="22870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Customers.Name, Orders.Product,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2085499"/>
            <a:ext cx="1006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Orders.Amount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9618" y="2323624"/>
            <a:ext cx="379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5868" y="2323624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542699"/>
            <a:ext cx="7005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1168" y="2542699"/>
            <a:ext cx="4798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752249"/>
            <a:ext cx="2022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368" y="2752249"/>
            <a:ext cx="29306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Customers.CustomerID = Orders.CustomerID;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133249"/>
            <a:ext cx="10691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What happened: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570" y="3379470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Carol (no orders) → excluded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570" y="3569970"/>
            <a:ext cx="1691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Dan (no orders) → excluded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570" y="3760470"/>
            <a:ext cx="23751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OrderID 104 (CustomerID=5) → excluded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3950970"/>
            <a:ext cx="27111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Only Alice &amp; Bob have matches in BOTH tables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92165" y="934402"/>
            <a:ext cx="555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Result: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905500" y="1143000"/>
            <a:ext cx="5715000" cy="285750"/>
          </a:xfrm>
          <a:prstGeom prst="roundRect">
            <a:avLst>
              <a:gd name="adj" fmla="val 13333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084570" y="1236345"/>
            <a:ext cx="325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Name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18070" y="1236345"/>
            <a:ext cx="508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32570" y="1236345"/>
            <a:ext cx="46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Amount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905500" y="1428750"/>
            <a:ext cx="57150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084570" y="152209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18070" y="1522095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Laptop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32570" y="1522095"/>
            <a:ext cx="256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1200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905500" y="1714500"/>
            <a:ext cx="5715000" cy="28575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084570" y="180784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18070" y="180784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Phone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32570" y="180784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800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905500" y="2000250"/>
            <a:ext cx="57150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084570" y="209359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18070" y="2093595"/>
            <a:ext cx="376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Mouse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32570" y="20935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25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905500" y="1143000"/>
            <a:ext cx="5715000" cy="1143000"/>
          </a:xfrm>
          <a:prstGeom prst="roundRect">
            <a:avLst>
              <a:gd name="adj" fmla="val 3333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893118" y="2656999"/>
            <a:ext cx="2406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Excluded (no match in both tables):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905500" y="2857500"/>
            <a:ext cx="5715000" cy="266700"/>
          </a:xfrm>
          <a:prstGeom prst="rect">
            <a:avLst/>
          </a:pr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084570" y="2941320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Carol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18070" y="29413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—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32570" y="29413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—</a:t>
            </a:r>
          </a:p>
        </p:txBody>
      </p:sp>
      <p:sp>
        <p:nvSpPr>
          <p:cNvPr id="44" name="Line 44"/>
          <p:cNvSpPr/>
          <p:nvPr/>
        </p:nvSpPr>
        <p:spPr>
          <a:xfrm>
            <a:off x="6048375" y="3000375"/>
            <a:ext cx="1095375" cy="9525"/>
          </a:xfrm>
          <a:custGeom>
            <a:avLst/>
            <a:gdLst/>
            <a:ahLst/>
            <a:cxnLst/>
            <a:rect l="l" t="t" r="r" b="b"/>
            <a:pathLst>
              <a:path w="1095375" h="9525">
                <a:moveTo>
                  <a:pt x="0" y="0"/>
                </a:moveTo>
                <a:lnTo>
                  <a:pt x="1095375" y="0"/>
                </a:lnTo>
              </a:path>
            </a:pathLst>
          </a:custGeom>
          <a:noFill/>
          <a:ln w="14288">
            <a:solidFill>
              <a:srgbClr val="CC3333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5905500" y="3124200"/>
            <a:ext cx="5715000" cy="266700"/>
          </a:xfrm>
          <a:prstGeom prst="rect">
            <a:avLst/>
          </a:prstGeom>
          <a:solidFill>
            <a:srgbClr val="FFF0F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084570" y="32080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Dan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418070" y="32080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—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32570" y="32080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—</a:t>
            </a:r>
          </a:p>
        </p:txBody>
      </p:sp>
      <p:sp>
        <p:nvSpPr>
          <p:cNvPr id="49" name="Line 49"/>
          <p:cNvSpPr/>
          <p:nvPr/>
        </p:nvSpPr>
        <p:spPr>
          <a:xfrm>
            <a:off x="6048375" y="3267075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14288">
            <a:solidFill>
              <a:srgbClr val="CC3333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5905500" y="3390900"/>
            <a:ext cx="5715000" cy="266700"/>
          </a:xfrm>
          <a:prstGeom prst="rect">
            <a:avLst/>
          </a:prstGeom>
          <a:solidFill>
            <a:srgbClr val="FFF0F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084570" y="347472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418070" y="3474720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Keyboard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132570" y="34747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75</a:t>
            </a:r>
          </a:p>
        </p:txBody>
      </p:sp>
      <p:sp>
        <p:nvSpPr>
          <p:cNvPr id="54" name="Line 54"/>
          <p:cNvSpPr/>
          <p:nvPr/>
        </p:nvSpPr>
        <p:spPr>
          <a:xfrm>
            <a:off x="6048375" y="3533775"/>
            <a:ext cx="5381625" cy="9525"/>
          </a:xfrm>
          <a:custGeom>
            <a:avLst/>
            <a:gdLst/>
            <a:ahLst/>
            <a:cxnLst/>
            <a:rect l="l" t="t" r="r" b="b"/>
            <a:pathLst>
              <a:path w="5381625" h="9525">
                <a:moveTo>
                  <a:pt x="0" y="0"/>
                </a:moveTo>
                <a:lnTo>
                  <a:pt x="5381625" y="0"/>
                </a:lnTo>
              </a:path>
            </a:pathLst>
          </a:custGeom>
          <a:noFill/>
          <a:ln w="14288">
            <a:solidFill>
              <a:srgbClr val="CC3333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5905500" y="4000500"/>
            <a:ext cx="5715000" cy="571500"/>
          </a:xfrm>
          <a:prstGeom prst="roundRect">
            <a:avLst>
              <a:gd name="adj" fmla="val 13333"/>
            </a:avLst>
          </a:prstGeom>
          <a:solidFill>
            <a:srgbClr val="E8F8EE"/>
          </a:solidFill>
          <a:ln w="9525">
            <a:solidFill>
              <a:srgbClr val="2EAA5E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6083618" y="4161949"/>
            <a:ext cx="33284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INNER JOIN = only rows with a match on BOTH sides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084570" y="4360545"/>
            <a:ext cx="22311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 match → row disappears completely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1143000"/>
            <a:ext cx="7620000" cy="34290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95958" y="678180"/>
            <a:ext cx="12000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In-Class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93711" y="1007745"/>
            <a:ext cx="340457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Practice: INNER JOIN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524000"/>
            <a:ext cx="5143500" cy="2095500"/>
          </a:xfrm>
          <a:prstGeom prst="roundRect">
            <a:avLst>
              <a:gd name="adj" fmla="val 5455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4415" y="1744028"/>
            <a:ext cx="1518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Exercise 1 — Warm-up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5368" y="2009299"/>
            <a:ext cx="28526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Write a query that returns each customer's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5368" y="2218849"/>
            <a:ext cx="21310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Name and the Amount they spent.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368" y="2428399"/>
            <a:ext cx="2638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Only include customers who have at least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5368" y="26379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one order.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" y="29508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Hint: INNER JOIN Orders ON 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6320" y="3141345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Start with SELECT, FROM Customers, then JOIN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3810000"/>
            <a:ext cx="5143500" cy="1714500"/>
          </a:xfrm>
          <a:prstGeom prst="roundRect">
            <a:avLst>
              <a:gd name="adj" fmla="val 6667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4415" y="4030028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Exercise 2 — Stretch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5368" y="4295299"/>
            <a:ext cx="2306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Modify Exercise 1 to also include the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368" y="4504849"/>
            <a:ext cx="1058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Product column.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5368" y="4714399"/>
            <a:ext cx="25405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Sort the results by Amount descending.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320" y="5046345"/>
            <a:ext cx="23571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Hint: add ORDER BY Orders.Amount DESC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55118" y="1609249"/>
            <a:ext cx="20315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Expected output (Exercise 1):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0" y="1828800"/>
            <a:ext cx="45720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845618" y="1971199"/>
            <a:ext cx="871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Name Amount</a:t>
            </a:r>
          </a:p>
        </p:txBody>
      </p:sp>
      <p:sp>
        <p:nvSpPr>
          <p:cNvPr id="23" name="Line 23"/>
          <p:cNvSpPr/>
          <p:nvPr/>
        </p:nvSpPr>
        <p:spPr>
          <a:xfrm>
            <a:off x="6858000" y="21526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rgbClr val="5CDB8F">
                <a:alpha val="5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845618" y="2256949"/>
            <a:ext cx="6098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Alice 1200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45618" y="2466499"/>
            <a:ext cx="49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Bob 800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45618" y="2676049"/>
            <a:ext cx="4993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Alice 25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47522" y="2958941"/>
            <a:ext cx="22157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3 rows returned — Carol and Dan excluded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045613" y="6085999"/>
            <a:ext cx="41007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i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Raise your hand when you have the correct output for Exercise 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804862"/>
            <a:ext cx="172685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Section 2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1137285"/>
            <a:ext cx="18265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LEFT JOIN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571625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799749"/>
            <a:ext cx="25015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Returns ALL rows from the left table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118" y="2028349"/>
            <a:ext cx="27811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Matching rows from the right table added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2256949"/>
            <a:ext cx="2566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If right table has no match → NULL fills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9118" y="2485549"/>
            <a:ext cx="18774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Left table is never filtered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118" y="2847499"/>
            <a:ext cx="6936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Use when: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118" y="3076099"/>
            <a:ext cx="2306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"Show me all customers, even those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118" y="3304699"/>
            <a:ext cx="20725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who have never placed an order"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238250"/>
            <a:ext cx="5048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2EAA5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63819" y="1373505"/>
            <a:ext cx="107436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100%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4178" y="1958816"/>
            <a:ext cx="15336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Left table rows always kept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2667000"/>
            <a:ext cx="5048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2EAA5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400811" y="2849880"/>
            <a:ext cx="120037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NULL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63657" y="3416141"/>
            <a:ext cx="18746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Fills unmatched right-side columns</a:t>
            </a:r>
          </a:p>
        </p:txBody>
      </p:sp>
      <p:sp>
        <p:nvSpPr>
          <p:cNvPr id="19" name="Ellipse 19"/>
          <p:cNvSpPr/>
          <p:nvPr/>
        </p:nvSpPr>
        <p:spPr>
          <a:xfrm>
            <a:off x="6381750" y="4286250"/>
            <a:ext cx="1333500" cy="1333500"/>
          </a:xfrm>
          <a:prstGeom prst="ellipse">
            <a:avLst/>
          </a:prstGeom>
          <a:solidFill>
            <a:srgbClr val="2EAA5E">
              <a:alpha val="75000"/>
            </a:srgbClr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7258050" y="4362450"/>
            <a:ext cx="533400" cy="1181100"/>
          </a:xfrm>
          <a:prstGeom prst="ellipse">
            <a:avLst/>
          </a:prstGeom>
          <a:solidFill>
            <a:srgbClr val="5CDB8F">
              <a:alpha val="50000"/>
            </a:srgbClr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7143750" y="4286250"/>
            <a:ext cx="1333500" cy="1333500"/>
          </a:xfrm>
          <a:prstGeom prst="ellipse">
            <a:avLst/>
          </a:prstGeom>
          <a:noFill/>
          <a:ln w="19050">
            <a:solidFill>
              <a:srgbClr val="2EAA5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26507" y="4911566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Left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38755" y="4911566"/>
            <a:ext cx="2959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Right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2419" y="5713095"/>
            <a:ext cx="2435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Left fully filled = all left rows preserved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1143000"/>
            <a:ext cx="7620000" cy="34290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678180"/>
            <a:ext cx="16705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LEFT JOIN 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1007745"/>
            <a:ext cx="261487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Worked Example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476375"/>
            <a:ext cx="4953000" cy="1905000"/>
          </a:xfrm>
          <a:prstGeom prst="roundRect">
            <a:avLst>
              <a:gd name="adj" fmla="val 4000"/>
            </a:avLst>
          </a:prstGeom>
          <a:solidFill>
            <a:srgbClr val="000000">
              <a:alpha val="30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8218" y="1637824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3068" y="1637824"/>
            <a:ext cx="22870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Customers.Name, Orders.Product,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8218" y="1837849"/>
            <a:ext cx="1006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Orders.Amount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8218" y="2066449"/>
            <a:ext cx="379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4468" y="2066449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8218" y="2285524"/>
            <a:ext cx="6595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LEFT JOIN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4518" y="2285524"/>
            <a:ext cx="4798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218" y="2504599"/>
            <a:ext cx="2022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3968" y="2504599"/>
            <a:ext cx="29306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Customers.CustomerID = Orders.CustomerID;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609499"/>
            <a:ext cx="8233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Key insight: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618" y="3847624"/>
            <a:ext cx="25795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Carol &amp; Dan appear with NULL — LEFT JOIN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618" y="4057174"/>
            <a:ext cx="30216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preserved them even without matching orders.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74118" y="1371124"/>
            <a:ext cx="24888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Result (5 rows — notice Carol &amp; Dan):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571625"/>
            <a:ext cx="5334000" cy="285750"/>
          </a:xfrm>
          <a:prstGeom prst="roundRect">
            <a:avLst>
              <a:gd name="adj" fmla="val 13333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27470" y="1664970"/>
            <a:ext cx="325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08570" y="1664970"/>
            <a:ext cx="508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23070" y="1664970"/>
            <a:ext cx="46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Amount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857375"/>
            <a:ext cx="5334000" cy="2667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27470" y="194119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08570" y="1941195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Laptop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23070" y="1941195"/>
            <a:ext cx="256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1200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2124075"/>
            <a:ext cx="5334000" cy="2667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427470" y="2207895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08570" y="2207895"/>
            <a:ext cx="376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Mouse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23070" y="22078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25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2390775"/>
            <a:ext cx="5334000" cy="2667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427470" y="24745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08570" y="2474595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Phone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23070" y="24745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800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286500" y="2657475"/>
            <a:ext cx="5334000" cy="266700"/>
          </a:xfrm>
          <a:prstGeom prst="rect">
            <a:avLst/>
          </a:prstGeom>
          <a:solidFill>
            <a:srgbClr val="5CDB8F">
              <a:alpha val="25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427470" y="2741295"/>
            <a:ext cx="337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Carol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608570" y="2741295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23070" y="2741295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86500" y="2924175"/>
            <a:ext cx="5334000" cy="266700"/>
          </a:xfrm>
          <a:prstGeom prst="rect">
            <a:avLst/>
          </a:prstGeom>
          <a:solidFill>
            <a:srgbClr val="5CDB8F">
              <a:alpha val="15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427470" y="3007995"/>
            <a:ext cx="2307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Dan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608570" y="3007995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23070" y="3007995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44" name="Line 44"/>
          <p:cNvSpPr/>
          <p:nvPr/>
        </p:nvSpPr>
        <p:spPr>
          <a:xfrm>
            <a:off x="11620500" y="247650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4953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5CDB8F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1657648" y="2720816"/>
            <a:ext cx="6590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← Preserved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657648" y="2863691"/>
            <a:ext cx="6865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by LEFT JOIN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96389" y="6578441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804862"/>
            <a:ext cx="188437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RIGHT JOIN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2925" y="1185862"/>
            <a:ext cx="264047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The Mirror Image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57162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799749"/>
            <a:ext cx="257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Returns ALL rows from the right table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118" y="20283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Symmetric to LEFT JOIN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2256949"/>
            <a:ext cx="2547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No match on left → left columns = NULL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9118" y="2561749"/>
            <a:ext cx="2909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Tip: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118" y="2790349"/>
            <a:ext cx="24560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Most developers rewrite RIGHT JOIN 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118" y="3018949"/>
            <a:ext cx="2248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LEFT JOIN by swapping table order.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118" y="324754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Same result — easier to read.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3600450"/>
            <a:ext cx="4191000" cy="47625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9525">
            <a:solidFill>
              <a:srgbClr val="E89C2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50570" y="3712845"/>
            <a:ext cx="25620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Note: SQLite does not support RIGHT JOIN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21618" y="942499"/>
            <a:ext cx="2939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These two queries return identical results: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334000" y="1143000"/>
            <a:ext cx="2857500" cy="1428750"/>
          </a:xfrm>
          <a:prstGeom prst="roundRect">
            <a:avLst>
              <a:gd name="adj" fmla="val 5333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514022" y="1320641"/>
            <a:ext cx="9161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Using RIGHT JOIN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13070" y="1541145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*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13070" y="17316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Customers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13070" y="192214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RIGHT JOIN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13070" y="2112645"/>
            <a:ext cx="7369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 ON 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31620" y="1678305"/>
            <a:ext cx="2150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=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763000" y="1143000"/>
            <a:ext cx="2857500" cy="1428750"/>
          </a:xfrm>
          <a:prstGeom prst="roundRect">
            <a:avLst>
              <a:gd name="adj" fmla="val 5333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943022" y="1320641"/>
            <a:ext cx="16150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Using LEFT JOIN (preferred)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42070" y="1541145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SELECT *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42070" y="17316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Orders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42070" y="1922145"/>
            <a:ext cx="6088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LEFT JOIN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42070" y="2112645"/>
            <a:ext cx="9349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 ON …</a:t>
            </a:r>
          </a:p>
        </p:txBody>
      </p:sp>
      <p:sp>
        <p:nvSpPr>
          <p:cNvPr id="29" name="Ellipse 29"/>
          <p:cNvSpPr/>
          <p:nvPr/>
        </p:nvSpPr>
        <p:spPr>
          <a:xfrm>
            <a:off x="6191250" y="3714750"/>
            <a:ext cx="1333500" cy="1333500"/>
          </a:xfrm>
          <a:prstGeom prst="ellipse">
            <a:avLst/>
          </a:prstGeom>
          <a:noFill/>
          <a:ln w="19050">
            <a:solidFill>
              <a:srgbClr val="2EAA5E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6972300" y="3790950"/>
            <a:ext cx="533400" cy="1181100"/>
          </a:xfrm>
          <a:prstGeom prst="ellipse">
            <a:avLst/>
          </a:prstGeom>
          <a:solidFill>
            <a:srgbClr val="5CDB8F">
              <a:alpha val="40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953250" y="3714750"/>
            <a:ext cx="1333500" cy="1333500"/>
          </a:xfrm>
          <a:prstGeom prst="ellipse">
            <a:avLst/>
          </a:prstGeom>
          <a:solidFill>
            <a:srgbClr val="2EAA5E">
              <a:alpha val="70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36007" y="4340066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Left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62505" y="4340066"/>
            <a:ext cx="2959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Right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23470" y="5189220"/>
            <a:ext cx="16310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Right circle fully preserved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5829300" y="447675"/>
            <a:ext cx="533400" cy="5334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40391" y="612458"/>
            <a:ext cx="1112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94571" y="1059180"/>
            <a:ext cx="18028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Watch Out 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91658" y="1392555"/>
            <a:ext cx="20086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The NULL Trap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857375"/>
            <a:ext cx="5334000" cy="2857500"/>
          </a:xfrm>
          <a:prstGeom prst="roundRect">
            <a:avLst>
              <a:gd name="adj" fmla="val 2667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857375"/>
            <a:ext cx="5334000" cy="285750"/>
          </a:xfrm>
          <a:prstGeom prst="roundRect">
            <a:avLst>
              <a:gd name="adj" fmla="val 26667"/>
            </a:avLst>
          </a:prstGeom>
          <a:solidFill>
            <a:srgbClr val="CC3333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000250"/>
            <a:ext cx="5334000" cy="142875"/>
          </a:xfrm>
          <a:prstGeom prst="rect">
            <a:avLst/>
          </a:prstGeom>
          <a:solidFill>
            <a:srgbClr val="CC333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53083" y="195214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✗ WRONG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2265045"/>
            <a:ext cx="2519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-- Silently converts LEFT JOIN → INNER JOIN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493645"/>
            <a:ext cx="4387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8270" y="2493645"/>
            <a:ext cx="2003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Customers.Name, Orders.Amount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703195"/>
            <a:ext cx="350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7770" y="2703195"/>
            <a:ext cx="640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570" y="2912745"/>
            <a:ext cx="6088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LEFT JOIN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88770" y="2912745"/>
            <a:ext cx="8689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 ON ...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570" y="3122295"/>
            <a:ext cx="3946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WHERE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3020" y="3122295"/>
            <a:ext cx="2147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Orders.Amount &gt; 100; -- kills NULLs!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570" y="3474720"/>
            <a:ext cx="18950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Result: Carol and Dan disappear!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3665220"/>
            <a:ext cx="23691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WHERE filters out NULL rows → LEFT JOIN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570" y="3855720"/>
            <a:ext cx="1355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behaves like INNER JOIN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86500" y="1857375"/>
            <a:ext cx="5334000" cy="2857500"/>
          </a:xfrm>
          <a:prstGeom prst="roundRect">
            <a:avLst>
              <a:gd name="adj" fmla="val 2667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86500" y="1857375"/>
            <a:ext cx="5334000" cy="285750"/>
          </a:xfrm>
          <a:prstGeom prst="roundRect">
            <a:avLst>
              <a:gd name="adj" fmla="val 26667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2000250"/>
            <a:ext cx="5334000" cy="142875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606651" y="1952149"/>
            <a:ext cx="6936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 CORRECT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5570" y="2265045"/>
            <a:ext cx="16130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-- Move filter to ON clause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5570" y="2493645"/>
            <a:ext cx="4387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3270" y="2493645"/>
            <a:ext cx="2003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Customers.Name, Orders.Amount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65570" y="2703195"/>
            <a:ext cx="350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22770" y="2703195"/>
            <a:ext cx="640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65570" y="2912745"/>
            <a:ext cx="6088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LEFT JOIN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03770" y="2912745"/>
            <a:ext cx="442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65570" y="31222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1320" y="3122295"/>
            <a:ext cx="26391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Customers.CustomerID = Orders.CustomerID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6070" y="3331845"/>
            <a:ext cx="2307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AND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56120" y="333184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Orders.Amount &gt; 100; -- stays in 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65570" y="3665220"/>
            <a:ext cx="25611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Result: Carol and Dan still appear with NULL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65570" y="3855720"/>
            <a:ext cx="2429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Filter applies only to right-side matching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314769" y="5077778"/>
            <a:ext cx="35624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Rule: Filter right-table columns in ON, not WHERE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756285"/>
            <a:ext cx="14295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1184910"/>
            <a:ext cx="16752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Summary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6192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894999"/>
            <a:ext cx="10691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Key takeaways: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118" y="2161699"/>
            <a:ext cx="16954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INNER = intersection only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239029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LEFT = left table is the boss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9118" y="2618899"/>
            <a:ext cx="20270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RIGHT = right table is the boss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118" y="2847499"/>
            <a:ext cx="24365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(prefer LEFT — just swap table order)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118" y="3152299"/>
            <a:ext cx="25210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NULL in result = no match on that side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118" y="3457099"/>
            <a:ext cx="2657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Filter right-table cols in ON, not WHERE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762500" y="857250"/>
            <a:ext cx="6858000" cy="304800"/>
          </a:xfrm>
          <a:prstGeom prst="roundRect">
            <a:avLst>
              <a:gd name="adj" fmla="val 125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942522" y="977741"/>
            <a:ext cx="5580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JOIN Type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80772" y="977741"/>
            <a:ext cx="9392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Left rows kept?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9522" y="977741"/>
            <a:ext cx="9739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Right rows kept?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24022" y="977741"/>
            <a:ext cx="586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Use when…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762500" y="1162050"/>
            <a:ext cx="6858000" cy="571500"/>
          </a:xfrm>
          <a:prstGeom prst="rect">
            <a:avLst/>
          </a:prstGeom>
          <a:solidFill>
            <a:srgbClr val="EEF4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941570" y="131254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79820" y="1312545"/>
            <a:ext cx="802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Only matched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08570" y="1312545"/>
            <a:ext cx="802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Only matched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24022" y="1320641"/>
            <a:ext cx="1390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Need confirmed pairs only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762500" y="1733550"/>
            <a:ext cx="6858000" cy="5715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941570" y="1884045"/>
            <a:ext cx="6088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LEFT JOIN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9820" y="1884045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08570" y="1884045"/>
            <a:ext cx="802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Only matched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24022" y="1892141"/>
            <a:ext cx="15446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Preserve master list on left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62500" y="2305050"/>
            <a:ext cx="6858000" cy="666750"/>
          </a:xfrm>
          <a:prstGeom prst="rect">
            <a:avLst/>
          </a:prstGeom>
          <a:solidFill>
            <a:srgbClr val="FFFFF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941570" y="249364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RIGHT JOIN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79820" y="2493645"/>
            <a:ext cx="802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Only matched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08570" y="2493645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24022" y="2463641"/>
            <a:ext cx="14896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Preserve right list (prefer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24022" y="2635091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LEFT instead)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762500" y="857250"/>
            <a:ext cx="6858000" cy="2114550"/>
          </a:xfrm>
          <a:prstGeom prst="roundRect">
            <a:avLst>
              <a:gd name="adj" fmla="val 1802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35" name="Line 35"/>
          <p:cNvSpPr/>
          <p:nvPr/>
        </p:nvSpPr>
        <p:spPr>
          <a:xfrm>
            <a:off x="6096000" y="857250"/>
            <a:ext cx="9525" cy="2114550"/>
          </a:xfrm>
          <a:custGeom>
            <a:avLst/>
            <a:gdLst/>
            <a:ahLst/>
            <a:cxnLst/>
            <a:rect l="l" t="t" r="r" b="b"/>
            <a:pathLst>
              <a:path w="9525" h="2114550">
                <a:moveTo>
                  <a:pt x="0" y="0"/>
                </a:moveTo>
                <a:lnTo>
                  <a:pt x="0" y="2114550"/>
                </a:lnTo>
              </a:path>
            </a:pathLst>
          </a:custGeom>
          <a:noFill/>
          <a:ln w="9525">
            <a:solidFill>
              <a:srgbClr val="2EAA5E">
                <a:alpha val="30000"/>
              </a:srgbClr>
            </a:solidFill>
          </a:ln>
        </p:spPr>
      </p:sp>
      <p:sp>
        <p:nvSpPr>
          <p:cNvPr id="36" name="Line 36"/>
          <p:cNvSpPr/>
          <p:nvPr/>
        </p:nvSpPr>
        <p:spPr>
          <a:xfrm>
            <a:off x="7524750" y="857250"/>
            <a:ext cx="9525" cy="2114550"/>
          </a:xfrm>
          <a:custGeom>
            <a:avLst/>
            <a:gdLst/>
            <a:ahLst/>
            <a:cxnLst/>
            <a:rect l="l" t="t" r="r" b="b"/>
            <a:pathLst>
              <a:path w="9525" h="2114550">
                <a:moveTo>
                  <a:pt x="0" y="0"/>
                </a:moveTo>
                <a:lnTo>
                  <a:pt x="0" y="2114550"/>
                </a:lnTo>
              </a:path>
            </a:pathLst>
          </a:custGeom>
          <a:noFill/>
          <a:ln w="9525">
            <a:solidFill>
              <a:srgbClr val="2EAA5E">
                <a:alpha val="30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9239250" y="857250"/>
            <a:ext cx="9525" cy="2114550"/>
          </a:xfrm>
          <a:custGeom>
            <a:avLst/>
            <a:gdLst/>
            <a:ahLst/>
            <a:cxnLst/>
            <a:rect l="l" t="t" r="r" b="b"/>
            <a:pathLst>
              <a:path w="9525" h="2114550">
                <a:moveTo>
                  <a:pt x="0" y="0"/>
                </a:moveTo>
                <a:lnTo>
                  <a:pt x="0" y="2114550"/>
                </a:lnTo>
              </a:path>
            </a:pathLst>
          </a:custGeom>
          <a:noFill/>
          <a:ln w="9525">
            <a:solidFill>
              <a:srgbClr val="2EAA5E">
                <a:alpha val="3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1143000"/>
            <a:ext cx="7620000" cy="34290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47695" y="646748"/>
            <a:ext cx="14966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Section 3 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53289" y="943928"/>
            <a:ext cx="288542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FULL OUTER JOIN</a:t>
            </a:r>
          </a:p>
        </p:txBody>
      </p:sp>
      <p:sp>
        <p:nvSpPr>
          <p:cNvPr id="6" name="Ellipse 6"/>
          <p:cNvSpPr/>
          <p:nvPr/>
        </p:nvSpPr>
        <p:spPr>
          <a:xfrm>
            <a:off x="3524250" y="2000250"/>
            <a:ext cx="2667000" cy="2667000"/>
          </a:xfrm>
          <a:prstGeom prst="ellipse">
            <a:avLst/>
          </a:prstGeom>
          <a:solidFill>
            <a:srgbClr val="2EAA5E">
              <a:alpha val="8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810250" y="2000250"/>
            <a:ext cx="2667000" cy="2667000"/>
          </a:xfrm>
          <a:prstGeom prst="ellipse">
            <a:avLst/>
          </a:prstGeom>
          <a:solidFill>
            <a:srgbClr val="5CDB8F">
              <a:alpha val="7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524250" y="2000250"/>
            <a:ext cx="2667000" cy="266700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5810250" y="2000250"/>
            <a:ext cx="2667000" cy="266700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608593" y="3172778"/>
            <a:ext cx="783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68232" y="3368516"/>
            <a:ext cx="6645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(left table)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30383" y="3172778"/>
            <a:ext cx="5412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Orders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38478" y="3368516"/>
            <a:ext cx="7250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A1A2E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(right table)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25572" y="3180874"/>
            <a:ext cx="5503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All rows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53901" y="3371374"/>
            <a:ext cx="6936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from both</a:t>
            </a:r>
          </a:p>
        </p:txBody>
      </p:sp>
      <p:sp>
        <p:nvSpPr>
          <p:cNvPr id="16" name="Ellipse 16"/>
          <p:cNvSpPr/>
          <p:nvPr/>
        </p:nvSpPr>
        <p:spPr>
          <a:xfrm>
            <a:off x="9353550" y="259080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73160" y="27060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98368" y="2695099"/>
            <a:ext cx="1441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Compare two datasets</a:t>
            </a:r>
          </a:p>
        </p:txBody>
      </p:sp>
      <p:sp>
        <p:nvSpPr>
          <p:cNvPr id="19" name="Ellipse 19"/>
          <p:cNvSpPr/>
          <p:nvPr/>
        </p:nvSpPr>
        <p:spPr>
          <a:xfrm>
            <a:off x="9353550" y="314325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473160" y="32585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98368" y="3247549"/>
            <a:ext cx="19620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Find mismatches on either side</a:t>
            </a:r>
          </a:p>
        </p:txBody>
      </p:sp>
      <p:sp>
        <p:nvSpPr>
          <p:cNvPr id="22" name="Ellipse 22"/>
          <p:cNvSpPr/>
          <p:nvPr/>
        </p:nvSpPr>
        <p:spPr>
          <a:xfrm>
            <a:off x="9353550" y="369570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73160" y="3810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98368" y="379999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Reconcile two data sources</a:t>
            </a:r>
          </a:p>
        </p:txBody>
      </p:sp>
      <p:sp>
        <p:nvSpPr>
          <p:cNvPr id="25" name="Ellipse 25"/>
          <p:cNvSpPr/>
          <p:nvPr/>
        </p:nvSpPr>
        <p:spPr>
          <a:xfrm>
            <a:off x="9353550" y="4400550"/>
            <a:ext cx="342900" cy="342900"/>
          </a:xfrm>
          <a:prstGeom prst="ellipse">
            <a:avLst/>
          </a:prstGeom>
          <a:solidFill>
            <a:srgbClr val="E89C2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495568" y="4531995"/>
            <a:ext cx="588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!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99320" y="4512945"/>
            <a:ext cx="16010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Not in SQLite / MySQL &lt;8.0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99320" y="4665345"/>
            <a:ext cx="18770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Use UNION workaround (Slide 17)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725805"/>
            <a:ext cx="26261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FULL OUTER JOIN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4830" y="1087755"/>
            <a:ext cx="228801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Worked Example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571625"/>
            <a:ext cx="4953000" cy="1571625"/>
          </a:xfrm>
          <a:prstGeom prst="roundRect">
            <a:avLst>
              <a:gd name="adj" fmla="val 4848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0570" y="1731645"/>
            <a:ext cx="4387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8270" y="1731645"/>
            <a:ext cx="21111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Customers.Name, Orders.Product,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570" y="1922145"/>
            <a:ext cx="9289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Orders.Amount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570" y="2131695"/>
            <a:ext cx="350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770" y="2131695"/>
            <a:ext cx="640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341245"/>
            <a:ext cx="10183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FULL OUTER JOIN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9320" y="2341245"/>
            <a:ext cx="442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5507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6320" y="2550795"/>
            <a:ext cx="2705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Customers.CustomerID = Orders.CustomerID;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9118" y="3304699"/>
            <a:ext cx="17721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Three zones in the result: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3524250"/>
            <a:ext cx="152400" cy="15240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07720" y="3560445"/>
            <a:ext cx="2651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Zone 1 — Matched rows (Alice, Bob): full data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790950"/>
            <a:ext cx="152400" cy="1524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07720" y="3827145"/>
            <a:ext cx="35152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Zone 2 — Left-only (Carol, Dan): Name filled, Orders = NULL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057650"/>
            <a:ext cx="152400" cy="152400"/>
          </a:xfrm>
          <a:prstGeom prst="rect">
            <a:avLst/>
          </a:prstGeom>
          <a:solidFill>
            <a:srgbClr val="E89C2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07720" y="4093845"/>
            <a:ext cx="34492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Zone 3 — Right-only (CustID=5): Name = NULL, Orders filled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905500" y="857250"/>
            <a:ext cx="5715000" cy="304800"/>
          </a:xfrm>
          <a:prstGeom prst="roundRect">
            <a:avLst>
              <a:gd name="adj" fmla="val 125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065520" y="969645"/>
            <a:ext cx="325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Name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18070" y="969645"/>
            <a:ext cx="508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3070" y="969645"/>
            <a:ext cx="46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Amount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1162050"/>
            <a:ext cx="5715000" cy="2667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905500" y="1162050"/>
            <a:ext cx="47625" cy="26670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065520" y="1245870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18070" y="1245870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Laptop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23070" y="1245870"/>
            <a:ext cx="256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1200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905500" y="1428750"/>
            <a:ext cx="5715000" cy="2667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905500" y="1428750"/>
            <a:ext cx="47625" cy="26670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065520" y="1512570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18070" y="1512570"/>
            <a:ext cx="376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Mouse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23070" y="15125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25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905500" y="1695450"/>
            <a:ext cx="5715000" cy="2667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5905500" y="1695450"/>
            <a:ext cx="47625" cy="26670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065520" y="177927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18070" y="177927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Phone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23070" y="177927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800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905500" y="1962150"/>
            <a:ext cx="5715000" cy="266700"/>
          </a:xfrm>
          <a:prstGeom prst="rect">
            <a:avLst/>
          </a:prstGeom>
          <a:solidFill>
            <a:srgbClr val="EEF4FF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5905500" y="1962150"/>
            <a:ext cx="47625" cy="2667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065520" y="2045970"/>
            <a:ext cx="322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Carol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18070" y="2045970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323070" y="2045970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905500" y="2228850"/>
            <a:ext cx="5715000" cy="266700"/>
          </a:xfrm>
          <a:prstGeom prst="rect">
            <a:avLst/>
          </a:prstGeom>
          <a:solidFill>
            <a:srgbClr val="EEF4FF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5905500" y="2228850"/>
            <a:ext cx="47625" cy="2667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065520" y="231267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Dan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18070" y="2312670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323070" y="2312670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905500" y="2495550"/>
            <a:ext cx="5715000" cy="266700"/>
          </a:xfrm>
          <a:prstGeom prst="rect">
            <a:avLst/>
          </a:prstGeom>
          <a:solidFill>
            <a:srgbClr val="FFF8E8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905500" y="2495550"/>
            <a:ext cx="47625" cy="266700"/>
          </a:xfrm>
          <a:prstGeom prst="rect">
            <a:avLst/>
          </a:prstGeom>
          <a:solidFill>
            <a:srgbClr val="E89C2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065520" y="2579370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18070" y="2579370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Keyboard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23070" y="25793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75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905500" y="857250"/>
            <a:ext cx="5715000" cy="1905000"/>
          </a:xfrm>
          <a:prstGeom prst="roundRect">
            <a:avLst>
              <a:gd name="adj" fmla="val 2000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857250"/>
            <a:ext cx="7620000" cy="28575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70502" y="643890"/>
            <a:ext cx="2250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FULL OUTER JOIN 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03584" y="935355"/>
            <a:ext cx="31848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The UNION Workaround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13109" y="1399699"/>
            <a:ext cx="4165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For SQLite and MySQL &lt;8.0 that do not support FULL OUTER JOIN:</a:t>
            </a:r>
          </a:p>
        </p:txBody>
      </p:sp>
      <p:sp>
        <p:nvSpPr>
          <p:cNvPr id="7" name="Rectangle 7"/>
          <p:cNvSpPr/>
          <p:nvPr/>
        </p:nvSpPr>
        <p:spPr>
          <a:xfrm>
            <a:off x="1143000" y="1619250"/>
            <a:ext cx="9906000" cy="3143250"/>
          </a:xfrm>
          <a:prstGeom prst="roundRect">
            <a:avLst>
              <a:gd name="adj" fmla="val 3030"/>
            </a:avLst>
          </a:prstGeom>
          <a:solidFill>
            <a:srgbClr val="000000">
              <a:alpha val="28000"/>
            </a:srgbClr>
          </a:solidFill>
          <a:ln w="9525">
            <a:solidFill>
              <a:srgbClr val="FFFFFF">
                <a:alpha val="56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511618" y="1799749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59318" y="1799749"/>
            <a:ext cx="3307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Customers.Name, Orders.Product, Orders.Amount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1618" y="2009299"/>
            <a:ext cx="379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68818" y="2009299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1618" y="2218849"/>
            <a:ext cx="6595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LEFT JOIN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49818" y="2218849"/>
            <a:ext cx="35612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 ON Customers.CustomerID = Orders.CustomerID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63156" y="2546032"/>
            <a:ext cx="6656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UNION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1618" y="2923699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59318" y="2923699"/>
            <a:ext cx="3307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Customers.Name, Orders.Product, Orders.Amount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11618" y="3133249"/>
            <a:ext cx="379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8818" y="3133249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11618" y="3342799"/>
            <a:ext cx="7005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RIGHT JOIN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4118" y="3342799"/>
            <a:ext cx="36327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 ON Customers.CustomerID = Orders.CustomerID;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2570" y="3636645"/>
            <a:ext cx="40433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Courier New"/>
                <a:ea typeface="Microsoft YaHei"/>
                <a:cs typeface="Courier New"/>
              </a:rPr>
              <a:t>-- Replace RIGHT JOIN with another LEFT JOIN if not supported either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12570" y="3827145"/>
            <a:ext cx="26331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Courier New"/>
                <a:ea typeface="Microsoft YaHei"/>
                <a:cs typeface="Courier New"/>
              </a:rPr>
              <a:t>-- FROM Orders LEFT JOIN Customers ON ...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12869" y="5077778"/>
            <a:ext cx="47662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UNION automatically removes duplicate rows from the overlap region.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97017" y="5296852"/>
            <a:ext cx="27979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Result is identical to FULL OUTER JOIN.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725805"/>
            <a:ext cx="12000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In-Class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6735" y="1103948"/>
            <a:ext cx="448633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Practice: LEFT &amp; FULL OUTER JOIN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628299"/>
            <a:ext cx="26770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Work through these exercises in your SQL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118" y="1837849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editor. Raise your hand when done with Ex 3.</a:t>
            </a:r>
          </a:p>
        </p:txBody>
      </p:sp>
      <p:sp>
        <p:nvSpPr>
          <p:cNvPr id="8" name="Rectangle 8"/>
          <p:cNvSpPr/>
          <p:nvPr/>
        </p:nvSpPr>
        <p:spPr>
          <a:xfrm>
            <a:off x="4381500" y="857250"/>
            <a:ext cx="7143750" cy="1333500"/>
          </a:xfrm>
          <a:prstGeom prst="roundRect">
            <a:avLst>
              <a:gd name="adj" fmla="val 5714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381500" y="85725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558665" y="1010602"/>
            <a:ext cx="16144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Exercise 3 — LEFT JOIN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60570" y="1264920"/>
            <a:ext cx="30412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List ALL customers, including those who have never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60570" y="1455420"/>
            <a:ext cx="30472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placed an order. Show Name and Amount. Customers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0570" y="1645920"/>
            <a:ext cx="25671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with no orders should show NULL in Amount.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60570" y="1903095"/>
            <a:ext cx="2573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Expected: 5 rows (Carol and Dan with NULL)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81500" y="2381250"/>
            <a:ext cx="7143750" cy="1381125"/>
          </a:xfrm>
          <a:prstGeom prst="roundRect">
            <a:avLst>
              <a:gd name="adj" fmla="val 5517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381500" y="2381250"/>
            <a:ext cx="47625" cy="1381125"/>
          </a:xfrm>
          <a:prstGeom prst="roundRect">
            <a:avLst>
              <a:gd name="adj" fmla="val 5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58665" y="2534602"/>
            <a:ext cx="20922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Exercise 4 — FULL OUTER JOIN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0570" y="2788920"/>
            <a:ext cx="28492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Extend Exercise 3 to also show orders that have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0570" y="2979420"/>
            <a:ext cx="23211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 matching customer (CustomerID=5).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0570" y="3169920"/>
            <a:ext cx="31252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What do you expect in the Name column for that row?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60570" y="3427095"/>
            <a:ext cx="26991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Expected: 6 rows including the NULL Name row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81500" y="3952875"/>
            <a:ext cx="7143750" cy="1238250"/>
          </a:xfrm>
          <a:prstGeom prst="roundRect">
            <a:avLst>
              <a:gd name="adj" fmla="val 6154"/>
            </a:avLst>
          </a:prstGeom>
          <a:solidFill>
            <a:srgbClr val="FFF8E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381500" y="3952875"/>
            <a:ext cx="47625" cy="1238250"/>
          </a:xfrm>
          <a:prstGeom prst="roundRect">
            <a:avLst>
              <a:gd name="adj" fmla="val 50000"/>
            </a:avLst>
          </a:prstGeom>
          <a:solidFill>
            <a:srgbClr val="E89C2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558665" y="4106228"/>
            <a:ext cx="18791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Bonus — UNION Workaround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0570" y="4360545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How would you rewrite Exercise 4 using UNION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60570" y="4551045"/>
            <a:ext cx="30712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if your database does not support FULL OUTER JOIN?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60570" y="4741545"/>
            <a:ext cx="1907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Hint: LEFT JOIN UNION RIGHT JOIN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857250"/>
            <a:ext cx="7620000" cy="28575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6735" y="741998"/>
            <a:ext cx="14966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Section 4 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9115" y="1039178"/>
            <a:ext cx="199281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CROSS JOIN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9118" y="1685449"/>
            <a:ext cx="22935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Cartesian product: every row in 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9118" y="1894999"/>
            <a:ext cx="16759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paired with every row in 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9118" y="2123599"/>
            <a:ext cx="1571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No ON condition needed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118" y="235219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Result rows = A × 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118" y="2580799"/>
            <a:ext cx="30996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Our example: 4 customers × 4 orders = 16 rows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118" y="2895124"/>
            <a:ext cx="18472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Use cases (rare but valid):</a:t>
            </a:r>
          </a:p>
        </p:txBody>
      </p:sp>
      <p:sp>
        <p:nvSpPr>
          <p:cNvPr id="13" name="Ellipse 13"/>
          <p:cNvSpPr/>
          <p:nvPr/>
        </p:nvSpPr>
        <p:spPr>
          <a:xfrm>
            <a:off x="590550" y="3114675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1269" y="3254216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6320" y="3236595"/>
            <a:ext cx="190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All size × color product variants</a:t>
            </a:r>
          </a:p>
        </p:txBody>
      </p:sp>
      <p:sp>
        <p:nvSpPr>
          <p:cNvPr id="16" name="Ellipse 16"/>
          <p:cNvSpPr/>
          <p:nvPr/>
        </p:nvSpPr>
        <p:spPr>
          <a:xfrm>
            <a:off x="590550" y="344805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21269" y="358759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3569970"/>
            <a:ext cx="1811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Generating test data matrices</a:t>
            </a:r>
          </a:p>
        </p:txBody>
      </p:sp>
      <p:sp>
        <p:nvSpPr>
          <p:cNvPr id="19" name="Ellipse 19"/>
          <p:cNvSpPr/>
          <p:nvPr/>
        </p:nvSpPr>
        <p:spPr>
          <a:xfrm>
            <a:off x="590550" y="3781425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21269" y="3920966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6320" y="3903345"/>
            <a:ext cx="2429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Calendar grids (all dates × all employees)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4381500"/>
            <a:ext cx="4381500" cy="571500"/>
          </a:xfrm>
          <a:prstGeom prst="roundRect">
            <a:avLst>
              <a:gd name="adj" fmla="val 13333"/>
            </a:avLst>
          </a:prstGeom>
          <a:solidFill>
            <a:srgbClr val="E89C20">
              <a:alpha val="20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71500" y="4381500"/>
            <a:ext cx="47625" cy="571500"/>
          </a:xfrm>
          <a:prstGeom prst="roundRect">
            <a:avLst>
              <a:gd name="adj" fmla="val 50000"/>
            </a:avLst>
          </a:prstGeom>
          <a:solidFill>
            <a:srgbClr val="E89C2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0570" y="4531995"/>
            <a:ext cx="5710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89C20"/>
                </a:solidFill>
                <a:latin typeface="Poppins"/>
                <a:ea typeface="Microsoft YaHei"/>
                <a:cs typeface="Poppins"/>
              </a:rPr>
              <a:t>Warning: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0570" y="4712970"/>
            <a:ext cx="33532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1,000 × 1,000 rows = 1,000,000 results! Use with caution.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238250"/>
            <a:ext cx="51435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22581" y="1584008"/>
            <a:ext cx="22713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No ON clause needed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62697" y="1903095"/>
            <a:ext cx="19911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Every row meets every other row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2667000"/>
            <a:ext cx="5143500" cy="1238250"/>
          </a:xfrm>
          <a:prstGeom prst="roundRect">
            <a:avLst>
              <a:gd name="adj" fmla="val 7692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664810" y="2883218"/>
            <a:ext cx="238687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Rows = A × 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05738" y="33999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4 customers × 4 orders = 16 rows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709612"/>
            <a:ext cx="202614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CROSS JOIN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2925" y="1071562"/>
            <a:ext cx="245144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Worked Example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571625"/>
            <a:ext cx="4762500" cy="1333500"/>
          </a:xfrm>
          <a:prstGeom prst="roundRect">
            <a:avLst>
              <a:gd name="adj" fmla="val 5714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1733074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7318" y="1733074"/>
            <a:ext cx="22155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Customers.Name, Orders.Product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1942624"/>
            <a:ext cx="379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818" y="1942624"/>
            <a:ext cx="694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2152174"/>
            <a:ext cx="761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CROSS JOIN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97368" y="2152174"/>
            <a:ext cx="5513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474595"/>
            <a:ext cx="2189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i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Note: no ON clause — not an accident!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118" y="3037999"/>
            <a:ext cx="1942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Result (8 of 16 rows shown):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257550"/>
            <a:ext cx="3048000" cy="285750"/>
          </a:xfrm>
          <a:prstGeom prst="roundRect">
            <a:avLst>
              <a:gd name="adj" fmla="val 13333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50570" y="3350895"/>
            <a:ext cx="325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Name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93570" y="3350895"/>
            <a:ext cx="508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Product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3543300"/>
            <a:ext cx="3048000" cy="2286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3616166"/>
            <a:ext cx="2684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94522" y="3616166"/>
            <a:ext cx="384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Laptop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771900"/>
            <a:ext cx="304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1522" y="3844766"/>
            <a:ext cx="2684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94522" y="3844766"/>
            <a:ext cx="323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Phone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000500"/>
            <a:ext cx="3048000" cy="2286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51522" y="4073366"/>
            <a:ext cx="2684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4522" y="4073366"/>
            <a:ext cx="3454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Mouse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4229100"/>
            <a:ext cx="304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51522" y="4301966"/>
            <a:ext cx="2684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94522" y="4301966"/>
            <a:ext cx="5050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Keyboard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457700"/>
            <a:ext cx="3048000" cy="2286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51522" y="4530566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94522" y="4530566"/>
            <a:ext cx="384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Laptop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4686300"/>
            <a:ext cx="304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51522" y="4759166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94522" y="4759166"/>
            <a:ext cx="3234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Phone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914900"/>
            <a:ext cx="3048000" cy="2286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51522" y="4987766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94522" y="4987766"/>
            <a:ext cx="3454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Mouse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5143500"/>
            <a:ext cx="304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51522" y="5216366"/>
            <a:ext cx="202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94522" y="5216366"/>
            <a:ext cx="5050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Keyboard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3257550"/>
            <a:ext cx="3048000" cy="2114550"/>
          </a:xfrm>
          <a:prstGeom prst="roundRect">
            <a:avLst>
              <a:gd name="adj" fmla="val 1802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61022" y="5483066"/>
            <a:ext cx="22157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i="1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(8 of 16 rows — 8 more for Carol and Dan)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73868" y="1371124"/>
            <a:ext cx="25912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Combination matrix (4×4 = 16 results):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59454" y="1681162"/>
            <a:ext cx="34909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Laptop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044208" y="16811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Phone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891457" y="1681162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Mouse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76198" y="1681162"/>
            <a:ext cx="45910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Keyboard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657725" y="1995488"/>
            <a:ext cx="2440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Alice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657725" y="2471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Bob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657725" y="2947988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Carol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657725" y="34242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Dan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953000" y="185737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5810250" y="185737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667500" y="185737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7524750" y="185737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4953000" y="233362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5810250" y="233362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667500" y="233362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7524750" y="233362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4953000" y="280987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5810250" y="280987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6667500" y="280987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7524750" y="280987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4953000" y="328612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5810250" y="328612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6667500" y="328612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7524750" y="3286125"/>
            <a:ext cx="762000" cy="381000"/>
          </a:xfrm>
          <a:prstGeom prst="roundRect">
            <a:avLst>
              <a:gd name="adj" fmla="val 7500"/>
            </a:avLst>
          </a:prstGeom>
          <a:solidFill>
            <a:srgbClr val="E8F8EE"/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5286375" y="200025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6143625" y="200025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7000875" y="200025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7858125" y="200025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5286375" y="247650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6143625" y="247650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7000875" y="247650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6" name="Ellipse 76"/>
          <p:cNvSpPr/>
          <p:nvPr/>
        </p:nvSpPr>
        <p:spPr>
          <a:xfrm>
            <a:off x="7858125" y="247650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7" name="Ellipse 77"/>
          <p:cNvSpPr/>
          <p:nvPr/>
        </p:nvSpPr>
        <p:spPr>
          <a:xfrm>
            <a:off x="5286375" y="295275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6143625" y="295275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7000875" y="295275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7858125" y="295275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1" name="Ellipse 81"/>
          <p:cNvSpPr/>
          <p:nvPr/>
        </p:nvSpPr>
        <p:spPr>
          <a:xfrm>
            <a:off x="5286375" y="342900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6143625" y="342900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3" name="Ellipse 83"/>
          <p:cNvSpPr/>
          <p:nvPr/>
        </p:nvSpPr>
        <p:spPr>
          <a:xfrm>
            <a:off x="7000875" y="342900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4" name="Ellipse 84"/>
          <p:cNvSpPr/>
          <p:nvPr/>
        </p:nvSpPr>
        <p:spPr>
          <a:xfrm>
            <a:off x="7858125" y="3429000"/>
            <a:ext cx="95250" cy="9525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5591187" y="3911441"/>
            <a:ext cx="13906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Each dot = one result row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857250"/>
            <a:ext cx="7620000" cy="28575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47695" y="646748"/>
            <a:ext cx="14966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Section 4 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69191" y="943928"/>
            <a:ext cx="165361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Self-Join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524000"/>
            <a:ext cx="3619500" cy="2095500"/>
          </a:xfrm>
          <a:prstGeom prst="roundRect">
            <a:avLst>
              <a:gd name="adj" fmla="val 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1685449"/>
            <a:ext cx="11510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Employees table: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570" y="1950720"/>
            <a:ext cx="13586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EmpID Name ManagerID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21145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5CDB8F">
                <a:alpha val="5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50570" y="2207895"/>
            <a:ext cx="6589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1 Sara NULL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2398395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2 Tom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588895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3 Uma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7793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4 Vic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3284220"/>
            <a:ext cx="19671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ManagerID references EmployeeID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570" y="3465195"/>
            <a:ext cx="20871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in the SAME table — self-reference!</a:t>
            </a:r>
          </a:p>
        </p:txBody>
      </p:sp>
      <p:sp>
        <p:nvSpPr>
          <p:cNvPr id="16" name="Ellipse 16"/>
          <p:cNvSpPr/>
          <p:nvPr/>
        </p:nvSpPr>
        <p:spPr>
          <a:xfrm>
            <a:off x="5676900" y="1771650"/>
            <a:ext cx="838200" cy="8382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933449" y="2037874"/>
            <a:ext cx="3251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Sara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38957" y="2224088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(CEO)</a:t>
            </a:r>
          </a:p>
        </p:txBody>
      </p:sp>
      <p:sp>
        <p:nvSpPr>
          <p:cNvPr id="19" name="Line 19"/>
          <p:cNvSpPr/>
          <p:nvPr/>
        </p:nvSpPr>
        <p:spPr>
          <a:xfrm>
            <a:off x="4572000" y="25908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952500" y="0"/>
                </a:moveTo>
                <a:lnTo>
                  <a:pt x="0" y="7620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0" name="Line 20"/>
          <p:cNvSpPr/>
          <p:nvPr/>
        </p:nvSpPr>
        <p:spPr>
          <a:xfrm>
            <a:off x="6667500" y="25908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0" y="0"/>
                </a:moveTo>
                <a:lnTo>
                  <a:pt x="952500" y="7620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4152900" y="3352800"/>
            <a:ext cx="838200" cy="8382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433339" y="3619024"/>
            <a:ext cx="2773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52424" y="3805238"/>
            <a:ext cx="8391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(Manager: Sara)</a:t>
            </a:r>
          </a:p>
        </p:txBody>
      </p:sp>
      <p:sp>
        <p:nvSpPr>
          <p:cNvPr id="24" name="Ellipse 24"/>
          <p:cNvSpPr/>
          <p:nvPr/>
        </p:nvSpPr>
        <p:spPr>
          <a:xfrm>
            <a:off x="7200900" y="3352800"/>
            <a:ext cx="838200" cy="8382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81339" y="3619024"/>
            <a:ext cx="2773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Uma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00424" y="3805238"/>
            <a:ext cx="8391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(Manager: Sara)</a:t>
            </a:r>
          </a:p>
        </p:txBody>
      </p:sp>
      <p:sp>
        <p:nvSpPr>
          <p:cNvPr id="27" name="Line 27"/>
          <p:cNvSpPr/>
          <p:nvPr/>
        </p:nvSpPr>
        <p:spPr>
          <a:xfrm>
            <a:off x="4572000" y="417195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4152900" y="4895850"/>
            <a:ext cx="838200" cy="8382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464056" y="5162074"/>
            <a:ext cx="2158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Vic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69926" y="5348288"/>
            <a:ext cx="8041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(Manager: Tom)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73541" y="5990749"/>
            <a:ext cx="52449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Self-Join: joining Employees to itself using two aliases (employee + manager copy)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2925" y="709612"/>
            <a:ext cx="172685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Self-Join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2925" y="1071562"/>
            <a:ext cx="245144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Worked Example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571625"/>
            <a:ext cx="5524500" cy="1857375"/>
          </a:xfrm>
          <a:prstGeom prst="roundRect">
            <a:avLst>
              <a:gd name="adj" fmla="val 4103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1733074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7318" y="1733074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e.Name AS Employee, m.Name AS Manager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618" y="1942624"/>
            <a:ext cx="379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818" y="1942624"/>
            <a:ext cx="6618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Employees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3618" y="1942624"/>
            <a:ext cx="2909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AS 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152174"/>
            <a:ext cx="6595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LEFT JOIN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87818" y="2152174"/>
            <a:ext cx="6618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Employees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30818" y="2152174"/>
            <a:ext cx="3182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AS 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14375" y="2400300"/>
            <a:ext cx="5143500" cy="285750"/>
          </a:xfrm>
          <a:prstGeom prst="roundRect">
            <a:avLst>
              <a:gd name="adj" fmla="val 13333"/>
            </a:avLst>
          </a:prstGeom>
          <a:solidFill>
            <a:srgbClr val="FFFFF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9618" y="2476024"/>
            <a:ext cx="2022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4418" y="2476024"/>
            <a:ext cx="18709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e.ManagerID = m.EmployeeID;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570" y="3046095"/>
            <a:ext cx="31480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e = employee copy | m = manager copy (same table!)</a:t>
            </a:r>
          </a:p>
        </p:txBody>
      </p:sp>
      <p:sp>
        <p:nvSpPr>
          <p:cNvPr id="19" name="Line 19"/>
          <p:cNvSpPr/>
          <p:nvPr/>
        </p:nvSpPr>
        <p:spPr>
          <a:xfrm>
            <a:off x="3810000" y="2619375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2857500" y="2952750"/>
            <a:ext cx="2095500" cy="28575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 w="9525">
            <a:solidFill>
              <a:srgbClr val="2EAA5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227677" y="3054191"/>
            <a:ext cx="13551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Same table, two aliases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5118" y="1466374"/>
            <a:ext cx="5162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Result: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667500" y="1695450"/>
            <a:ext cx="4762500" cy="304800"/>
          </a:xfrm>
          <a:prstGeom prst="roundRect">
            <a:avLst>
              <a:gd name="adj" fmla="val 125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846570" y="1798320"/>
            <a:ext cx="5710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Employee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51570" y="1798320"/>
            <a:ext cx="5332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Manager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667500" y="2000250"/>
            <a:ext cx="47625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846570" y="2084070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Sara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51570" y="2084070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NULL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67500" y="2266950"/>
            <a:ext cx="4762500" cy="2667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846570" y="2350770"/>
            <a:ext cx="244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Tom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51570" y="2350770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Sara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0" y="2533650"/>
            <a:ext cx="47625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46570" y="2617470"/>
            <a:ext cx="244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Uma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51570" y="2617470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Sara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667500" y="2800350"/>
            <a:ext cx="4762500" cy="2667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846570" y="2884170"/>
            <a:ext cx="1908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Vic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51570" y="2884170"/>
            <a:ext cx="2448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Tom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0" y="1695450"/>
            <a:ext cx="4762500" cy="1371600"/>
          </a:xfrm>
          <a:prstGeom prst="roundRect">
            <a:avLst>
              <a:gd name="adj" fmla="val 2778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6762750" y="3476625"/>
            <a:ext cx="190500" cy="1905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084695" y="3522345"/>
            <a:ext cx="37673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"e" is employee copy; "m" is manager copy — same physical table</a:t>
            </a:r>
          </a:p>
        </p:txBody>
      </p:sp>
      <p:sp>
        <p:nvSpPr>
          <p:cNvPr id="41" name="Ellipse 41"/>
          <p:cNvSpPr/>
          <p:nvPr/>
        </p:nvSpPr>
        <p:spPr>
          <a:xfrm>
            <a:off x="6762750" y="3790950"/>
            <a:ext cx="190500" cy="1905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084695" y="3836670"/>
            <a:ext cx="32932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LEFT JOIN ensures Sara appears with NULL (no manager)</a:t>
            </a:r>
          </a:p>
        </p:txBody>
      </p:sp>
      <p:sp>
        <p:nvSpPr>
          <p:cNvPr id="43" name="Ellipse 43"/>
          <p:cNvSpPr/>
          <p:nvPr/>
        </p:nvSpPr>
        <p:spPr>
          <a:xfrm>
            <a:off x="6762750" y="4105275"/>
            <a:ext cx="190500" cy="1905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084695" y="4150995"/>
            <a:ext cx="33592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Without aliases SQL cannot resolve which Employees copy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857250"/>
            <a:ext cx="7620000" cy="28575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66462" y="633412"/>
            <a:ext cx="14590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Section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04895" y="962978"/>
            <a:ext cx="158221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Summary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447800"/>
            <a:ext cx="10668000" cy="2476500"/>
          </a:xfrm>
          <a:prstGeom prst="roundRect">
            <a:avLst>
              <a:gd name="adj" fmla="val 384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144780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676400"/>
            <a:ext cx="10668000" cy="15240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12570" y="1598295"/>
            <a:ext cx="30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Type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7570" y="1598295"/>
            <a:ext cx="678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ON clause?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32070" y="1598295"/>
            <a:ext cx="6907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Typical use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80070" y="1598295"/>
            <a:ext cx="886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Watch out for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1828800"/>
            <a:ext cx="10668000" cy="5715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511618" y="2066449"/>
            <a:ext cx="761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CROSS JOIN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16618" y="2066449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No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32070" y="2017395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All combinations,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32070" y="21888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test data, grids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80070" y="207454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Row explosion on large tables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2400300"/>
            <a:ext cx="10668000" cy="5715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511618" y="2637949"/>
            <a:ext cx="6322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Self-Join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16618" y="263794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Yes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32070" y="2588895"/>
            <a:ext cx="1090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Hierarchical data,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32070" y="27603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comparisons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80070" y="2646045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Must use table aliases</a:t>
            </a:r>
          </a:p>
        </p:txBody>
      </p:sp>
      <p:sp>
        <p:nvSpPr>
          <p:cNvPr id="25" name="Ellipse 25"/>
          <p:cNvSpPr/>
          <p:nvPr/>
        </p:nvSpPr>
        <p:spPr>
          <a:xfrm>
            <a:off x="781050" y="4210050"/>
            <a:ext cx="342900" cy="342900"/>
          </a:xfrm>
          <a:prstGeom prst="ellipse">
            <a:avLst/>
          </a:prstGeom>
          <a:solidFill>
            <a:srgbClr val="5CDB8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00660" y="43253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4918" y="4314349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CROSS JOIN has no condition — every row meets every other row</a:t>
            </a:r>
          </a:p>
        </p:txBody>
      </p:sp>
      <p:sp>
        <p:nvSpPr>
          <p:cNvPr id="28" name="Ellipse 28"/>
          <p:cNvSpPr/>
          <p:nvPr/>
        </p:nvSpPr>
        <p:spPr>
          <a:xfrm>
            <a:off x="781050" y="4686300"/>
            <a:ext cx="342900" cy="342900"/>
          </a:xfrm>
          <a:prstGeom prst="ellipse">
            <a:avLst/>
          </a:prstGeom>
          <a:solidFill>
            <a:srgbClr val="5CDB8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00660" y="48015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4918" y="4790599"/>
            <a:ext cx="44778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Self-Join is a technique — not its own JOIN type. Works with any JOIN.</a:t>
            </a:r>
          </a:p>
        </p:txBody>
      </p:sp>
      <p:sp>
        <p:nvSpPr>
          <p:cNvPr id="31" name="Ellipse 31"/>
          <p:cNvSpPr/>
          <p:nvPr/>
        </p:nvSpPr>
        <p:spPr>
          <a:xfrm>
            <a:off x="781050" y="5162550"/>
            <a:ext cx="342900" cy="342900"/>
          </a:xfrm>
          <a:prstGeom prst="ellipse">
            <a:avLst/>
          </a:prstGeom>
          <a:solidFill>
            <a:srgbClr val="5CDB8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00660" y="52778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4918" y="5266849"/>
            <a:ext cx="44908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Use LEFT JOIN for self-referential hierarchy so top-level rows appear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725805"/>
            <a:ext cx="12000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In-Class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6735" y="1103948"/>
            <a:ext cx="441807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Practice: CROSS JOIN &amp; Self-Join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4478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628299"/>
            <a:ext cx="43738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Work through each exercise. Check your results with your neighbor.</a:t>
            </a:r>
          </a:p>
        </p:txBody>
      </p:sp>
      <p:sp>
        <p:nvSpPr>
          <p:cNvPr id="7" name="Rectangle 7"/>
          <p:cNvSpPr/>
          <p:nvPr/>
        </p:nvSpPr>
        <p:spPr>
          <a:xfrm>
            <a:off x="4381500" y="857250"/>
            <a:ext cx="7143750" cy="1381125"/>
          </a:xfrm>
          <a:prstGeom prst="roundRect">
            <a:avLst>
              <a:gd name="adj" fmla="val 5517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381500" y="857250"/>
            <a:ext cx="47625" cy="1381125"/>
          </a:xfrm>
          <a:prstGeom prst="roundRect">
            <a:avLst>
              <a:gd name="adj" fmla="val 5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558665" y="1010602"/>
            <a:ext cx="17247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Exercise 5 — CROSS JOIN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60570" y="1264920"/>
            <a:ext cx="3809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Using Customers (4 rows) and a Colors table (Red, Blue, Green),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60570" y="1455420"/>
            <a:ext cx="37073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write a CROSS JOIN query. How many rows will the result have?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60570" y="1645920"/>
            <a:ext cx="1649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Write the query and verify.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0570" y="1903095"/>
            <a:ext cx="1487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Expected: 4 × 3 = 12 rows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81500" y="2428875"/>
            <a:ext cx="7143750" cy="1571625"/>
          </a:xfrm>
          <a:prstGeom prst="roundRect">
            <a:avLst>
              <a:gd name="adj" fmla="val 4848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381500" y="2428875"/>
            <a:ext cx="47625" cy="1571625"/>
          </a:xfrm>
          <a:prstGeom prst="roundRect">
            <a:avLst>
              <a:gd name="adj" fmla="val 50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58665" y="2582228"/>
            <a:ext cx="15850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Exercise 6 — Self-Join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0570" y="2836545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Using the Employees table, write a query that lists every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0570" y="3027045"/>
            <a:ext cx="24951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employee alongside their manager's name.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0570" y="3217545"/>
            <a:ext cx="35212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Employees with no manager (Sara) should appear with NULL.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0570" y="3408045"/>
            <a:ext cx="24171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Hint: Use aliases e and m. Use LEFT JOIN.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60570" y="3712845"/>
            <a:ext cx="25911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Expected: 4 rows (Sara with NULL Manager)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81500" y="4191000"/>
            <a:ext cx="7143750" cy="152400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381500" y="4191000"/>
            <a:ext cx="47625" cy="1524000"/>
          </a:xfrm>
          <a:prstGeom prst="roundRect">
            <a:avLst>
              <a:gd name="adj" fmla="val 50000"/>
            </a:avLst>
          </a:prstGeom>
          <a:solidFill>
            <a:srgbClr val="E89C2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558665" y="4344352"/>
            <a:ext cx="10925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Think &amp; Discuss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0570" y="4608195"/>
            <a:ext cx="30412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Why do we need two aliases (e and m) in a self-join?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60570" y="4798695"/>
            <a:ext cx="18890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What would happen if we wrote: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60570" y="4989195"/>
            <a:ext cx="2171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FROM Employees JOIN Employees ON 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60570" y="51987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without aliases?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0570" y="5408295"/>
            <a:ext cx="41453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89C20"/>
                </a:solidFill>
                <a:latin typeface="Poppins"/>
                <a:ea typeface="Microsoft YaHei"/>
                <a:cs typeface="Poppins"/>
              </a:rPr>
              <a:t>Answer: SQL would throw an ambiguity error — it needs distinct names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857250"/>
            <a:ext cx="7620000" cy="28575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47695" y="646748"/>
            <a:ext cx="149661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Section 5 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40737" y="943928"/>
            <a:ext cx="251052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Multiple JOINs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857375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2EAA5E">
                <a:alpha val="15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417843" y="2058352"/>
            <a:ext cx="783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6693" y="2273141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CustomerID, Name, City</a:t>
            </a:r>
          </a:p>
        </p:txBody>
      </p:sp>
      <p:sp>
        <p:nvSpPr>
          <p:cNvPr id="9" name="Line 9"/>
          <p:cNvSpPr/>
          <p:nvPr/>
        </p:nvSpPr>
        <p:spPr>
          <a:xfrm>
            <a:off x="3048000" y="21907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23812">
            <a:solidFill>
              <a:srgbClr val="5CDB8F"/>
            </a:solidFill>
          </a:ln>
        </p:spPr>
      </p:sp>
      <p:sp>
        <p:nvSpPr>
          <p:cNvPr id="10" name="Polygon 10"/>
          <p:cNvSpPr/>
          <p:nvPr/>
        </p:nvSpPr>
        <p:spPr>
          <a:xfrm>
            <a:off x="4095750" y="2114550"/>
            <a:ext cx="209550" cy="152400"/>
          </a:xfrm>
          <a:custGeom>
            <a:avLst/>
            <a:gdLst/>
            <a:ahLst/>
            <a:cxnLst/>
            <a:rect l="l" t="t" r="r" b="b"/>
            <a:pathLst>
              <a:path w="209550" h="152400">
                <a:moveTo>
                  <a:pt x="0" y="0"/>
                </a:moveTo>
                <a:lnTo>
                  <a:pt x="2095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5CDB8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547908" y="2006441"/>
            <a:ext cx="2574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JOIN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05300" y="1857375"/>
            <a:ext cx="2667000" cy="666750"/>
          </a:xfrm>
          <a:prstGeom prst="roundRect">
            <a:avLst>
              <a:gd name="adj" fmla="val 11429"/>
            </a:avLst>
          </a:prstGeom>
          <a:solidFill>
            <a:srgbClr val="2EAA5E">
              <a:alpha val="9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368183" y="2001202"/>
            <a:ext cx="5412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Orders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29150" y="2224088"/>
            <a:ext cx="2019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>
                    <a:alphaMod val="85000"/>
                  </a:srgbClr>
                </a:solidFill>
                <a:latin typeface="Poppins"/>
                <a:ea typeface="Microsoft YaHei"/>
                <a:cs typeface="Poppins"/>
              </a:rPr>
              <a:t>OrderID, CustomerID, ProductID, Amount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91670" y="2376488"/>
            <a:ext cx="16942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← fact table (has all foreign keys)</a:t>
            </a:r>
          </a:p>
        </p:txBody>
      </p:sp>
      <p:sp>
        <p:nvSpPr>
          <p:cNvPr id="16" name="Line 16"/>
          <p:cNvSpPr/>
          <p:nvPr/>
        </p:nvSpPr>
        <p:spPr>
          <a:xfrm>
            <a:off x="6972300" y="2190750"/>
            <a:ext cx="1028700" cy="9525"/>
          </a:xfrm>
          <a:custGeom>
            <a:avLst/>
            <a:gdLst/>
            <a:ahLst/>
            <a:cxnLst/>
            <a:rect l="l" t="t" r="r" b="b"/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/>
          <a:ln w="23812">
            <a:solidFill>
              <a:srgbClr val="5CDB8F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8001000" y="2114550"/>
            <a:ext cx="209550" cy="152400"/>
          </a:xfrm>
          <a:custGeom>
            <a:avLst/>
            <a:gdLst/>
            <a:ahLst/>
            <a:cxnLst/>
            <a:rect l="l" t="t" r="r" b="b"/>
            <a:pathLst>
              <a:path w="209550" h="152400">
                <a:moveTo>
                  <a:pt x="0" y="0"/>
                </a:moveTo>
                <a:lnTo>
                  <a:pt x="2095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5CDB8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453158" y="2006441"/>
            <a:ext cx="2574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JOIN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210550" y="1857375"/>
            <a:ext cx="2667000" cy="666750"/>
          </a:xfrm>
          <a:prstGeom prst="roundRect">
            <a:avLst>
              <a:gd name="adj" fmla="val 11429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2EAA5E">
                <a:alpha val="15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207275" y="2058352"/>
            <a:ext cx="6735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95705" y="2273141"/>
            <a:ext cx="18966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ProductID, ProductName, Category</a:t>
            </a:r>
          </a:p>
        </p:txBody>
      </p:sp>
      <p:sp>
        <p:nvSpPr>
          <p:cNvPr id="22" name="Ellipse 22"/>
          <p:cNvSpPr/>
          <p:nvPr/>
        </p:nvSpPr>
        <p:spPr>
          <a:xfrm>
            <a:off x="781050" y="316230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18162" y="3277552"/>
            <a:ext cx="686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4918" y="3276124"/>
            <a:ext cx="34896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You can chain as many JOINs as needed in a single query</a:t>
            </a:r>
          </a:p>
        </p:txBody>
      </p:sp>
      <p:sp>
        <p:nvSpPr>
          <p:cNvPr id="25" name="Ellipse 25"/>
          <p:cNvSpPr/>
          <p:nvPr/>
        </p:nvSpPr>
        <p:spPr>
          <a:xfrm>
            <a:off x="781050" y="3686175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00660" y="3801428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4918" y="3799999"/>
            <a:ext cx="39252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Each JOIN adds one more table — SQL processes top to bottom</a:t>
            </a:r>
          </a:p>
        </p:txBody>
      </p:sp>
      <p:sp>
        <p:nvSpPr>
          <p:cNvPr id="28" name="Ellipse 28"/>
          <p:cNvSpPr/>
          <p:nvPr/>
        </p:nvSpPr>
        <p:spPr>
          <a:xfrm>
            <a:off x="781050" y="4210050"/>
            <a:ext cx="342900" cy="3429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00660" y="432530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4918" y="4323874"/>
            <a:ext cx="39122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Start FROM the fact table — the one with all the foreign keys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4857750"/>
            <a:ext cx="10287000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933461" y="5000149"/>
            <a:ext cx="23250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Extended schema for this section: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81120" y="5198745"/>
            <a:ext cx="72297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Customers (CustomerID, Name) ← Orders (OrderID, CustomerID, ProductID, Amount) → Products (ProductID, ProductName)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678180"/>
            <a:ext cx="231742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Multiple JOINs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4830" y="1011555"/>
            <a:ext cx="228801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Worked Example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3716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504950"/>
            <a:ext cx="5334000" cy="2476500"/>
          </a:xfrm>
          <a:prstGeom prst="roundRect">
            <a:avLst>
              <a:gd name="adj" fmla="val 3077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2381250"/>
            <a:ext cx="5334000" cy="419100"/>
          </a:xfrm>
          <a:prstGeom prst="rect">
            <a:avLst/>
          </a:prstGeom>
          <a:solidFill>
            <a:srgbClr val="E8F8EE">
              <a:alpha val="6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2800350"/>
            <a:ext cx="5334000" cy="419100"/>
          </a:xfrm>
          <a:prstGeom prst="rect">
            <a:avLst/>
          </a:prstGeom>
          <a:solidFill>
            <a:srgbClr val="EEF4FF">
              <a:alpha val="6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50570" y="1655445"/>
            <a:ext cx="4387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8270" y="1655445"/>
            <a:ext cx="10609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Customers.Name,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1826895"/>
            <a:ext cx="14330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Products.ProductName,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1998345"/>
            <a:ext cx="9289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Orders.Amount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207895"/>
            <a:ext cx="350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7770" y="2207895"/>
            <a:ext cx="442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570" y="241744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3070" y="2417445"/>
            <a:ext cx="640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570" y="260794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07945"/>
            <a:ext cx="26391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Orders.CustomerID = Customers.CustomerID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570" y="283654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3070" y="283654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Products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302704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" y="3027045"/>
            <a:ext cx="2435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Orders.ProductID = Products.ProductID;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0570" y="3569970"/>
            <a:ext cx="25911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2nd JOIN builds on the result of the 1st JOIN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4618" y="1494949"/>
            <a:ext cx="11510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Result (3 rows):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1714500"/>
            <a:ext cx="5143500" cy="304800"/>
          </a:xfrm>
          <a:prstGeom prst="roundRect">
            <a:avLst>
              <a:gd name="adj" fmla="val 125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37020" y="1817370"/>
            <a:ext cx="325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Name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94320" y="1817370"/>
            <a:ext cx="8104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ProductName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85070" y="1817370"/>
            <a:ext cx="46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Amount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2019300"/>
            <a:ext cx="51435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37020" y="2103120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94320" y="2103120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Laptop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85070" y="2103120"/>
            <a:ext cx="2568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1200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2286000"/>
            <a:ext cx="5143500" cy="2667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37020" y="23698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Bob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94320" y="2369820"/>
            <a:ext cx="3529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Phone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85070" y="23698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800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2552700"/>
            <a:ext cx="514350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37020" y="2636520"/>
            <a:ext cx="292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Alice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894320" y="2636520"/>
            <a:ext cx="376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Mouse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85070" y="263652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25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477000" y="1714500"/>
            <a:ext cx="5143500" cy="1104900"/>
          </a:xfrm>
          <a:prstGeom prst="roundRect">
            <a:avLst>
              <a:gd name="adj" fmla="val 3448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477000" y="3048000"/>
            <a:ext cx="5143500" cy="1524000"/>
          </a:xfrm>
          <a:prstGeom prst="roundRect">
            <a:avLst>
              <a:gd name="adj" fmla="val 5000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477000" y="3048000"/>
            <a:ext cx="5143500" cy="304800"/>
          </a:xfrm>
          <a:prstGeom prst="roundRect">
            <a:avLst>
              <a:gd name="adj" fmla="val 25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477000" y="3200400"/>
            <a:ext cx="5143500" cy="15240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495452" y="3160395"/>
            <a:ext cx="11065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Pattern to notice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37020" y="3484245"/>
            <a:ext cx="34012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1. Start FROM the fact table (Orders) — has foreign keys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37020" y="3712845"/>
            <a:ext cx="32632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2. Add INNER JOIN per dimension (Customers, Products)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37020" y="3941445"/>
            <a:ext cx="31432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3. Each ON maps back to the fact table's foreign key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37020" y="4170045"/>
            <a:ext cx="26031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4. No limit — add more JOINs for more tables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5829300" y="381000"/>
            <a:ext cx="533400" cy="5334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40391" y="545782"/>
            <a:ext cx="1112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58958" y="980122"/>
            <a:ext cx="167408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Watch Out 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73985" y="1313498"/>
            <a:ext cx="324402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Ambiguous Column Names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62125"/>
            <a:ext cx="3238500" cy="3238500"/>
          </a:xfrm>
          <a:prstGeom prst="roundRect">
            <a:avLst>
              <a:gd name="adj" fmla="val 235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762125"/>
            <a:ext cx="3238500" cy="285750"/>
          </a:xfrm>
          <a:prstGeom prst="roundRect">
            <a:avLst>
              <a:gd name="adj" fmla="val 26667"/>
            </a:avLst>
          </a:prstGeom>
          <a:solidFill>
            <a:srgbClr val="CC3333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905000"/>
            <a:ext cx="3238500" cy="142875"/>
          </a:xfrm>
          <a:prstGeom prst="rect">
            <a:avLst/>
          </a:prstGeom>
          <a:solidFill>
            <a:srgbClr val="CC333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927288" y="18649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✗ WRONG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2472" y="2177891"/>
            <a:ext cx="11650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-- Which CustomerID?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2472" y="2368391"/>
            <a:ext cx="4021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5872" y="2368391"/>
            <a:ext cx="7140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CustomerID,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2472" y="2539841"/>
            <a:ext cx="763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Name, Amount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2472" y="2730341"/>
            <a:ext cx="3212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1572" y="2730341"/>
            <a:ext cx="5875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2472" y="2920841"/>
            <a:ext cx="5927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0672" y="2920841"/>
            <a:ext cx="4060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2472" y="3111341"/>
            <a:ext cx="1711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8222" y="3111341"/>
            <a:ext cx="1247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Customers.CustomerID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2472" y="3282791"/>
            <a:ext cx="12201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= Orders.CustomerID;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2472" y="3606641"/>
            <a:ext cx="2100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Error: ambiguous column 'CustomerID'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2472" y="3797141"/>
            <a:ext cx="16491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SQL does not know which table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2472" y="3987641"/>
            <a:ext cx="17151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the bare column name refers to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381500" y="1762125"/>
            <a:ext cx="3333750" cy="3238500"/>
          </a:xfrm>
          <a:prstGeom prst="roundRect">
            <a:avLst>
              <a:gd name="adj" fmla="val 235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381500" y="1762125"/>
            <a:ext cx="3333750" cy="285750"/>
          </a:xfrm>
          <a:prstGeom prst="roundRect">
            <a:avLst>
              <a:gd name="adj" fmla="val 26667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381500" y="1905000"/>
            <a:ext cx="3333750" cy="142875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728206" y="1864995"/>
            <a:ext cx="6403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 CORRECT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42472" y="2177891"/>
            <a:ext cx="13851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-- Prefix with table name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42472" y="2368391"/>
            <a:ext cx="4021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75872" y="2368391"/>
            <a:ext cx="13081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Customers.CustomerID,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42472" y="2539841"/>
            <a:ext cx="9725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Customers.Name,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42472" y="2711291"/>
            <a:ext cx="8515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Orders.Amount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42472" y="2901791"/>
            <a:ext cx="3212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61572" y="2901791"/>
            <a:ext cx="5875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542472" y="3092291"/>
            <a:ext cx="5927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80672" y="3092291"/>
            <a:ext cx="796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 ON ...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42472" y="3530441"/>
            <a:ext cx="18196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Works! Each column fully qualified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86750" y="1762125"/>
            <a:ext cx="3333750" cy="3238500"/>
          </a:xfrm>
          <a:prstGeom prst="roundRect">
            <a:avLst>
              <a:gd name="adj" fmla="val 235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8286750" y="1762125"/>
            <a:ext cx="3333750" cy="285750"/>
          </a:xfrm>
          <a:prstGeom prst="roundRect">
            <a:avLst>
              <a:gd name="adj" fmla="val 26667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8286750" y="1905000"/>
            <a:ext cx="3333750" cy="142875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469636" y="1864995"/>
            <a:ext cx="967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★ BEST PRACTICE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47722" y="2177891"/>
            <a:ext cx="10935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Courier New"/>
                <a:ea typeface="Microsoft YaHei"/>
                <a:cs typeface="Courier New"/>
              </a:rPr>
              <a:t>-- Use short aliases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47722" y="2368391"/>
            <a:ext cx="4021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981122" y="2368391"/>
            <a:ext cx="8020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c.CustomerID,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47722" y="2539841"/>
            <a:ext cx="10055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c.Name, o.Amount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47722" y="2730341"/>
            <a:ext cx="32129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866822" y="2730341"/>
            <a:ext cx="58752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00322" y="2730341"/>
            <a:ext cx="246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AS c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47722" y="2920841"/>
            <a:ext cx="5927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285922" y="2920841"/>
            <a:ext cx="4060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086022" y="2920841"/>
            <a:ext cx="246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AS 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47722" y="3111341"/>
            <a:ext cx="1711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733472" y="3111341"/>
            <a:ext cx="16491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c.CustomerID = o.CustomerID;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447722" y="3530441"/>
            <a:ext cx="15996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Clean, unambiguous, readable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678180"/>
            <a:ext cx="18028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Watch Out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4830" y="1011555"/>
            <a:ext cx="215570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Wrong Join Key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3716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504950"/>
            <a:ext cx="5143500" cy="1476375"/>
          </a:xfrm>
          <a:prstGeom prst="roundRect">
            <a:avLst>
              <a:gd name="adj" fmla="val 5161"/>
            </a:avLst>
          </a:prstGeom>
          <a:solidFill>
            <a:srgbClr val="F4F4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0570" y="1674495"/>
            <a:ext cx="29338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✗ WRONG: joining on Name instead of CustomerID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570" y="1884045"/>
            <a:ext cx="4387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3020" y="1884045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*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570" y="2074545"/>
            <a:ext cx="350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9670" y="2074545"/>
            <a:ext cx="640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26504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7820" y="2265045"/>
            <a:ext cx="442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2E"/>
                </a:solidFill>
                <a:latin typeface="Courier New"/>
                <a:ea typeface="Microsoft YaHei"/>
                <a:cs typeface="Courier New"/>
              </a:rPr>
              <a:t>Orders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45554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6320" y="2455545"/>
            <a:ext cx="23391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Customers.Name = Orders.CustomerID;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570" y="2722245"/>
            <a:ext cx="29032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Result: 0 rows — text vs number comparison fails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19050">
            <a:solidFill>
              <a:srgbClr val="CC3333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369368" y="1371124"/>
            <a:ext cx="22226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How to find the correct join key: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381750" y="1600200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EAA5E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381750" y="16002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381750" y="1771650"/>
            <a:ext cx="2095500" cy="13335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093579" y="1712595"/>
            <a:ext cx="671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Customers</a:t>
            </a:r>
          </a:p>
        </p:txBody>
      </p:sp>
      <p:sp>
        <p:nvSpPr>
          <p:cNvPr id="23" name="Ellipse 23"/>
          <p:cNvSpPr/>
          <p:nvPr/>
        </p:nvSpPr>
        <p:spPr>
          <a:xfrm>
            <a:off x="6591300" y="2019300"/>
            <a:ext cx="190500" cy="1905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25996" y="2089309"/>
            <a:ext cx="1211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46570" y="2065020"/>
            <a:ext cx="709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CustomerID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18922" y="2311241"/>
            <a:ext cx="2849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Name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18922" y="2501741"/>
            <a:ext cx="2354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City</a:t>
            </a:r>
          </a:p>
        </p:txBody>
      </p:sp>
      <p:sp>
        <p:nvSpPr>
          <p:cNvPr id="28" name="Line 28"/>
          <p:cNvSpPr/>
          <p:nvPr/>
        </p:nvSpPr>
        <p:spPr>
          <a:xfrm>
            <a:off x="8477250" y="20764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23812">
            <a:solidFill>
              <a:srgbClr val="2EAA5E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9239250" y="20002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0"/>
                </a:moveTo>
                <a:lnTo>
                  <a:pt x="1905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EAA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672828" y="1900238"/>
            <a:ext cx="3708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FK → PK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429750" y="160020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EAA5E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429750" y="16002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9429750" y="1771650"/>
            <a:ext cx="2095500" cy="13335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245542" y="1712595"/>
            <a:ext cx="4639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Orders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09772" y="2025491"/>
            <a:ext cx="4390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OrderID</a:t>
            </a:r>
          </a:p>
        </p:txBody>
      </p:sp>
      <p:sp>
        <p:nvSpPr>
          <p:cNvPr id="36" name="Ellipse 36"/>
          <p:cNvSpPr/>
          <p:nvPr/>
        </p:nvSpPr>
        <p:spPr>
          <a:xfrm>
            <a:off x="9639300" y="2209800"/>
            <a:ext cx="190500" cy="190500"/>
          </a:xfrm>
          <a:prstGeom prst="ellipse">
            <a:avLst/>
          </a:prstGeom>
          <a:solidFill>
            <a:srgbClr val="E89C2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673996" y="2279809"/>
            <a:ext cx="121108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FK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95522" y="2263616"/>
            <a:ext cx="650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2EAA5E"/>
                </a:solidFill>
                <a:latin typeface="Courier New"/>
                <a:ea typeface="Microsoft YaHei"/>
                <a:cs typeface="Courier New"/>
              </a:rPr>
              <a:t>CustomerID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09772" y="2482691"/>
            <a:ext cx="4060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Amount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09772" y="2673191"/>
            <a:ext cx="5380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Courier New"/>
                <a:ea typeface="Microsoft YaHei"/>
                <a:cs typeface="Courier New"/>
              </a:rPr>
              <a:t>ProductID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9368" y="3323749"/>
            <a:ext cx="19496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How to find the correct key:</a:t>
            </a:r>
          </a:p>
        </p:txBody>
      </p:sp>
      <p:sp>
        <p:nvSpPr>
          <p:cNvPr id="42" name="Ellipse 42"/>
          <p:cNvSpPr/>
          <p:nvPr/>
        </p:nvSpPr>
        <p:spPr>
          <a:xfrm>
            <a:off x="6457950" y="3638550"/>
            <a:ext cx="190500" cy="1905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528673" y="3700462"/>
            <a:ext cx="490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751320" y="3684270"/>
            <a:ext cx="20211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Look at the ERD for your database</a:t>
            </a:r>
          </a:p>
        </p:txBody>
      </p:sp>
      <p:sp>
        <p:nvSpPr>
          <p:cNvPr id="45" name="Ellipse 45"/>
          <p:cNvSpPr/>
          <p:nvPr/>
        </p:nvSpPr>
        <p:spPr>
          <a:xfrm>
            <a:off x="6457950" y="3924300"/>
            <a:ext cx="190500" cy="1905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516172" y="3986212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51320" y="3970020"/>
            <a:ext cx="32692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The foreign key in Table B always points to PK of Table A</a:t>
            </a:r>
          </a:p>
        </p:txBody>
      </p:sp>
      <p:sp>
        <p:nvSpPr>
          <p:cNvPr id="48" name="Ellipse 48"/>
          <p:cNvSpPr/>
          <p:nvPr/>
        </p:nvSpPr>
        <p:spPr>
          <a:xfrm>
            <a:off x="6457950" y="4210050"/>
            <a:ext cx="190500" cy="1905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516172" y="4271962"/>
            <a:ext cx="740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751320" y="4255770"/>
            <a:ext cx="32812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Ask: "Which column in Table B references Table A's PK?"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5829300" y="381000"/>
            <a:ext cx="533400" cy="5334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40391" y="545782"/>
            <a:ext cx="1112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23346" y="967740"/>
            <a:ext cx="154530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Watch Out 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03339" y="1275398"/>
            <a:ext cx="35853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Unexpected Duplicate Rows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714500"/>
            <a:ext cx="5143500" cy="2667000"/>
          </a:xfrm>
          <a:prstGeom prst="roundRect">
            <a:avLst>
              <a:gd name="adj" fmla="val 2857"/>
            </a:avLst>
          </a:prstGeom>
          <a:solidFill>
            <a:srgbClr val="000000">
              <a:alpha val="2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50570" y="188404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Without GROUP BY: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0570" y="2093595"/>
            <a:ext cx="4387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020" y="2093595"/>
            <a:ext cx="2003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Customers.Name, Orders.Amount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2284095"/>
            <a:ext cx="350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9670" y="2284095"/>
            <a:ext cx="640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47459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7820" y="2474595"/>
            <a:ext cx="9349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 ON ...;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2863691"/>
            <a:ext cx="4368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Result: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570" y="3065145"/>
            <a:ext cx="562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Alice 1200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570" y="3255645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3333"/>
                </a:solidFill>
                <a:latin typeface="Courier New"/>
                <a:ea typeface="Microsoft YaHei"/>
                <a:cs typeface="Courier New"/>
              </a:rPr>
              <a:t>Alice 25 ← same person, 2 rows!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570" y="3446145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Bob 800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1522" y="3759041"/>
            <a:ext cx="19461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3333"/>
                </a:solidFill>
                <a:latin typeface="Poppins"/>
                <a:ea typeface="Microsoft YaHei"/>
                <a:cs typeface="Poppins"/>
              </a:rPr>
              <a:t>Alice has 2 orders → appears 2 times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22" y="3930491"/>
            <a:ext cx="19792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This is CORRECT behavior — not a bug!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4101941"/>
            <a:ext cx="28153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Poppins"/>
                <a:ea typeface="Microsoft YaHei"/>
                <a:cs typeface="Poppins"/>
              </a:rPr>
              <a:t>But it surprises students expecting 1 row/customer</a:t>
            </a:r>
          </a:p>
        </p:txBody>
      </p:sp>
      <p:sp>
        <p:nvSpPr>
          <p:cNvPr id="22" name="Line 22"/>
          <p:cNvSpPr/>
          <p:nvPr/>
        </p:nvSpPr>
        <p:spPr>
          <a:xfrm>
            <a:off x="5886450" y="3238500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23812">
            <a:solidFill>
              <a:srgbClr val="5CDB8F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6305550" y="3162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0"/>
                </a:moveTo>
                <a:lnTo>
                  <a:pt x="1714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5CDB8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988056" y="2999899"/>
            <a:ext cx="2158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Fix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1714500"/>
            <a:ext cx="5143500" cy="2667000"/>
          </a:xfrm>
          <a:prstGeom prst="roundRect">
            <a:avLst>
              <a:gd name="adj" fmla="val 2857"/>
            </a:avLst>
          </a:prstGeom>
          <a:solidFill>
            <a:srgbClr val="000000">
              <a:alpha val="25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56070" y="1884045"/>
            <a:ext cx="2788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With GROUP BY (collapse to 1 row/customer):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6070" y="2093595"/>
            <a:ext cx="4387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08520" y="2093595"/>
            <a:ext cx="10609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Customers.Name,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6070" y="2284095"/>
            <a:ext cx="2559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SUM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13270" y="2284095"/>
            <a:ext cx="18950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(Orders.Amount) AS TotalSpent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6070" y="2474595"/>
            <a:ext cx="3505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75170" y="2474595"/>
            <a:ext cx="640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6070" y="2665095"/>
            <a:ext cx="646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INNER JOIN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13320" y="2665095"/>
            <a:ext cx="8689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Orders ON ...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6070" y="2855595"/>
            <a:ext cx="5710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GROUP BY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56170" y="2855595"/>
            <a:ext cx="10609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Customers.Name;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7022" y="3263741"/>
            <a:ext cx="4368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Result: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6070" y="346519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Alice 1225 ← 1200 + 25 summed!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6070" y="3655695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Bob 800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57022" y="3968591"/>
            <a:ext cx="1918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Now one row per customer. Better!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756285"/>
            <a:ext cx="9002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Best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1184910"/>
            <a:ext cx="184540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Practices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6192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799749"/>
            <a:ext cx="21115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Apply these habits from day one.</a:t>
            </a:r>
          </a:p>
        </p:txBody>
      </p:sp>
      <p:sp>
        <p:nvSpPr>
          <p:cNvPr id="7" name="Ellipse 7"/>
          <p:cNvSpPr/>
          <p:nvPr/>
        </p:nvSpPr>
        <p:spPr>
          <a:xfrm>
            <a:off x="4381500" y="8572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512754" y="9753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64418" y="990124"/>
            <a:ext cx="4919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Always prefix column names with table name or alias (c.Name, not just Name)</a:t>
            </a:r>
          </a:p>
        </p:txBody>
      </p:sp>
      <p:sp>
        <p:nvSpPr>
          <p:cNvPr id="10" name="Ellipse 10"/>
          <p:cNvSpPr/>
          <p:nvPr/>
        </p:nvSpPr>
        <p:spPr>
          <a:xfrm>
            <a:off x="4381500" y="14287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12754" y="15468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64418" y="1561624"/>
            <a:ext cx="4230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Use meaningful aliases (c for Customers, o for Orders — not a, b)</a:t>
            </a:r>
          </a:p>
        </p:txBody>
      </p:sp>
      <p:sp>
        <p:nvSpPr>
          <p:cNvPr id="13" name="Ellipse 13"/>
          <p:cNvSpPr/>
          <p:nvPr/>
        </p:nvSpPr>
        <p:spPr>
          <a:xfrm>
            <a:off x="4381500" y="20002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12754" y="21183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64418" y="2133124"/>
            <a:ext cx="4438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Start FROM the most central table — the fact table with foreign keys</a:t>
            </a:r>
          </a:p>
        </p:txBody>
      </p:sp>
      <p:sp>
        <p:nvSpPr>
          <p:cNvPr id="16" name="Ellipse 16"/>
          <p:cNvSpPr/>
          <p:nvPr/>
        </p:nvSpPr>
        <p:spPr>
          <a:xfrm>
            <a:off x="4381500" y="25717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12754" y="26898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64418" y="2704624"/>
            <a:ext cx="3535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Verify your join key in the ERD before writing the query</a:t>
            </a:r>
          </a:p>
        </p:txBody>
      </p:sp>
      <p:sp>
        <p:nvSpPr>
          <p:cNvPr id="19" name="Ellipse 19"/>
          <p:cNvSpPr/>
          <p:nvPr/>
        </p:nvSpPr>
        <p:spPr>
          <a:xfrm>
            <a:off x="4381500" y="31432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512754" y="32613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64418" y="3276124"/>
            <a:ext cx="40422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Use LEFT JOIN when you need to preserve all rows from one side</a:t>
            </a:r>
          </a:p>
        </p:txBody>
      </p:sp>
      <p:sp>
        <p:nvSpPr>
          <p:cNvPr id="22" name="Ellipse 22"/>
          <p:cNvSpPr/>
          <p:nvPr/>
        </p:nvSpPr>
        <p:spPr>
          <a:xfrm>
            <a:off x="4381500" y="37147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512754" y="38328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64418" y="3847624"/>
            <a:ext cx="44128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Filter right-table columns in ON clause, not WHERE — preserves NULLs</a:t>
            </a:r>
          </a:p>
        </p:txBody>
      </p:sp>
      <p:sp>
        <p:nvSpPr>
          <p:cNvPr id="25" name="Ellipse 25"/>
          <p:cNvSpPr/>
          <p:nvPr/>
        </p:nvSpPr>
        <p:spPr>
          <a:xfrm>
            <a:off x="4381500" y="42862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512754" y="44043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64418" y="4419124"/>
            <a:ext cx="51279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Check row count before and after JOIN — unexpected duplicates signal 1-to-many</a:t>
            </a:r>
          </a:p>
        </p:txBody>
      </p:sp>
      <p:sp>
        <p:nvSpPr>
          <p:cNvPr id="28" name="Ellipse 28"/>
          <p:cNvSpPr/>
          <p:nvPr/>
        </p:nvSpPr>
        <p:spPr>
          <a:xfrm>
            <a:off x="4381500" y="4857750"/>
            <a:ext cx="381000" cy="3810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512754" y="49758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864418" y="4990624"/>
            <a:ext cx="39122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Test with small datasets before running on production tables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857250"/>
            <a:ext cx="7620000" cy="2667000"/>
          </a:xfrm>
          <a:prstGeom prst="ellipse">
            <a:avLst/>
          </a:prstGeom>
          <a:solidFill>
            <a:srgbClr val="5CDB8F">
              <a:alpha val="12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0993" y="535305"/>
            <a:ext cx="145001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Putting 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82597" y="826770"/>
            <a:ext cx="20268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All Together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77319" y="1255395"/>
            <a:ext cx="4037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Use the extended schema: Customers, Orders, Products, Employees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04950"/>
            <a:ext cx="5334000" cy="2095500"/>
          </a:xfrm>
          <a:prstGeom prst="roundRect">
            <a:avLst>
              <a:gd name="adj" fmla="val 5455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04950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76400"/>
            <a:ext cx="5334000" cy="17145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352408" y="1628299"/>
            <a:ext cx="17721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Exercise 7 — INNER JOIN ×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0570" y="1979295"/>
            <a:ext cx="28492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Return each customer's Name, the ProductName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" y="216979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they ordered, and the Amount.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360295"/>
            <a:ext cx="2429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Only include orders where both customer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550795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and product exist.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2825591"/>
            <a:ext cx="34918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Hint: FROM Orders → INNER JOIN Customers → INNER JOIN Products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2997041"/>
            <a:ext cx="9560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Expected: 3 rows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504950"/>
            <a:ext cx="5334000" cy="2095500"/>
          </a:xfrm>
          <a:prstGeom prst="roundRect">
            <a:avLst>
              <a:gd name="adj" fmla="val 5455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286500" y="1504950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676400"/>
            <a:ext cx="5334000" cy="171450"/>
          </a:xfrm>
          <a:prstGeom prst="rect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03925" y="1628299"/>
            <a:ext cx="14991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Exercise 8 — LEFT JOIN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65570" y="1979295"/>
            <a:ext cx="24651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Modify Exercise 7 to also show customers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65570" y="2169795"/>
            <a:ext cx="1211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who have no orders.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5570" y="2360295"/>
            <a:ext cx="21051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What columns will be NULL for those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5570" y="2550795"/>
            <a:ext cx="706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customers?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6522" y="2825591"/>
            <a:ext cx="22762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Hint: Change first INNER JOIN to LEFT JOIN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66522" y="2997041"/>
            <a:ext cx="25237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ProductName and Amount = NULL for unmatched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790950"/>
            <a:ext cx="5334000" cy="2047875"/>
          </a:xfrm>
          <a:prstGeom prst="roundRect">
            <a:avLst>
              <a:gd name="adj" fmla="val 5581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71500" y="3790950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5CDB8F">
              <a:alpha val="8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71500" y="3962400"/>
            <a:ext cx="5334000" cy="171450"/>
          </a:xfrm>
          <a:prstGeom prst="rect">
            <a:avLst/>
          </a:prstGeom>
          <a:solidFill>
            <a:srgbClr val="5CDB8F">
              <a:alpha val="8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178349" y="3914299"/>
            <a:ext cx="21203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6B3A"/>
                </a:solidFill>
                <a:latin typeface="Poppins"/>
                <a:ea typeface="Microsoft YaHei"/>
                <a:cs typeface="Poppins"/>
              </a:rPr>
              <a:t>Exercise 9 — Self-Join Challenge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0570" y="4265295"/>
            <a:ext cx="22731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List each employee and their manager.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0570" y="4455795"/>
            <a:ext cx="26691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Show "No Manager" instead of NULL for Sara.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0570" y="4646295"/>
            <a:ext cx="26091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Hint: Use COALESCE(m.Name, 'No Manager')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1522" y="4921091"/>
            <a:ext cx="24027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Expected: 4 rows, Sara shows 'No Manager'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3790950"/>
            <a:ext cx="5334000" cy="2047875"/>
          </a:xfrm>
          <a:prstGeom prst="roundRect">
            <a:avLst>
              <a:gd name="adj" fmla="val 5581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6286500" y="3790950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E89C20">
              <a:alpha val="80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286500" y="3962400"/>
            <a:ext cx="5334000" cy="171450"/>
          </a:xfrm>
          <a:prstGeom prst="rect">
            <a:avLst/>
          </a:prstGeom>
          <a:solidFill>
            <a:srgbClr val="E89C20">
              <a:alpha val="8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978672" y="3914299"/>
            <a:ext cx="19496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Exercise 10 — GROUP BY + JOIN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65570" y="4265295"/>
            <a:ext cx="2681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Show each customer's Name and total amount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65570" y="4455795"/>
            <a:ext cx="3029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spent. Include customers with no orders (show 0).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65570" y="4646295"/>
            <a:ext cx="29152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Hint: Use LEFT JOIN + COALESCE(SUM(Amount), 0)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66522" y="4921091"/>
            <a:ext cx="21442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Expected: 4 rows, Carol and Dan show 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68886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708660"/>
            <a:ext cx="14295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Session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1118235"/>
            <a:ext cx="167528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Summary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5430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9118" y="1723549"/>
            <a:ext cx="20660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You now know all six JOIN types.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118" y="1942624"/>
            <a:ext cx="25535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Use this table as your reference sheet.</a:t>
            </a:r>
          </a:p>
        </p:txBody>
      </p:sp>
      <p:sp>
        <p:nvSpPr>
          <p:cNvPr id="8" name="Rectangle 8"/>
          <p:cNvSpPr/>
          <p:nvPr/>
        </p:nvSpPr>
        <p:spPr>
          <a:xfrm>
            <a:off x="4191000" y="714375"/>
            <a:ext cx="7620000" cy="323850"/>
          </a:xfrm>
          <a:prstGeom prst="roundRect">
            <a:avLst>
              <a:gd name="adj" fmla="val 11765"/>
            </a:avLst>
          </a:prstGeom>
          <a:solidFill>
            <a:srgbClr val="2EAA5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371022" y="844391"/>
            <a:ext cx="5580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JOIN Type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95022" y="844391"/>
            <a:ext cx="4656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Returns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33522" y="844391"/>
            <a:ext cx="1256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NULL appears when...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191000" y="1038225"/>
            <a:ext cx="7620000" cy="495300"/>
          </a:xfrm>
          <a:prstGeom prst="rect">
            <a:avLst/>
          </a:prstGeom>
          <a:solidFill>
            <a:srgbClr val="EEF4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371022" y="1149191"/>
            <a:ext cx="5927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INNER JOIN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95022" y="1149191"/>
            <a:ext cx="15556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Rows matched in BOTH tables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33522" y="1149191"/>
            <a:ext cx="18031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Never — unmatched rows excluded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191000" y="1533525"/>
            <a:ext cx="7620000" cy="495300"/>
          </a:xfrm>
          <a:prstGeom prst="rect">
            <a:avLst/>
          </a:prstGeom>
          <a:solidFill>
            <a:srgbClr val="E8F8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371022" y="1644491"/>
            <a:ext cx="5580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LEFT JOIN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95022" y="1644491"/>
            <a:ext cx="18691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All left rows + matched right rows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33522" y="1644491"/>
            <a:ext cx="12696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Right side has no match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191000" y="2028825"/>
            <a:ext cx="7620000" cy="495300"/>
          </a:xfrm>
          <a:prstGeom prst="rect">
            <a:avLst/>
          </a:prstGeom>
          <a:solidFill>
            <a:srgbClr val="FFFFF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371022" y="2139791"/>
            <a:ext cx="5927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RIGHT JOIN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95022" y="2139791"/>
            <a:ext cx="18691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All right rows + matched left rows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33522" y="2139791"/>
            <a:ext cx="12366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Left side has no match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191000" y="2524125"/>
            <a:ext cx="7620000" cy="495300"/>
          </a:xfrm>
          <a:prstGeom prst="rect">
            <a:avLst/>
          </a:prstGeom>
          <a:solidFill>
            <a:srgbClr val="F5EE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371022" y="2635091"/>
            <a:ext cx="9335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FULL OUTER JOIN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5022" y="2635091"/>
            <a:ext cx="13851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All rows from both tables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33522" y="2635091"/>
            <a:ext cx="13301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Either side has no match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191000" y="3019425"/>
            <a:ext cx="7620000" cy="495300"/>
          </a:xfrm>
          <a:prstGeom prst="rect">
            <a:avLst/>
          </a:prstGeom>
          <a:solidFill>
            <a:srgbClr val="FFF3E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371022" y="3130391"/>
            <a:ext cx="6447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CROSS JOIN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895022" y="3130391"/>
            <a:ext cx="18086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Every combination (no ON clause)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33522" y="3130391"/>
            <a:ext cx="17646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Never — all combinations included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191000" y="3514725"/>
            <a:ext cx="7620000" cy="495300"/>
          </a:xfrm>
          <a:prstGeom prst="rect">
            <a:avLst/>
          </a:prstGeom>
          <a:solidFill>
            <a:srgbClr val="F4F4F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371022" y="3625691"/>
            <a:ext cx="534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Self-Join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95022" y="3625691"/>
            <a:ext cx="20122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Table joined to itself (any JOIN type)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33522" y="362569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Depends on JOIN type used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191000" y="714375"/>
            <a:ext cx="7620000" cy="3295650"/>
          </a:xfrm>
          <a:prstGeom prst="roundRect">
            <a:avLst>
              <a:gd name="adj" fmla="val 1156"/>
            </a:avLst>
          </a:prstGeom>
          <a:noFill/>
          <a:ln w="14288">
            <a:solidFill>
              <a:srgbClr val="2EAA5E"/>
            </a:solidFill>
          </a:ln>
        </p:spPr>
      </p:sp>
      <p:sp>
        <p:nvSpPr>
          <p:cNvPr id="37" name="Line 37"/>
          <p:cNvSpPr/>
          <p:nvPr/>
        </p:nvSpPr>
        <p:spPr>
          <a:xfrm>
            <a:off x="5810250" y="714375"/>
            <a:ext cx="9525" cy="3295650"/>
          </a:xfrm>
          <a:custGeom>
            <a:avLst/>
            <a:gdLst/>
            <a:ahLst/>
            <a:cxnLst/>
            <a:rect l="l" t="t" r="r" b="b"/>
            <a:pathLst>
              <a:path w="9525" h="3295650">
                <a:moveTo>
                  <a:pt x="0" y="0"/>
                </a:moveTo>
                <a:lnTo>
                  <a:pt x="0" y="3295650"/>
                </a:lnTo>
              </a:path>
            </a:pathLst>
          </a:custGeom>
          <a:noFill/>
          <a:ln w="9525">
            <a:solidFill>
              <a:srgbClr val="2EAA5E">
                <a:alpha val="30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9048750" y="714375"/>
            <a:ext cx="9525" cy="3295650"/>
          </a:xfrm>
          <a:custGeom>
            <a:avLst/>
            <a:gdLst/>
            <a:ahLst/>
            <a:cxnLst/>
            <a:rect l="l" t="t" r="r" b="b"/>
            <a:pathLst>
              <a:path w="9525" h="3295650">
                <a:moveTo>
                  <a:pt x="0" y="0"/>
                </a:moveTo>
                <a:lnTo>
                  <a:pt x="0" y="3295650"/>
                </a:lnTo>
              </a:path>
            </a:pathLst>
          </a:custGeom>
          <a:noFill/>
          <a:ln w="9525">
            <a:solidFill>
              <a:srgbClr val="2EAA5E">
                <a:alpha val="30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6B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745890" y="459105"/>
            <a:ext cx="7002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Your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32988" y="782955"/>
            <a:ext cx="31260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Quick Reference Card</a:t>
            </a:r>
          </a:p>
        </p:txBody>
      </p:sp>
      <p:sp>
        <p:nvSpPr>
          <p:cNvPr id="5" name="Line 5"/>
          <p:cNvSpPr/>
          <p:nvPr/>
        </p:nvSpPr>
        <p:spPr>
          <a:xfrm>
            <a:off x="1524000" y="1123950"/>
            <a:ext cx="9144000" cy="9525"/>
          </a:xfrm>
          <a:custGeom>
            <a:avLst/>
            <a:gdLst/>
            <a:ahLst/>
            <a:cxnLst/>
            <a:rect l="l" t="t" r="r" b="b"/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9525">
            <a:solidFill>
              <a:srgbClr val="5CDB8F">
                <a:alpha val="50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4286250" y="1238250"/>
            <a:ext cx="9525" cy="5238750"/>
          </a:xfrm>
          <a:custGeom>
            <a:avLst/>
            <a:gdLst/>
            <a:ahLst/>
            <a:cxnLst/>
            <a:rect l="l" t="t" r="r" b="b"/>
            <a:pathLst>
              <a:path w="9525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noFill/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8001000" y="1238250"/>
            <a:ext cx="9525" cy="5238750"/>
          </a:xfrm>
          <a:custGeom>
            <a:avLst/>
            <a:gdLst/>
            <a:ahLst/>
            <a:cxnLst/>
            <a:rect l="l" t="t" r="r" b="b"/>
            <a:pathLst>
              <a:path w="9525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noFill/>
          <a:ln w="9525">
            <a:solidFill>
              <a:srgbClr val="FFFFFF">
                <a:alpha val="2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124075" y="12668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281785" y="1420178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7251" y="1839278"/>
            <a:ext cx="1452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JOIN Selection Guide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2188845"/>
            <a:ext cx="1571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Need only matched rows?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1070" y="2360295"/>
            <a:ext cx="7189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→ INNER JOIN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195" y="261747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Keep all from left?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070" y="2788920"/>
            <a:ext cx="682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→ LEFT JOIN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8195" y="3046095"/>
            <a:ext cx="12890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Keep all from right?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1070" y="3217545"/>
            <a:ext cx="1745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→ RIGHT JOIN (or swap → LEFT)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8195" y="3474720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Keep everything?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070" y="3646170"/>
            <a:ext cx="10729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→ FULL OUTER JOIN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8195" y="3903345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All combinations?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" y="4074795"/>
            <a:ext cx="7729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→ CROSS JOIN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8195" y="43319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Query same table?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" y="4503420"/>
            <a:ext cx="14990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→ Self-Join (LEFT + alias)</a:t>
            </a:r>
          </a:p>
        </p:txBody>
      </p:sp>
      <p:sp>
        <p:nvSpPr>
          <p:cNvPr id="23" name="Ellipse 23"/>
          <p:cNvSpPr/>
          <p:nvPr/>
        </p:nvSpPr>
        <p:spPr>
          <a:xfrm>
            <a:off x="5934075" y="12668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014776" y="1420178"/>
            <a:ext cx="2576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&lt;/&gt;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60594" y="1839278"/>
            <a:ext cx="11660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Syntax Skeleton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457700" y="2095500"/>
            <a:ext cx="3429000" cy="1666875"/>
          </a:xfrm>
          <a:prstGeom prst="roundRect">
            <a:avLst>
              <a:gd name="adj" fmla="val 4571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35818" y="2256949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SELECT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83518" y="2256949"/>
            <a:ext cx="8958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t1.col, t2.col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35818" y="2466499"/>
            <a:ext cx="3797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FROM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93018" y="2466499"/>
            <a:ext cx="7203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table1 AS t1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35818" y="26760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[JOIN TYPE]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02618" y="2676049"/>
            <a:ext cx="785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table2 AS t2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35818" y="2885599"/>
            <a:ext cx="2022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CDB8F"/>
                </a:solidFill>
                <a:latin typeface="Courier New"/>
                <a:ea typeface="Microsoft YaHei"/>
                <a:cs typeface="Courier New"/>
              </a:rPr>
              <a:t>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21568" y="28855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urier New"/>
                <a:ea typeface="Microsoft YaHei"/>
                <a:cs typeface="Courier New"/>
              </a:rPr>
              <a:t>t1.key = t2.key;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37722" y="3435191"/>
            <a:ext cx="22322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Use meaningful aliases (t → table initials)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37722" y="3625691"/>
            <a:ext cx="19296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Poppins"/>
                <a:ea typeface="Microsoft YaHei"/>
                <a:cs typeface="Poppins"/>
              </a:rPr>
              <a:t>Always qualify column names: t1.col</a:t>
            </a:r>
          </a:p>
        </p:txBody>
      </p:sp>
      <p:sp>
        <p:nvSpPr>
          <p:cNvPr id="37" name="Ellipse 37"/>
          <p:cNvSpPr/>
          <p:nvPr/>
        </p:nvSpPr>
        <p:spPr>
          <a:xfrm>
            <a:off x="9696450" y="12668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871662" y="1420178"/>
            <a:ext cx="686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!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00916" y="1839278"/>
            <a:ext cx="12101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Danger Checklist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75320" y="2188845"/>
            <a:ext cx="17570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Prefix all columns with alias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75320" y="2474595"/>
            <a:ext cx="1637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Check join key in ERD first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2760345"/>
            <a:ext cx="1913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Move right-table filters to 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75320" y="3046095"/>
            <a:ext cx="19190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Expect duplicates in 1-to-many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75320" y="333184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Test row count before/after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75320" y="3617595"/>
            <a:ext cx="20571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CROSS JOIN: watch row explosion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275320" y="3903345"/>
            <a:ext cx="19250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90000"/>
                  </a:srgbClr>
                </a:solidFill>
                <a:latin typeface="Poppins"/>
                <a:ea typeface="Microsoft YaHei"/>
                <a:cs typeface="Poppins"/>
              </a:rPr>
              <a:t>• Self-Join: always use 2 aliases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FFFFFF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756285"/>
            <a:ext cx="9002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Next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210" y="1184910"/>
            <a:ext cx="110821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Steps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6192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2EAA5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58165" y="1791652"/>
            <a:ext cx="20187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What to do before Session 4</a:t>
            </a:r>
          </a:p>
        </p:txBody>
      </p:sp>
      <p:sp>
        <p:nvSpPr>
          <p:cNvPr id="7" name="Ellipse 7"/>
          <p:cNvSpPr/>
          <p:nvPr/>
        </p:nvSpPr>
        <p:spPr>
          <a:xfrm>
            <a:off x="4552950" y="1219200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03254" y="1356360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0160" y="1337310"/>
            <a:ext cx="7277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Practice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93970" y="1598295"/>
            <a:ext cx="33892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Complete the take-home assignment (handout provided)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93970" y="1807845"/>
            <a:ext cx="38693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Run all 10 exercises in your SQL editor against the class dataset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93970" y="2017395"/>
            <a:ext cx="39653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Compare INNER vs LEFT JOIN and observe the row count difference</a:t>
            </a:r>
          </a:p>
        </p:txBody>
      </p:sp>
      <p:sp>
        <p:nvSpPr>
          <p:cNvPr id="13" name="Line 13"/>
          <p:cNvSpPr/>
          <p:nvPr/>
        </p:nvSpPr>
        <p:spPr>
          <a:xfrm>
            <a:off x="4572000" y="23622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/>
          <a:ln w="14288">
            <a:solidFill>
              <a:srgbClr val="E8F8EE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4552950" y="26003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03254" y="273748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90160" y="2718435"/>
            <a:ext cx="17526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Coming Up — Session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93970" y="2979420"/>
            <a:ext cx="3053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Subqueries — another way to filter and shape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93970" y="3188970"/>
            <a:ext cx="20451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When to use a subquery vs a JOIN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93970" y="3398520"/>
            <a:ext cx="14930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EXISTS and IN operators</a:t>
            </a:r>
          </a:p>
        </p:txBody>
      </p:sp>
      <p:sp>
        <p:nvSpPr>
          <p:cNvPr id="20" name="Line 20"/>
          <p:cNvSpPr/>
          <p:nvPr/>
        </p:nvSpPr>
        <p:spPr>
          <a:xfrm>
            <a:off x="4572000" y="37338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/>
          <a:ln w="14288">
            <a:solidFill>
              <a:srgbClr val="E8F8EE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4552950" y="3933825"/>
            <a:ext cx="419100" cy="419100"/>
          </a:xfrm>
          <a:prstGeom prst="ellipse">
            <a:avLst/>
          </a:prstGeom>
          <a:solidFill>
            <a:srgbClr val="2EAA5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703254" y="407098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90160" y="4051935"/>
            <a:ext cx="862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2E"/>
                </a:solidFill>
                <a:latin typeface="Poppins"/>
                <a:ea typeface="Microsoft YaHei"/>
                <a:cs typeface="Poppins"/>
              </a:rPr>
              <a:t>Resources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93970" y="4312920"/>
            <a:ext cx="20031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• w3schools.com/sql/sql_join.asp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93970" y="4522470"/>
            <a:ext cx="24531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AA5E"/>
                </a:solidFill>
                <a:latin typeface="Poppins"/>
                <a:ea typeface="Microsoft YaHei"/>
                <a:cs typeface="Poppins"/>
              </a:rPr>
              <a:t>• sqlzoo.net — interactive JOIN exercises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93970" y="4732020"/>
            <a:ext cx="24831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4A6A"/>
                </a:solidFill>
                <a:latin typeface="Poppins"/>
                <a:ea typeface="Microsoft YaHei"/>
                <a:cs typeface="Poppins"/>
              </a:rPr>
              <a:t>• Class dataset: /class-data/session-03/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5476875"/>
            <a:ext cx="11049000" cy="762000"/>
          </a:xfrm>
          <a:prstGeom prst="roundRect">
            <a:avLst>
              <a:gd name="adj" fmla="val 15000"/>
            </a:avLst>
          </a:prstGeom>
          <a:solidFill>
            <a:srgbClr val="1A6B3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583743" y="5664518"/>
            <a:ext cx="50245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Poppins"/>
                <a:ea typeface="Microsoft YaHei"/>
                <a:cs typeface="Poppins"/>
              </a:rPr>
              <a:t>Great work today — you now know all 6 SQL JOIN types!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89403" y="5963602"/>
            <a:ext cx="42131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CDB8F"/>
                </a:solidFill>
                <a:latin typeface="Poppins"/>
                <a:ea typeface="Microsoft YaHei"/>
                <a:cs typeface="Poppins"/>
              </a:rPr>
              <a:t>Practice makes permanent. Write JOINs every day this week.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41382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4A4A6A">
                    <a:alphaMod val="40000"/>
                  </a:srgbClr>
                </a:solidFill>
                <a:latin typeface="Poppins"/>
                <a:ea typeface="Microsoft YaHei"/>
                <a:cs typeface="Poppins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